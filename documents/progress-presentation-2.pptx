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5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70" d="100"/>
          <a:sy n="170" d="100"/>
        </p:scale>
        <p:origin x="504" y="17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87116160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B5E2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3474720" cy="5143500"/>
          </a:xfrm>
          <a:prstGeom prst="rect">
            <a:avLst/>
          </a:prstGeom>
          <a:solidFill>
            <a:srgbClr val="2E7D32"/>
          </a:solidFill>
          <a:ln w="12700">
            <a:solidFill>
              <a:srgbClr val="2E7D32"/>
            </a:solidFill>
            <a:prstDash val="solid"/>
          </a:ln>
        </p:spPr>
        <p:txBody>
          <a:bodyPr/>
          <a:lstStyle/>
          <a:p>
            <a:endParaRPr lang="en-LK"/>
          </a:p>
        </p:txBody>
      </p:sp>
      <p:sp>
        <p:nvSpPr>
          <p:cNvPr id="3" name="Text 1"/>
          <p:cNvSpPr txBox="1"/>
          <p:nvPr/>
        </p:nvSpPr>
        <p:spPr>
          <a:xfrm>
            <a:off x="457200" y="548640"/>
            <a:ext cx="256032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6400" dirty="0">
                <a:solidFill>
                  <a:srgbClr val="000000"/>
                </a:solidFill>
              </a:rPr>
              <a:t>🍅</a:t>
            </a:r>
            <a:endParaRPr lang="en-US" sz="6400" dirty="0"/>
          </a:p>
        </p:txBody>
      </p:sp>
      <p:sp>
        <p:nvSpPr>
          <p:cNvPr id="4" name="Text 2"/>
          <p:cNvSpPr txBox="1"/>
          <p:nvPr/>
        </p:nvSpPr>
        <p:spPr>
          <a:xfrm>
            <a:off x="274320" y="1920240"/>
            <a:ext cx="29260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000" b="1" dirty="0">
                <a:solidFill>
                  <a:srgbClr val="FFFFFF"/>
                </a:solidFill>
              </a:rPr>
              <a:t>TomatoDoc</a:t>
            </a:r>
            <a:endParaRPr lang="en-US" sz="3000" dirty="0"/>
          </a:p>
        </p:txBody>
      </p:sp>
      <p:sp>
        <p:nvSpPr>
          <p:cNvPr id="5" name="Text 3"/>
          <p:cNvSpPr txBox="1"/>
          <p:nvPr/>
        </p:nvSpPr>
        <p:spPr>
          <a:xfrm>
            <a:off x="274320" y="2560320"/>
            <a:ext cx="2926080" cy="685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1300" dirty="0">
                <a:solidFill>
                  <a:srgbClr val="C8E6C9"/>
                </a:solidFill>
              </a:rPr>
              <a:t>AI-Powered Tomato</a:t>
            </a:r>
            <a:endParaRPr lang="en-US" sz="1300" dirty="0"/>
          </a:p>
          <a:p>
            <a:pPr marL="0" indent="0" algn="ctr">
              <a:buNone/>
            </a:pPr>
            <a:r>
              <a:rPr lang="en-US" sz="1300" dirty="0">
                <a:solidFill>
                  <a:srgbClr val="C8E6C9"/>
                </a:solidFill>
              </a:rPr>
              <a:t>Plant Health Platform</a:t>
            </a:r>
            <a:endParaRPr lang="en-US" sz="1300" dirty="0"/>
          </a:p>
        </p:txBody>
      </p:sp>
      <p:sp>
        <p:nvSpPr>
          <p:cNvPr id="6" name="Text 4"/>
          <p:cNvSpPr txBox="1"/>
          <p:nvPr/>
        </p:nvSpPr>
        <p:spPr>
          <a:xfrm>
            <a:off x="274320" y="4206240"/>
            <a:ext cx="29260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C8E6C9"/>
                </a:solidFill>
              </a:rPr>
              <a:t>R26-SE-032</a:t>
            </a:r>
            <a:endParaRPr lang="en-US" sz="1100" dirty="0"/>
          </a:p>
        </p:txBody>
      </p:sp>
      <p:sp>
        <p:nvSpPr>
          <p:cNvPr id="7" name="Text 5"/>
          <p:cNvSpPr txBox="1"/>
          <p:nvPr/>
        </p:nvSpPr>
        <p:spPr>
          <a:xfrm>
            <a:off x="3749040" y="502920"/>
            <a:ext cx="5120640" cy="21945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2200" b="1" dirty="0">
                <a:solidFill>
                  <a:srgbClr val="FFFFFF"/>
                </a:solidFill>
              </a:rPr>
              <a:t>An Integrated AI System for</a:t>
            </a:r>
            <a:endParaRPr lang="en-US" sz="2200" dirty="0"/>
          </a:p>
          <a:p>
            <a:pPr marL="0" indent="0" algn="l">
              <a:lnSpc>
                <a:spcPct val="120000"/>
              </a:lnSpc>
              <a:buNone/>
            </a:pPr>
            <a:r>
              <a:rPr lang="en-US" sz="2200" b="1" dirty="0">
                <a:solidFill>
                  <a:srgbClr val="FFFFFF"/>
                </a:solidFill>
              </a:rPr>
              <a:t>Tomato Plant Health Monitoring,</a:t>
            </a:r>
            <a:endParaRPr lang="en-US" sz="2200" dirty="0"/>
          </a:p>
          <a:p>
            <a:pPr marL="0" indent="0" algn="l">
              <a:lnSpc>
                <a:spcPct val="120000"/>
              </a:lnSpc>
              <a:buNone/>
            </a:pPr>
            <a:r>
              <a:rPr lang="en-US" sz="2200" b="1" dirty="0">
                <a:solidFill>
                  <a:srgbClr val="FFFFFF"/>
                </a:solidFill>
              </a:rPr>
              <a:t>Disease Detection &amp;</a:t>
            </a:r>
            <a:endParaRPr lang="en-US" sz="2200" dirty="0"/>
          </a:p>
          <a:p>
            <a:pPr marL="0" indent="0" algn="l">
              <a:lnSpc>
                <a:spcPct val="120000"/>
              </a:lnSpc>
              <a:buNone/>
            </a:pPr>
            <a:r>
              <a:rPr lang="en-US" sz="2200" b="1" dirty="0">
                <a:solidFill>
                  <a:srgbClr val="FFFFFF"/>
                </a:solidFill>
              </a:rPr>
              <a:t>Market Price Forecasting</a:t>
            </a:r>
            <a:endParaRPr lang="en-US" sz="2200" dirty="0"/>
          </a:p>
        </p:txBody>
      </p:sp>
      <p:sp>
        <p:nvSpPr>
          <p:cNvPr id="8" name="Text 6"/>
          <p:cNvSpPr txBox="1"/>
          <p:nvPr/>
        </p:nvSpPr>
        <p:spPr>
          <a:xfrm>
            <a:off x="3749040" y="2788920"/>
            <a:ext cx="5120640" cy="685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1200" dirty="0">
                <a:solidFill>
                  <a:srgbClr val="C8E6C9"/>
                </a:solidFill>
              </a:rPr>
              <a:t>Helping Sri Lankan tomato farmers detect problems earlier</a:t>
            </a:r>
            <a:endParaRPr lang="en-US" sz="1200" dirty="0"/>
          </a:p>
          <a:p>
            <a:pPr marL="0" indent="0" algn="l">
              <a:lnSpc>
                <a:spcPct val="130000"/>
              </a:lnSpc>
              <a:buNone/>
            </a:pPr>
            <a:r>
              <a:rPr lang="en-US" sz="1200" dirty="0">
                <a:solidFill>
                  <a:srgbClr val="C8E6C9"/>
                </a:solidFill>
              </a:rPr>
              <a:t>and sell smarter - through AI in their pocket.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3749040" y="3611880"/>
            <a:ext cx="5029200" cy="256032"/>
          </a:xfrm>
          <a:prstGeom prst="roundRect">
            <a:avLst>
              <a:gd name="adj" fmla="val 21429"/>
            </a:avLst>
          </a:prstGeom>
          <a:solidFill>
            <a:srgbClr val="1B5E20"/>
          </a:solidFill>
          <a:ln w="6350">
            <a:solidFill>
              <a:srgbClr val="43A047"/>
            </a:solidFill>
            <a:prstDash val="solid"/>
          </a:ln>
        </p:spPr>
        <p:txBody>
          <a:bodyPr/>
          <a:lstStyle/>
          <a:p>
            <a:endParaRPr lang="en-LK"/>
          </a:p>
        </p:txBody>
      </p:sp>
      <p:sp>
        <p:nvSpPr>
          <p:cNvPr id="10" name="Text 8"/>
          <p:cNvSpPr txBox="1"/>
          <p:nvPr/>
        </p:nvSpPr>
        <p:spPr>
          <a:xfrm>
            <a:off x="3794760" y="3611880"/>
            <a:ext cx="49377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50" dirty="0">
                <a:solidFill>
                  <a:srgbClr val="FFFFFF"/>
                </a:solidFill>
              </a:rPr>
              <a:t>Sivanesangabilan Gabilan</a:t>
            </a:r>
            <a:endParaRPr lang="en-US" sz="950" dirty="0"/>
          </a:p>
        </p:txBody>
      </p:sp>
      <p:sp>
        <p:nvSpPr>
          <p:cNvPr id="11" name="Shape 9"/>
          <p:cNvSpPr/>
          <p:nvPr/>
        </p:nvSpPr>
        <p:spPr>
          <a:xfrm>
            <a:off x="3749040" y="3931920"/>
            <a:ext cx="5029200" cy="256032"/>
          </a:xfrm>
          <a:prstGeom prst="roundRect">
            <a:avLst>
              <a:gd name="adj" fmla="val 21429"/>
            </a:avLst>
          </a:prstGeom>
          <a:solidFill>
            <a:srgbClr val="1B5E20"/>
          </a:solidFill>
          <a:ln w="6350">
            <a:solidFill>
              <a:srgbClr val="43A047"/>
            </a:solidFill>
            <a:prstDash val="solid"/>
          </a:ln>
        </p:spPr>
        <p:txBody>
          <a:bodyPr/>
          <a:lstStyle/>
          <a:p>
            <a:endParaRPr lang="en-LK"/>
          </a:p>
        </p:txBody>
      </p:sp>
      <p:sp>
        <p:nvSpPr>
          <p:cNvPr id="12" name="Text 10"/>
          <p:cNvSpPr txBox="1"/>
          <p:nvPr/>
        </p:nvSpPr>
        <p:spPr>
          <a:xfrm>
            <a:off x="3794760" y="3931920"/>
            <a:ext cx="49377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50" dirty="0">
                <a:solidFill>
                  <a:srgbClr val="FFFFFF"/>
                </a:solidFill>
              </a:rPr>
              <a:t>A.L.M. Farthas</a:t>
            </a:r>
            <a:endParaRPr lang="en-US" sz="950" dirty="0"/>
          </a:p>
        </p:txBody>
      </p:sp>
      <p:sp>
        <p:nvSpPr>
          <p:cNvPr id="13" name="Shape 11"/>
          <p:cNvSpPr/>
          <p:nvPr/>
        </p:nvSpPr>
        <p:spPr>
          <a:xfrm>
            <a:off x="3749040" y="4251960"/>
            <a:ext cx="5029200" cy="256032"/>
          </a:xfrm>
          <a:prstGeom prst="roundRect">
            <a:avLst>
              <a:gd name="adj" fmla="val 21429"/>
            </a:avLst>
          </a:prstGeom>
          <a:solidFill>
            <a:srgbClr val="1B5E20"/>
          </a:solidFill>
          <a:ln w="6350">
            <a:solidFill>
              <a:srgbClr val="43A047"/>
            </a:solidFill>
            <a:prstDash val="solid"/>
          </a:ln>
        </p:spPr>
        <p:txBody>
          <a:bodyPr/>
          <a:lstStyle/>
          <a:p>
            <a:endParaRPr lang="en-LK"/>
          </a:p>
        </p:txBody>
      </p:sp>
      <p:sp>
        <p:nvSpPr>
          <p:cNvPr id="14" name="Text 12"/>
          <p:cNvSpPr txBox="1"/>
          <p:nvPr/>
        </p:nvSpPr>
        <p:spPr>
          <a:xfrm>
            <a:off x="3794760" y="4251960"/>
            <a:ext cx="49377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50" dirty="0">
                <a:solidFill>
                  <a:srgbClr val="FFFFFF"/>
                </a:solidFill>
              </a:rPr>
              <a:t>Vithusha Pathmanathan</a:t>
            </a:r>
            <a:endParaRPr lang="en-US" sz="950" dirty="0"/>
          </a:p>
        </p:txBody>
      </p:sp>
      <p:sp>
        <p:nvSpPr>
          <p:cNvPr id="15" name="Shape 13"/>
          <p:cNvSpPr/>
          <p:nvPr/>
        </p:nvSpPr>
        <p:spPr>
          <a:xfrm>
            <a:off x="3749040" y="4572000"/>
            <a:ext cx="5029200" cy="256032"/>
          </a:xfrm>
          <a:prstGeom prst="roundRect">
            <a:avLst>
              <a:gd name="adj" fmla="val 21429"/>
            </a:avLst>
          </a:prstGeom>
          <a:solidFill>
            <a:srgbClr val="1B5E20"/>
          </a:solidFill>
          <a:ln w="6350">
            <a:solidFill>
              <a:srgbClr val="43A047"/>
            </a:solidFill>
            <a:prstDash val="solid"/>
          </a:ln>
        </p:spPr>
        <p:txBody>
          <a:bodyPr/>
          <a:lstStyle/>
          <a:p>
            <a:endParaRPr lang="en-LK"/>
          </a:p>
        </p:txBody>
      </p:sp>
      <p:sp>
        <p:nvSpPr>
          <p:cNvPr id="16" name="Text 14"/>
          <p:cNvSpPr txBox="1"/>
          <p:nvPr/>
        </p:nvSpPr>
        <p:spPr>
          <a:xfrm>
            <a:off x="3794760" y="4572000"/>
            <a:ext cx="49377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50" dirty="0">
                <a:solidFill>
                  <a:srgbClr val="FFFFFF"/>
                </a:solidFill>
              </a:rPr>
              <a:t>Rashad M.P.M</a:t>
            </a:r>
            <a:endParaRPr lang="en-US" sz="950" dirty="0"/>
          </a:p>
        </p:txBody>
      </p:sp>
      <p:sp>
        <p:nvSpPr>
          <p:cNvPr id="17" name="Text 15"/>
          <p:cNvSpPr txBox="1"/>
          <p:nvPr/>
        </p:nvSpPr>
        <p:spPr>
          <a:xfrm>
            <a:off x="3749040" y="4846320"/>
            <a:ext cx="51206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800" dirty="0">
                <a:solidFill>
                  <a:srgbClr val="9E9E9E"/>
                </a:solidFill>
              </a:rPr>
              <a:t>SLIIT Faculty of Computing  |  2026</a:t>
            </a:r>
            <a:endParaRPr lang="en-US" sz="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4F6F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1B5E20"/>
          </a:solidFill>
          <a:ln w="12700">
            <a:solidFill>
              <a:srgbClr val="1B5E20"/>
            </a:solidFill>
            <a:prstDash val="solid"/>
          </a:ln>
        </p:spPr>
        <p:txBody>
          <a:bodyPr/>
          <a:lstStyle/>
          <a:p>
            <a:endParaRPr lang="en-LK"/>
          </a:p>
        </p:txBody>
      </p:sp>
      <p:sp>
        <p:nvSpPr>
          <p:cNvPr id="3" name="Text 1"/>
          <p:cNvSpPr txBox="1"/>
          <p:nvPr/>
        </p:nvSpPr>
        <p:spPr>
          <a:xfrm>
            <a:off x="365760" y="164592"/>
            <a:ext cx="84124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2200" b="1" dirty="0">
                <a:solidFill>
                  <a:srgbClr val="FFFFFF"/>
                </a:solidFill>
              </a:rPr>
              <a:t>Panel Comments Addressed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274320" y="749808"/>
            <a:ext cx="1005840" cy="292608"/>
          </a:xfrm>
          <a:prstGeom prst="rect">
            <a:avLst/>
          </a:prstGeom>
          <a:solidFill>
            <a:srgbClr val="2E7D32"/>
          </a:solidFill>
          <a:ln w="12700">
            <a:solidFill>
              <a:srgbClr val="2E7D32"/>
            </a:solidFill>
            <a:prstDash val="solid"/>
          </a:ln>
        </p:spPr>
        <p:txBody>
          <a:bodyPr/>
          <a:lstStyle/>
          <a:p>
            <a:endParaRPr lang="en-LK"/>
          </a:p>
        </p:txBody>
      </p:sp>
      <p:sp>
        <p:nvSpPr>
          <p:cNvPr id="5" name="Text 3"/>
          <p:cNvSpPr txBox="1"/>
          <p:nvPr/>
        </p:nvSpPr>
        <p:spPr>
          <a:xfrm>
            <a:off x="310896" y="749808"/>
            <a:ext cx="932688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b="1" dirty="0">
                <a:solidFill>
                  <a:srgbClr val="FFFFFF"/>
                </a:solidFill>
              </a:rPr>
              <a:t>Student ID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1280160" y="749808"/>
            <a:ext cx="914400" cy="292608"/>
          </a:xfrm>
          <a:prstGeom prst="rect">
            <a:avLst/>
          </a:prstGeom>
          <a:solidFill>
            <a:srgbClr val="2E7D32"/>
          </a:solidFill>
          <a:ln w="12700">
            <a:solidFill>
              <a:srgbClr val="2E7D32"/>
            </a:solidFill>
            <a:prstDash val="solid"/>
          </a:ln>
        </p:spPr>
        <p:txBody>
          <a:bodyPr/>
          <a:lstStyle/>
          <a:p>
            <a:endParaRPr lang="en-LK"/>
          </a:p>
        </p:txBody>
      </p:sp>
      <p:sp>
        <p:nvSpPr>
          <p:cNvPr id="7" name="Text 5"/>
          <p:cNvSpPr txBox="1"/>
          <p:nvPr/>
        </p:nvSpPr>
        <p:spPr>
          <a:xfrm>
            <a:off x="1316736" y="749808"/>
            <a:ext cx="841248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b="1" dirty="0">
                <a:solidFill>
                  <a:srgbClr val="FFFFFF"/>
                </a:solidFill>
              </a:rPr>
              <a:t>Reviewer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2194560" y="749808"/>
            <a:ext cx="2468880" cy="292608"/>
          </a:xfrm>
          <a:prstGeom prst="rect">
            <a:avLst/>
          </a:prstGeom>
          <a:solidFill>
            <a:srgbClr val="2E7D32"/>
          </a:solidFill>
          <a:ln w="12700">
            <a:solidFill>
              <a:srgbClr val="2E7D32"/>
            </a:solidFill>
            <a:prstDash val="solid"/>
          </a:ln>
        </p:spPr>
        <p:txBody>
          <a:bodyPr/>
          <a:lstStyle/>
          <a:p>
            <a:endParaRPr lang="en-LK"/>
          </a:p>
        </p:txBody>
      </p:sp>
      <p:sp>
        <p:nvSpPr>
          <p:cNvPr id="9" name="Text 7"/>
          <p:cNvSpPr txBox="1"/>
          <p:nvPr/>
        </p:nvSpPr>
        <p:spPr>
          <a:xfrm>
            <a:off x="2231136" y="749808"/>
            <a:ext cx="2395728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b="1" dirty="0">
                <a:solidFill>
                  <a:srgbClr val="FFFFFF"/>
                </a:solidFill>
              </a:rPr>
              <a:t>Panel Comment</a:t>
            </a:r>
            <a:endParaRPr lang="en-US" sz="900" dirty="0"/>
          </a:p>
        </p:txBody>
      </p:sp>
      <p:sp>
        <p:nvSpPr>
          <p:cNvPr id="10" name="Shape 8"/>
          <p:cNvSpPr/>
          <p:nvPr/>
        </p:nvSpPr>
        <p:spPr>
          <a:xfrm>
            <a:off x="4663440" y="749808"/>
            <a:ext cx="4206240" cy="292608"/>
          </a:xfrm>
          <a:prstGeom prst="rect">
            <a:avLst/>
          </a:prstGeom>
          <a:solidFill>
            <a:srgbClr val="2E7D32"/>
          </a:solidFill>
          <a:ln w="12700">
            <a:solidFill>
              <a:srgbClr val="2E7D32"/>
            </a:solidFill>
            <a:prstDash val="solid"/>
          </a:ln>
        </p:spPr>
        <p:txBody>
          <a:bodyPr/>
          <a:lstStyle/>
          <a:p>
            <a:endParaRPr lang="en-LK"/>
          </a:p>
        </p:txBody>
      </p:sp>
      <p:sp>
        <p:nvSpPr>
          <p:cNvPr id="11" name="Text 9"/>
          <p:cNvSpPr txBox="1"/>
          <p:nvPr/>
        </p:nvSpPr>
        <p:spPr>
          <a:xfrm>
            <a:off x="4700016" y="749808"/>
            <a:ext cx="4133088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b="1" dirty="0">
                <a:solidFill>
                  <a:srgbClr val="FFFFFF"/>
                </a:solidFill>
              </a:rPr>
              <a:t>How Addressed</a:t>
            </a:r>
            <a:endParaRPr lang="en-US" sz="900" dirty="0"/>
          </a:p>
        </p:txBody>
      </p:sp>
      <p:sp>
        <p:nvSpPr>
          <p:cNvPr id="12" name="Shape 10"/>
          <p:cNvSpPr/>
          <p:nvPr/>
        </p:nvSpPr>
        <p:spPr>
          <a:xfrm>
            <a:off x="274320" y="1042416"/>
            <a:ext cx="1005840" cy="658368"/>
          </a:xfrm>
          <a:prstGeom prst="rect">
            <a:avLst/>
          </a:prstGeom>
          <a:solidFill>
            <a:srgbClr val="FFFFFF"/>
          </a:solidFill>
          <a:ln w="3810">
            <a:solidFill>
              <a:srgbClr val="D0D8D0"/>
            </a:solidFill>
            <a:prstDash val="solid"/>
          </a:ln>
        </p:spPr>
        <p:txBody>
          <a:bodyPr/>
          <a:lstStyle/>
          <a:p>
            <a:endParaRPr lang="en-LK"/>
          </a:p>
        </p:txBody>
      </p:sp>
      <p:sp>
        <p:nvSpPr>
          <p:cNvPr id="13" name="Text 11"/>
          <p:cNvSpPr txBox="1"/>
          <p:nvPr/>
        </p:nvSpPr>
        <p:spPr>
          <a:xfrm>
            <a:off x="320040" y="1088136"/>
            <a:ext cx="914400" cy="56692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buNone/>
            </a:pPr>
            <a:r>
              <a:rPr lang="en-US" sz="800" dirty="0">
                <a:solidFill>
                  <a:srgbClr val="111111"/>
                </a:solidFill>
              </a:rPr>
              <a:t>IT22060426</a:t>
            </a:r>
            <a:endParaRPr lang="en-US" sz="800" dirty="0"/>
          </a:p>
        </p:txBody>
      </p:sp>
      <p:sp>
        <p:nvSpPr>
          <p:cNvPr id="14" name="Shape 12"/>
          <p:cNvSpPr/>
          <p:nvPr/>
        </p:nvSpPr>
        <p:spPr>
          <a:xfrm>
            <a:off x="1280160" y="1042416"/>
            <a:ext cx="914400" cy="658368"/>
          </a:xfrm>
          <a:prstGeom prst="rect">
            <a:avLst/>
          </a:prstGeom>
          <a:solidFill>
            <a:srgbClr val="FFFFFF"/>
          </a:solidFill>
          <a:ln w="3810">
            <a:solidFill>
              <a:srgbClr val="D0D8D0"/>
            </a:solidFill>
            <a:prstDash val="solid"/>
          </a:ln>
        </p:spPr>
        <p:txBody>
          <a:bodyPr/>
          <a:lstStyle/>
          <a:p>
            <a:endParaRPr lang="en-LK"/>
          </a:p>
        </p:txBody>
      </p:sp>
      <p:sp>
        <p:nvSpPr>
          <p:cNvPr id="15" name="Text 13"/>
          <p:cNvSpPr txBox="1"/>
          <p:nvPr/>
        </p:nvSpPr>
        <p:spPr>
          <a:xfrm>
            <a:off x="1325880" y="1088136"/>
            <a:ext cx="822960" cy="56692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buNone/>
            </a:pPr>
            <a:r>
              <a:rPr lang="en-US" sz="800" dirty="0">
                <a:solidFill>
                  <a:srgbClr val="111111"/>
                </a:solidFill>
              </a:rPr>
              <a:t>Gabilan S</a:t>
            </a:r>
            <a:endParaRPr lang="en-US" sz="800" dirty="0"/>
          </a:p>
        </p:txBody>
      </p:sp>
      <p:sp>
        <p:nvSpPr>
          <p:cNvPr id="16" name="Shape 14"/>
          <p:cNvSpPr/>
          <p:nvPr/>
        </p:nvSpPr>
        <p:spPr>
          <a:xfrm>
            <a:off x="2194560" y="1042416"/>
            <a:ext cx="2468880" cy="658368"/>
          </a:xfrm>
          <a:prstGeom prst="rect">
            <a:avLst/>
          </a:prstGeom>
          <a:solidFill>
            <a:srgbClr val="FFFFFF"/>
          </a:solidFill>
          <a:ln w="3810">
            <a:solidFill>
              <a:srgbClr val="D0D8D0"/>
            </a:solidFill>
            <a:prstDash val="solid"/>
          </a:ln>
        </p:spPr>
        <p:txBody>
          <a:bodyPr/>
          <a:lstStyle/>
          <a:p>
            <a:endParaRPr lang="en-LK"/>
          </a:p>
        </p:txBody>
      </p:sp>
      <p:sp>
        <p:nvSpPr>
          <p:cNvPr id="17" name="Text 15"/>
          <p:cNvSpPr txBox="1"/>
          <p:nvPr/>
        </p:nvSpPr>
        <p:spPr>
          <a:xfrm>
            <a:off x="2240280" y="1088136"/>
            <a:ext cx="2377440" cy="56692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r>
              <a:rPr lang="en-US" sz="800" dirty="0">
                <a:solidFill>
                  <a:srgbClr val="111111"/>
                </a:solidFill>
              </a:rPr>
              <a:t>Should </a:t>
            </a:r>
            <a:r>
              <a:rPr lang="en-US" sz="800" dirty="0" err="1">
                <a:solidFill>
                  <a:srgbClr val="111111"/>
                </a:solidFill>
              </a:rPr>
              <a:t>increace</a:t>
            </a:r>
            <a:r>
              <a:rPr lang="en-US" sz="800" dirty="0">
                <a:solidFill>
                  <a:srgbClr val="111111"/>
                </a:solidFill>
              </a:rPr>
              <a:t> the accuracy </a:t>
            </a:r>
            <a:r>
              <a:rPr lang="en-US" sz="800" dirty="0" err="1">
                <a:solidFill>
                  <a:srgbClr val="111111"/>
                </a:solidFill>
              </a:rPr>
              <a:t>ofthe</a:t>
            </a:r>
            <a:r>
              <a:rPr lang="en-US" sz="800" dirty="0">
                <a:solidFill>
                  <a:srgbClr val="111111"/>
                </a:solidFill>
              </a:rPr>
              <a:t> model , validation of </a:t>
            </a:r>
            <a:r>
              <a:rPr lang="en-US" sz="800" dirty="0" err="1">
                <a:solidFill>
                  <a:srgbClr val="111111"/>
                </a:solidFill>
              </a:rPr>
              <a:t>theresults</a:t>
            </a:r>
            <a:r>
              <a:rPr lang="en-US" sz="800" dirty="0">
                <a:solidFill>
                  <a:srgbClr val="111111"/>
                </a:solidFill>
              </a:rPr>
              <a:t> should be </a:t>
            </a:r>
            <a:r>
              <a:rPr lang="en-US" sz="800" dirty="0" err="1">
                <a:solidFill>
                  <a:srgbClr val="111111"/>
                </a:solidFill>
              </a:rPr>
              <a:t>provided.Should</a:t>
            </a:r>
            <a:r>
              <a:rPr lang="en-US" sz="800" dirty="0">
                <a:solidFill>
                  <a:srgbClr val="111111"/>
                </a:solidFill>
              </a:rPr>
              <a:t> test with real data</a:t>
            </a:r>
            <a:endParaRPr lang="en-US" sz="800" dirty="0"/>
          </a:p>
        </p:txBody>
      </p:sp>
      <p:sp>
        <p:nvSpPr>
          <p:cNvPr id="18" name="Shape 16"/>
          <p:cNvSpPr/>
          <p:nvPr/>
        </p:nvSpPr>
        <p:spPr>
          <a:xfrm>
            <a:off x="4663440" y="1042416"/>
            <a:ext cx="4206240" cy="658368"/>
          </a:xfrm>
          <a:prstGeom prst="rect">
            <a:avLst/>
          </a:prstGeom>
          <a:solidFill>
            <a:srgbClr val="FFFFFF"/>
          </a:solidFill>
          <a:ln w="3810">
            <a:solidFill>
              <a:srgbClr val="D0D8D0"/>
            </a:solidFill>
            <a:prstDash val="solid"/>
          </a:ln>
        </p:spPr>
        <p:txBody>
          <a:bodyPr/>
          <a:lstStyle/>
          <a:p>
            <a:endParaRPr lang="en-LK"/>
          </a:p>
        </p:txBody>
      </p:sp>
      <p:sp>
        <p:nvSpPr>
          <p:cNvPr id="19" name="Text 17"/>
          <p:cNvSpPr txBox="1"/>
          <p:nvPr/>
        </p:nvSpPr>
        <p:spPr>
          <a:xfrm>
            <a:off x="4709160" y="1088136"/>
            <a:ext cx="4114800" cy="56692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buNone/>
            </a:pPr>
            <a:r>
              <a:rPr lang="en-US" sz="800" dirty="0">
                <a:solidFill>
                  <a:srgbClr val="111111"/>
                </a:solidFill>
              </a:rPr>
              <a:t>Compared 4 architectures (CNN scratch 43%, VGG16 89%, ResNet50 91%, MobileNetV2 93%). Selected based on accuracy + 14MB size + 0.8s inference.</a:t>
            </a:r>
            <a:endParaRPr lang="en-US" sz="800" dirty="0"/>
          </a:p>
        </p:txBody>
      </p:sp>
      <p:sp>
        <p:nvSpPr>
          <p:cNvPr id="20" name="Shape 18"/>
          <p:cNvSpPr/>
          <p:nvPr/>
        </p:nvSpPr>
        <p:spPr>
          <a:xfrm>
            <a:off x="274320" y="1700784"/>
            <a:ext cx="1005840" cy="658368"/>
          </a:xfrm>
          <a:prstGeom prst="rect">
            <a:avLst/>
          </a:prstGeom>
          <a:solidFill>
            <a:srgbClr val="E8EDE8"/>
          </a:solidFill>
          <a:ln w="3810">
            <a:solidFill>
              <a:srgbClr val="D0D8D0"/>
            </a:solidFill>
            <a:prstDash val="solid"/>
          </a:ln>
        </p:spPr>
        <p:txBody>
          <a:bodyPr/>
          <a:lstStyle/>
          <a:p>
            <a:endParaRPr lang="en-LK"/>
          </a:p>
        </p:txBody>
      </p:sp>
      <p:sp>
        <p:nvSpPr>
          <p:cNvPr id="21" name="Text 19"/>
          <p:cNvSpPr txBox="1"/>
          <p:nvPr/>
        </p:nvSpPr>
        <p:spPr>
          <a:xfrm>
            <a:off x="320040" y="1746504"/>
            <a:ext cx="914400" cy="56692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r>
              <a:rPr lang="en-US" sz="800" dirty="0">
                <a:solidFill>
                  <a:srgbClr val="111111"/>
                </a:solidFill>
              </a:rPr>
              <a:t>IT22190734</a:t>
            </a:r>
            <a:endParaRPr lang="en-US" sz="800" dirty="0"/>
          </a:p>
        </p:txBody>
      </p:sp>
      <p:sp>
        <p:nvSpPr>
          <p:cNvPr id="22" name="Shape 20"/>
          <p:cNvSpPr/>
          <p:nvPr/>
        </p:nvSpPr>
        <p:spPr>
          <a:xfrm>
            <a:off x="1280160" y="1700784"/>
            <a:ext cx="914400" cy="658368"/>
          </a:xfrm>
          <a:prstGeom prst="rect">
            <a:avLst/>
          </a:prstGeom>
          <a:solidFill>
            <a:srgbClr val="E8EDE8"/>
          </a:solidFill>
          <a:ln w="3810">
            <a:solidFill>
              <a:srgbClr val="D0D8D0"/>
            </a:solidFill>
            <a:prstDash val="solid"/>
          </a:ln>
        </p:spPr>
        <p:txBody>
          <a:bodyPr/>
          <a:lstStyle/>
          <a:p>
            <a:endParaRPr lang="en-LK"/>
          </a:p>
        </p:txBody>
      </p:sp>
      <p:sp>
        <p:nvSpPr>
          <p:cNvPr id="23" name="Text 21"/>
          <p:cNvSpPr txBox="1"/>
          <p:nvPr/>
        </p:nvSpPr>
        <p:spPr>
          <a:xfrm>
            <a:off x="1325880" y="1746504"/>
            <a:ext cx="822960" cy="56692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r>
              <a:rPr lang="en-US" sz="800" dirty="0"/>
              <a:t>A.L.M. </a:t>
            </a:r>
            <a:r>
              <a:rPr lang="en-US" sz="800" dirty="0" err="1"/>
              <a:t>Farthas</a:t>
            </a:r>
            <a:endParaRPr lang="en-US" sz="800" dirty="0"/>
          </a:p>
        </p:txBody>
      </p:sp>
      <p:sp>
        <p:nvSpPr>
          <p:cNvPr id="24" name="Shape 22"/>
          <p:cNvSpPr/>
          <p:nvPr/>
        </p:nvSpPr>
        <p:spPr>
          <a:xfrm>
            <a:off x="2194560" y="1700784"/>
            <a:ext cx="2468880" cy="658368"/>
          </a:xfrm>
          <a:prstGeom prst="rect">
            <a:avLst/>
          </a:prstGeom>
          <a:solidFill>
            <a:srgbClr val="E8EDE8"/>
          </a:solidFill>
          <a:ln w="3810">
            <a:solidFill>
              <a:srgbClr val="D0D8D0"/>
            </a:solidFill>
            <a:prstDash val="solid"/>
          </a:ln>
        </p:spPr>
        <p:txBody>
          <a:bodyPr/>
          <a:lstStyle/>
          <a:p>
            <a:endParaRPr lang="en-LK"/>
          </a:p>
        </p:txBody>
      </p:sp>
      <p:sp>
        <p:nvSpPr>
          <p:cNvPr id="25" name="Text 23"/>
          <p:cNvSpPr txBox="1"/>
          <p:nvPr/>
        </p:nvSpPr>
        <p:spPr>
          <a:xfrm>
            <a:off x="2240280" y="1746504"/>
            <a:ext cx="2377440" cy="56692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r>
              <a:rPr lang="en-US" sz="800" dirty="0">
                <a:solidFill>
                  <a:srgbClr val="111111"/>
                </a:solidFill>
              </a:rPr>
              <a:t>Implementation is done for PP1</a:t>
            </a:r>
            <a:endParaRPr lang="en-US" sz="800" dirty="0"/>
          </a:p>
        </p:txBody>
      </p:sp>
      <p:sp>
        <p:nvSpPr>
          <p:cNvPr id="26" name="Shape 24"/>
          <p:cNvSpPr/>
          <p:nvPr/>
        </p:nvSpPr>
        <p:spPr>
          <a:xfrm>
            <a:off x="4663440" y="1700784"/>
            <a:ext cx="4206240" cy="658368"/>
          </a:xfrm>
          <a:prstGeom prst="rect">
            <a:avLst/>
          </a:prstGeom>
          <a:solidFill>
            <a:srgbClr val="E8EDE8"/>
          </a:solidFill>
          <a:ln w="3810">
            <a:solidFill>
              <a:srgbClr val="D0D8D0"/>
            </a:solidFill>
            <a:prstDash val="solid"/>
          </a:ln>
        </p:spPr>
        <p:txBody>
          <a:bodyPr/>
          <a:lstStyle/>
          <a:p>
            <a:r>
              <a:rPr lang="en-US" sz="800" dirty="0"/>
              <a:t>The implementation was completed and the required PP1 functionality was demonstrated.</a:t>
            </a:r>
          </a:p>
        </p:txBody>
      </p:sp>
      <p:sp>
        <p:nvSpPr>
          <p:cNvPr id="28" name="Shape 26"/>
          <p:cNvSpPr/>
          <p:nvPr/>
        </p:nvSpPr>
        <p:spPr>
          <a:xfrm>
            <a:off x="274320" y="2359152"/>
            <a:ext cx="1005840" cy="658368"/>
          </a:xfrm>
          <a:prstGeom prst="rect">
            <a:avLst/>
          </a:prstGeom>
          <a:solidFill>
            <a:srgbClr val="FFFFFF"/>
          </a:solidFill>
          <a:ln w="3810">
            <a:solidFill>
              <a:srgbClr val="D0D8D0"/>
            </a:solidFill>
            <a:prstDash val="solid"/>
          </a:ln>
        </p:spPr>
        <p:txBody>
          <a:bodyPr/>
          <a:lstStyle/>
          <a:p>
            <a:endParaRPr lang="en-LK"/>
          </a:p>
        </p:txBody>
      </p:sp>
      <p:sp>
        <p:nvSpPr>
          <p:cNvPr id="29" name="Text 27"/>
          <p:cNvSpPr txBox="1"/>
          <p:nvPr/>
        </p:nvSpPr>
        <p:spPr>
          <a:xfrm>
            <a:off x="320040" y="2404872"/>
            <a:ext cx="914400" cy="56692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r>
              <a:rPr lang="en-US" sz="800" dirty="0">
                <a:solidFill>
                  <a:srgbClr val="111111"/>
                </a:solidFill>
              </a:rPr>
              <a:t>IT22295842</a:t>
            </a:r>
            <a:endParaRPr lang="en-US" sz="800" dirty="0"/>
          </a:p>
        </p:txBody>
      </p:sp>
      <p:sp>
        <p:nvSpPr>
          <p:cNvPr id="30" name="Shape 28"/>
          <p:cNvSpPr/>
          <p:nvPr/>
        </p:nvSpPr>
        <p:spPr>
          <a:xfrm>
            <a:off x="1280160" y="2359152"/>
            <a:ext cx="914400" cy="658368"/>
          </a:xfrm>
          <a:prstGeom prst="rect">
            <a:avLst/>
          </a:prstGeom>
          <a:solidFill>
            <a:srgbClr val="FFFFFF"/>
          </a:solidFill>
          <a:ln w="3810">
            <a:solidFill>
              <a:srgbClr val="D0D8D0"/>
            </a:solidFill>
            <a:prstDash val="solid"/>
          </a:ln>
        </p:spPr>
        <p:txBody>
          <a:bodyPr/>
          <a:lstStyle/>
          <a:p>
            <a:endParaRPr lang="en-LK"/>
          </a:p>
        </p:txBody>
      </p:sp>
      <p:sp>
        <p:nvSpPr>
          <p:cNvPr id="31" name="Text 29"/>
          <p:cNvSpPr txBox="1"/>
          <p:nvPr/>
        </p:nvSpPr>
        <p:spPr>
          <a:xfrm>
            <a:off x="1325880" y="2404872"/>
            <a:ext cx="822960" cy="56692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r>
              <a:rPr lang="en-US" sz="800" dirty="0"/>
              <a:t>Rashad M.P.M</a:t>
            </a:r>
          </a:p>
        </p:txBody>
      </p:sp>
      <p:sp>
        <p:nvSpPr>
          <p:cNvPr id="32" name="Shape 30"/>
          <p:cNvSpPr/>
          <p:nvPr/>
        </p:nvSpPr>
        <p:spPr>
          <a:xfrm>
            <a:off x="2194560" y="2359152"/>
            <a:ext cx="2468880" cy="658368"/>
          </a:xfrm>
          <a:prstGeom prst="rect">
            <a:avLst/>
          </a:prstGeom>
          <a:solidFill>
            <a:srgbClr val="FFFFFF"/>
          </a:solidFill>
          <a:ln w="3810">
            <a:solidFill>
              <a:srgbClr val="D0D8D0"/>
            </a:solidFill>
            <a:prstDash val="solid"/>
          </a:ln>
        </p:spPr>
        <p:txBody>
          <a:bodyPr/>
          <a:lstStyle/>
          <a:p>
            <a:endParaRPr lang="en-LK"/>
          </a:p>
        </p:txBody>
      </p:sp>
      <p:sp>
        <p:nvSpPr>
          <p:cNvPr id="33" name="Text 31"/>
          <p:cNvSpPr txBox="1"/>
          <p:nvPr/>
        </p:nvSpPr>
        <p:spPr>
          <a:xfrm>
            <a:off x="2240280" y="2404872"/>
            <a:ext cx="2377440" cy="56692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r>
              <a:rPr lang="en-US" sz="800" dirty="0">
                <a:solidFill>
                  <a:srgbClr val="111111"/>
                </a:solidFill>
              </a:rPr>
              <a:t>used LSDM model, not sure </a:t>
            </a:r>
            <a:r>
              <a:rPr lang="en-US" sz="800" dirty="0" err="1">
                <a:solidFill>
                  <a:srgbClr val="111111"/>
                </a:solidFill>
              </a:rPr>
              <a:t>aboutthe</a:t>
            </a:r>
            <a:r>
              <a:rPr lang="en-US" sz="800" dirty="0">
                <a:solidFill>
                  <a:srgbClr val="111111"/>
                </a:solidFill>
              </a:rPr>
              <a:t> accuracy, use another </a:t>
            </a:r>
            <a:r>
              <a:rPr lang="en-US" sz="800" dirty="0" err="1">
                <a:solidFill>
                  <a:srgbClr val="111111"/>
                </a:solidFill>
              </a:rPr>
              <a:t>existingmodel</a:t>
            </a:r>
            <a:endParaRPr lang="en-US" sz="800" dirty="0"/>
          </a:p>
        </p:txBody>
      </p:sp>
      <p:sp>
        <p:nvSpPr>
          <p:cNvPr id="34" name="Shape 32"/>
          <p:cNvSpPr/>
          <p:nvPr/>
        </p:nvSpPr>
        <p:spPr>
          <a:xfrm>
            <a:off x="4663440" y="2359152"/>
            <a:ext cx="4206240" cy="658368"/>
          </a:xfrm>
          <a:prstGeom prst="rect">
            <a:avLst/>
          </a:prstGeom>
          <a:solidFill>
            <a:srgbClr val="FFFFFF"/>
          </a:solidFill>
          <a:ln w="3810">
            <a:solidFill>
              <a:srgbClr val="D0D8D0"/>
            </a:solidFill>
            <a:prstDash val="solid"/>
          </a:ln>
        </p:spPr>
        <p:txBody>
          <a:bodyPr/>
          <a:lstStyle/>
          <a:p>
            <a:r>
              <a:rPr lang="en-US" sz="800" dirty="0"/>
              <a:t>The LSDM model was replaced with an existing pre-trained model, and its performance was evaluated using appropriate validation metrics.</a:t>
            </a:r>
          </a:p>
        </p:txBody>
      </p:sp>
      <p:sp>
        <p:nvSpPr>
          <p:cNvPr id="36" name="Shape 34"/>
          <p:cNvSpPr/>
          <p:nvPr/>
        </p:nvSpPr>
        <p:spPr>
          <a:xfrm>
            <a:off x="274320" y="3017520"/>
            <a:ext cx="1005840" cy="658368"/>
          </a:xfrm>
          <a:prstGeom prst="rect">
            <a:avLst/>
          </a:prstGeom>
          <a:solidFill>
            <a:srgbClr val="E8EDE8"/>
          </a:solidFill>
          <a:ln w="3810">
            <a:solidFill>
              <a:srgbClr val="D0D8D0"/>
            </a:solidFill>
            <a:prstDash val="solid"/>
          </a:ln>
        </p:spPr>
        <p:txBody>
          <a:bodyPr/>
          <a:lstStyle/>
          <a:p>
            <a:endParaRPr lang="en-LK"/>
          </a:p>
        </p:txBody>
      </p:sp>
      <p:sp>
        <p:nvSpPr>
          <p:cNvPr id="37" name="Text 35"/>
          <p:cNvSpPr txBox="1"/>
          <p:nvPr/>
        </p:nvSpPr>
        <p:spPr>
          <a:xfrm>
            <a:off x="320040" y="3063240"/>
            <a:ext cx="914400" cy="56692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r>
              <a:rPr lang="en-US" sz="800" dirty="0">
                <a:solidFill>
                  <a:srgbClr val="111111"/>
                </a:solidFill>
              </a:rPr>
              <a:t>IT22208262</a:t>
            </a:r>
            <a:endParaRPr lang="en-US" sz="800" dirty="0"/>
          </a:p>
        </p:txBody>
      </p:sp>
      <p:sp>
        <p:nvSpPr>
          <p:cNvPr id="38" name="Shape 36"/>
          <p:cNvSpPr/>
          <p:nvPr/>
        </p:nvSpPr>
        <p:spPr>
          <a:xfrm>
            <a:off x="1280160" y="3017520"/>
            <a:ext cx="914400" cy="658368"/>
          </a:xfrm>
          <a:prstGeom prst="rect">
            <a:avLst/>
          </a:prstGeom>
          <a:solidFill>
            <a:srgbClr val="E8EDE8"/>
          </a:solidFill>
          <a:ln w="3810">
            <a:solidFill>
              <a:srgbClr val="D0D8D0"/>
            </a:solidFill>
            <a:prstDash val="solid"/>
          </a:ln>
        </p:spPr>
        <p:txBody>
          <a:bodyPr/>
          <a:lstStyle/>
          <a:p>
            <a:endParaRPr lang="en-LK"/>
          </a:p>
        </p:txBody>
      </p:sp>
      <p:sp>
        <p:nvSpPr>
          <p:cNvPr id="39" name="Text 37"/>
          <p:cNvSpPr txBox="1"/>
          <p:nvPr/>
        </p:nvSpPr>
        <p:spPr>
          <a:xfrm>
            <a:off x="1325880" y="3063240"/>
            <a:ext cx="822960" cy="56692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buNone/>
            </a:pPr>
            <a:r>
              <a:rPr lang="en-US" sz="800" dirty="0">
                <a:solidFill>
                  <a:srgbClr val="111111"/>
                </a:solidFill>
              </a:rPr>
              <a:t>Vithusha</a:t>
            </a:r>
            <a:endParaRPr lang="en-US" sz="800" dirty="0"/>
          </a:p>
        </p:txBody>
      </p:sp>
      <p:sp>
        <p:nvSpPr>
          <p:cNvPr id="40" name="Shape 38"/>
          <p:cNvSpPr/>
          <p:nvPr/>
        </p:nvSpPr>
        <p:spPr>
          <a:xfrm>
            <a:off x="2194560" y="3017520"/>
            <a:ext cx="2468880" cy="658368"/>
          </a:xfrm>
          <a:prstGeom prst="rect">
            <a:avLst/>
          </a:prstGeom>
          <a:solidFill>
            <a:srgbClr val="E8EDE8"/>
          </a:solidFill>
          <a:ln w="3810">
            <a:solidFill>
              <a:srgbClr val="D0D8D0"/>
            </a:solidFill>
            <a:prstDash val="solid"/>
          </a:ln>
        </p:spPr>
        <p:txBody>
          <a:bodyPr/>
          <a:lstStyle/>
          <a:p>
            <a:endParaRPr lang="en-LK"/>
          </a:p>
        </p:txBody>
      </p:sp>
      <p:sp>
        <p:nvSpPr>
          <p:cNvPr id="41" name="Text 39"/>
          <p:cNvSpPr txBox="1"/>
          <p:nvPr/>
        </p:nvSpPr>
        <p:spPr>
          <a:xfrm>
            <a:off x="2240280" y="3063240"/>
            <a:ext cx="2377440" cy="56692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r>
              <a:rPr lang="en-US" sz="800" dirty="0">
                <a:solidFill>
                  <a:srgbClr val="111111"/>
                </a:solidFill>
              </a:rPr>
              <a:t>Dataset should label and </a:t>
            </a:r>
            <a:r>
              <a:rPr lang="en-US" sz="800" dirty="0" err="1">
                <a:solidFill>
                  <a:srgbClr val="111111"/>
                </a:solidFill>
              </a:rPr>
              <a:t>modelshould</a:t>
            </a:r>
            <a:r>
              <a:rPr lang="en-US" sz="800" dirty="0">
                <a:solidFill>
                  <a:srgbClr val="111111"/>
                </a:solidFill>
              </a:rPr>
              <a:t> trained accordingly and </a:t>
            </a:r>
            <a:r>
              <a:rPr lang="en-US" sz="800" dirty="0" err="1">
                <a:solidFill>
                  <a:srgbClr val="111111"/>
                </a:solidFill>
              </a:rPr>
              <a:t>theparameters</a:t>
            </a:r>
            <a:r>
              <a:rPr lang="en-US" sz="800" dirty="0">
                <a:solidFill>
                  <a:srgbClr val="111111"/>
                </a:solidFill>
              </a:rPr>
              <a:t> also should </a:t>
            </a:r>
            <a:r>
              <a:rPr lang="en-US" sz="800" dirty="0" err="1">
                <a:solidFill>
                  <a:srgbClr val="111111"/>
                </a:solidFill>
              </a:rPr>
              <a:t>chanagedaccordingly</a:t>
            </a:r>
            <a:endParaRPr lang="en-US" sz="800" dirty="0"/>
          </a:p>
        </p:txBody>
      </p:sp>
      <p:sp>
        <p:nvSpPr>
          <p:cNvPr id="42" name="Shape 40"/>
          <p:cNvSpPr/>
          <p:nvPr/>
        </p:nvSpPr>
        <p:spPr>
          <a:xfrm>
            <a:off x="4663440" y="3017520"/>
            <a:ext cx="4206240" cy="658368"/>
          </a:xfrm>
          <a:prstGeom prst="rect">
            <a:avLst/>
          </a:prstGeom>
          <a:solidFill>
            <a:srgbClr val="E8EDE8"/>
          </a:solidFill>
          <a:ln w="3810">
            <a:solidFill>
              <a:srgbClr val="D0D8D0"/>
            </a:solidFill>
            <a:prstDash val="solid"/>
          </a:ln>
        </p:spPr>
        <p:txBody>
          <a:bodyPr/>
          <a:lstStyle/>
          <a:p>
            <a:r>
              <a:rPr lang="en-US" sz="800" dirty="0"/>
              <a:t>I fixed this by updating the dataset labels, retraining the model according to the updated classes, and adjusting the model parameters to match the new labels.</a:t>
            </a:r>
          </a:p>
        </p:txBody>
      </p:sp>
      <p:sp>
        <p:nvSpPr>
          <p:cNvPr id="44" name="Shape 42"/>
          <p:cNvSpPr/>
          <p:nvPr/>
        </p:nvSpPr>
        <p:spPr>
          <a:xfrm>
            <a:off x="0" y="4892040"/>
            <a:ext cx="9144000" cy="256032"/>
          </a:xfrm>
          <a:prstGeom prst="rect">
            <a:avLst/>
          </a:prstGeom>
          <a:solidFill>
            <a:srgbClr val="1B5E20"/>
          </a:solidFill>
          <a:ln w="12700">
            <a:solidFill>
              <a:srgbClr val="1B5E20"/>
            </a:solidFill>
            <a:prstDash val="solid"/>
          </a:ln>
        </p:spPr>
        <p:txBody>
          <a:bodyPr/>
          <a:lstStyle/>
          <a:p>
            <a:endParaRPr lang="en-LK"/>
          </a:p>
        </p:txBody>
      </p:sp>
      <p:sp>
        <p:nvSpPr>
          <p:cNvPr id="45" name="Text 43"/>
          <p:cNvSpPr txBox="1"/>
          <p:nvPr/>
        </p:nvSpPr>
        <p:spPr>
          <a:xfrm>
            <a:off x="274320" y="4892040"/>
            <a:ext cx="6400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800" dirty="0">
                <a:solidFill>
                  <a:srgbClr val="C8E6C9"/>
                </a:solidFill>
              </a:rPr>
              <a:t>TomatoDoc  |  R26-SE-032  |  SLIIT Faculty of Computing</a:t>
            </a:r>
            <a:endParaRPr lang="en-US" sz="800" dirty="0"/>
          </a:p>
        </p:txBody>
      </p:sp>
      <p:sp>
        <p:nvSpPr>
          <p:cNvPr id="46" name="Text 44"/>
          <p:cNvSpPr txBox="1"/>
          <p:nvPr/>
        </p:nvSpPr>
        <p:spPr>
          <a:xfrm>
            <a:off x="8229600" y="4892040"/>
            <a:ext cx="6400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C8E6C9"/>
                </a:solidFill>
              </a:rPr>
              <a:t>2</a:t>
            </a:r>
            <a:endParaRPr lang="en-US" sz="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4F6F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1B5E20"/>
          </a:solidFill>
          <a:ln w="12700">
            <a:solidFill>
              <a:srgbClr val="1B5E20"/>
            </a:solidFill>
            <a:prstDash val="solid"/>
          </a:ln>
        </p:spPr>
        <p:txBody>
          <a:bodyPr/>
          <a:lstStyle/>
          <a:p>
            <a:endParaRPr lang="en-LK"/>
          </a:p>
        </p:txBody>
      </p:sp>
      <p:sp>
        <p:nvSpPr>
          <p:cNvPr id="3" name="Text 1"/>
          <p:cNvSpPr txBox="1"/>
          <p:nvPr/>
        </p:nvSpPr>
        <p:spPr>
          <a:xfrm>
            <a:off x="365760" y="164592"/>
            <a:ext cx="84124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2200" b="1" dirty="0">
                <a:solidFill>
                  <a:srgbClr val="FFFFFF"/>
                </a:solidFill>
              </a:rPr>
              <a:t>The Problem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274320" y="804672"/>
            <a:ext cx="4206240" cy="1828800"/>
          </a:xfrm>
          <a:prstGeom prst="rect">
            <a:avLst/>
          </a:prstGeom>
          <a:solidFill>
            <a:srgbClr val="FFFFFF"/>
          </a:solidFill>
          <a:ln w="6350">
            <a:solidFill>
              <a:srgbClr val="D4DDD4"/>
            </a:solidFill>
            <a:prstDash val="solid"/>
          </a:ln>
          <a:effectLst>
            <a:outerShdw blurRad="101600" dist="38100" dir="8100000" algn="bl" rotWithShape="0">
              <a:srgbClr val="000000">
                <a:alpha val="13000"/>
              </a:srgbClr>
            </a:outerShdw>
          </a:effectLst>
        </p:spPr>
        <p:txBody>
          <a:bodyPr/>
          <a:lstStyle/>
          <a:p>
            <a:endParaRPr lang="en-LK"/>
          </a:p>
        </p:txBody>
      </p:sp>
      <p:sp>
        <p:nvSpPr>
          <p:cNvPr id="6" name="Text 4"/>
          <p:cNvSpPr txBox="1"/>
          <p:nvPr/>
        </p:nvSpPr>
        <p:spPr>
          <a:xfrm>
            <a:off x="1051560" y="987552"/>
            <a:ext cx="3200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1B5E20"/>
                </a:solidFill>
              </a:rPr>
              <a:t>Nutrient Deficiency</a:t>
            </a:r>
            <a:endParaRPr lang="en-US" sz="1300" dirty="0"/>
          </a:p>
        </p:txBody>
      </p:sp>
      <p:sp>
        <p:nvSpPr>
          <p:cNvPr id="7" name="Text 5"/>
          <p:cNvSpPr txBox="1"/>
          <p:nvPr/>
        </p:nvSpPr>
        <p:spPr>
          <a:xfrm>
            <a:off x="438912" y="1426464"/>
            <a:ext cx="3840480" cy="10515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950" dirty="0">
                <a:solidFill>
                  <a:srgbClr val="111111"/>
                </a:solidFill>
              </a:rPr>
              <a:t>N, K, P, Fe deficiencies all cause similar leaf yellowing — farmers cannot tell them apart visually without lab testing.</a:t>
            </a:r>
            <a:endParaRPr lang="en-US" sz="950" dirty="0"/>
          </a:p>
        </p:txBody>
      </p:sp>
      <p:sp>
        <p:nvSpPr>
          <p:cNvPr id="8" name="Shape 6"/>
          <p:cNvSpPr/>
          <p:nvPr/>
        </p:nvSpPr>
        <p:spPr>
          <a:xfrm>
            <a:off x="4709160" y="804672"/>
            <a:ext cx="4206240" cy="1828800"/>
          </a:xfrm>
          <a:prstGeom prst="rect">
            <a:avLst/>
          </a:prstGeom>
          <a:solidFill>
            <a:srgbClr val="FFFFFF"/>
          </a:solidFill>
          <a:ln w="6350">
            <a:solidFill>
              <a:srgbClr val="D4DDD4"/>
            </a:solidFill>
            <a:prstDash val="solid"/>
          </a:ln>
          <a:effectLst>
            <a:outerShdw blurRad="101600" dist="38100" dir="8100000" algn="bl" rotWithShape="0">
              <a:srgbClr val="000000">
                <a:alpha val="13000"/>
              </a:srgbClr>
            </a:outerShdw>
          </a:effectLst>
        </p:spPr>
        <p:txBody>
          <a:bodyPr/>
          <a:lstStyle/>
          <a:p>
            <a:endParaRPr lang="en-LK"/>
          </a:p>
        </p:txBody>
      </p:sp>
      <p:sp>
        <p:nvSpPr>
          <p:cNvPr id="9" name="Text 7"/>
          <p:cNvSpPr txBox="1"/>
          <p:nvPr/>
        </p:nvSpPr>
        <p:spPr>
          <a:xfrm>
            <a:off x="4873752" y="969264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endParaRPr lang="en-US" sz="2800" dirty="0"/>
          </a:p>
        </p:txBody>
      </p:sp>
      <p:sp>
        <p:nvSpPr>
          <p:cNvPr id="10" name="Text 8"/>
          <p:cNvSpPr txBox="1"/>
          <p:nvPr/>
        </p:nvSpPr>
        <p:spPr>
          <a:xfrm>
            <a:off x="5486400" y="987552"/>
            <a:ext cx="3200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1B5E20"/>
                </a:solidFill>
              </a:rPr>
              <a:t>Fruit Disease</a:t>
            </a:r>
            <a:endParaRPr lang="en-US" sz="1300" dirty="0"/>
          </a:p>
        </p:txBody>
      </p:sp>
      <p:sp>
        <p:nvSpPr>
          <p:cNvPr id="11" name="Text 9"/>
          <p:cNvSpPr txBox="1"/>
          <p:nvPr/>
        </p:nvSpPr>
        <p:spPr>
          <a:xfrm>
            <a:off x="4873752" y="1426464"/>
            <a:ext cx="3840480" cy="10515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950" dirty="0">
                <a:solidFill>
                  <a:srgbClr val="111111"/>
                </a:solidFill>
              </a:rPr>
              <a:t>Anthracnose, Bacterial Spot, Blossom End Rot &amp; Spotted Wilt Virus cause 30–40% post-harvest losses annually in Sri Lanka.</a:t>
            </a:r>
            <a:endParaRPr lang="en-US" sz="950" dirty="0"/>
          </a:p>
        </p:txBody>
      </p:sp>
      <p:sp>
        <p:nvSpPr>
          <p:cNvPr id="12" name="Shape 10"/>
          <p:cNvSpPr/>
          <p:nvPr/>
        </p:nvSpPr>
        <p:spPr>
          <a:xfrm>
            <a:off x="274320" y="2798064"/>
            <a:ext cx="4206240" cy="1828800"/>
          </a:xfrm>
          <a:prstGeom prst="rect">
            <a:avLst/>
          </a:prstGeom>
          <a:solidFill>
            <a:srgbClr val="FFFFFF"/>
          </a:solidFill>
          <a:ln w="6350">
            <a:solidFill>
              <a:srgbClr val="D4DDD4"/>
            </a:solidFill>
            <a:prstDash val="solid"/>
          </a:ln>
          <a:effectLst>
            <a:outerShdw blurRad="101600" dist="38100" dir="8100000" algn="bl" rotWithShape="0">
              <a:srgbClr val="000000">
                <a:alpha val="13000"/>
              </a:srgbClr>
            </a:outerShdw>
          </a:effectLst>
        </p:spPr>
        <p:txBody>
          <a:bodyPr/>
          <a:lstStyle/>
          <a:p>
            <a:endParaRPr lang="en-LK"/>
          </a:p>
        </p:txBody>
      </p:sp>
      <p:sp>
        <p:nvSpPr>
          <p:cNvPr id="14" name="Text 12"/>
          <p:cNvSpPr txBox="1"/>
          <p:nvPr/>
        </p:nvSpPr>
        <p:spPr>
          <a:xfrm>
            <a:off x="1051560" y="2980944"/>
            <a:ext cx="3200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1B5E20"/>
                </a:solidFill>
              </a:rPr>
              <a:t>Leaf Disease Co-occurrence</a:t>
            </a:r>
            <a:endParaRPr lang="en-US" sz="1300" dirty="0"/>
          </a:p>
        </p:txBody>
      </p:sp>
      <p:sp>
        <p:nvSpPr>
          <p:cNvPr id="15" name="Text 13"/>
          <p:cNvSpPr txBox="1"/>
          <p:nvPr/>
        </p:nvSpPr>
        <p:spPr>
          <a:xfrm>
            <a:off x="438912" y="3419856"/>
            <a:ext cx="3840480" cy="10515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950" dirty="0">
                <a:solidFill>
                  <a:srgbClr val="111111"/>
                </a:solidFill>
              </a:rPr>
              <a:t>Early &amp; Late Blight frequently appear together. Existing tools detect only one disease per image, causing missed diagnoses.</a:t>
            </a:r>
            <a:endParaRPr lang="en-US" sz="950" dirty="0"/>
          </a:p>
        </p:txBody>
      </p:sp>
      <p:sp>
        <p:nvSpPr>
          <p:cNvPr id="16" name="Shape 14"/>
          <p:cNvSpPr/>
          <p:nvPr/>
        </p:nvSpPr>
        <p:spPr>
          <a:xfrm>
            <a:off x="4709160" y="2798064"/>
            <a:ext cx="4206240" cy="1828800"/>
          </a:xfrm>
          <a:prstGeom prst="rect">
            <a:avLst/>
          </a:prstGeom>
          <a:solidFill>
            <a:srgbClr val="FFFFFF"/>
          </a:solidFill>
          <a:ln w="6350">
            <a:solidFill>
              <a:srgbClr val="D4DDD4"/>
            </a:solidFill>
            <a:prstDash val="solid"/>
          </a:ln>
          <a:effectLst>
            <a:outerShdw blurRad="101600" dist="38100" dir="8100000" algn="bl" rotWithShape="0">
              <a:srgbClr val="000000">
                <a:alpha val="13000"/>
              </a:srgbClr>
            </a:outerShdw>
          </a:effectLst>
        </p:spPr>
        <p:txBody>
          <a:bodyPr/>
          <a:lstStyle/>
          <a:p>
            <a:endParaRPr lang="en-LK"/>
          </a:p>
        </p:txBody>
      </p:sp>
      <p:sp>
        <p:nvSpPr>
          <p:cNvPr id="17" name="Text 15"/>
          <p:cNvSpPr txBox="1"/>
          <p:nvPr/>
        </p:nvSpPr>
        <p:spPr>
          <a:xfrm>
            <a:off x="4873752" y="2962656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endParaRPr lang="en-US" sz="2800" dirty="0"/>
          </a:p>
        </p:txBody>
      </p:sp>
      <p:sp>
        <p:nvSpPr>
          <p:cNvPr id="18" name="Text 16"/>
          <p:cNvSpPr txBox="1"/>
          <p:nvPr/>
        </p:nvSpPr>
        <p:spPr>
          <a:xfrm>
            <a:off x="5486400" y="2980944"/>
            <a:ext cx="3200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1B5E20"/>
                </a:solidFill>
              </a:rPr>
              <a:t>Market Price Volatility</a:t>
            </a:r>
            <a:endParaRPr lang="en-US" sz="1300" dirty="0"/>
          </a:p>
        </p:txBody>
      </p:sp>
      <p:sp>
        <p:nvSpPr>
          <p:cNvPr id="19" name="Text 17"/>
          <p:cNvSpPr txBox="1"/>
          <p:nvPr/>
        </p:nvSpPr>
        <p:spPr>
          <a:xfrm>
            <a:off x="4873752" y="3419856"/>
            <a:ext cx="3840480" cy="10515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950" dirty="0">
                <a:solidFill>
                  <a:srgbClr val="111111"/>
                </a:solidFill>
              </a:rPr>
              <a:t>Tomato prices swing from LKR 7 to LKR 220 per kg. Farmers sell at the wrong time — no affordable forecasting tool exists.</a:t>
            </a:r>
            <a:endParaRPr lang="en-US" sz="950" dirty="0"/>
          </a:p>
        </p:txBody>
      </p:sp>
      <p:sp>
        <p:nvSpPr>
          <p:cNvPr id="20" name="Shape 18"/>
          <p:cNvSpPr/>
          <p:nvPr/>
        </p:nvSpPr>
        <p:spPr>
          <a:xfrm>
            <a:off x="0" y="4892040"/>
            <a:ext cx="9144000" cy="256032"/>
          </a:xfrm>
          <a:prstGeom prst="rect">
            <a:avLst/>
          </a:prstGeom>
          <a:solidFill>
            <a:srgbClr val="1B5E20"/>
          </a:solidFill>
          <a:ln w="12700">
            <a:solidFill>
              <a:srgbClr val="1B5E20"/>
            </a:solidFill>
            <a:prstDash val="solid"/>
          </a:ln>
        </p:spPr>
        <p:txBody>
          <a:bodyPr/>
          <a:lstStyle/>
          <a:p>
            <a:endParaRPr lang="en-LK"/>
          </a:p>
        </p:txBody>
      </p:sp>
      <p:sp>
        <p:nvSpPr>
          <p:cNvPr id="21" name="Text 19"/>
          <p:cNvSpPr txBox="1"/>
          <p:nvPr/>
        </p:nvSpPr>
        <p:spPr>
          <a:xfrm>
            <a:off x="274320" y="4892040"/>
            <a:ext cx="6400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800" dirty="0">
                <a:solidFill>
                  <a:srgbClr val="C8E6C9"/>
                </a:solidFill>
              </a:rPr>
              <a:t>TomatoDoc  |  R26-SE-032  |  SLIIT Faculty of Computing</a:t>
            </a:r>
            <a:endParaRPr lang="en-US" sz="800" dirty="0"/>
          </a:p>
        </p:txBody>
      </p:sp>
      <p:sp>
        <p:nvSpPr>
          <p:cNvPr id="22" name="Text 20"/>
          <p:cNvSpPr txBox="1"/>
          <p:nvPr/>
        </p:nvSpPr>
        <p:spPr>
          <a:xfrm>
            <a:off x="8229600" y="4892040"/>
            <a:ext cx="6400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C8E6C9"/>
                </a:solidFill>
              </a:rPr>
              <a:t>3</a:t>
            </a:r>
            <a:endParaRPr lang="en-US" sz="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4F6F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1B5E20"/>
          </a:solidFill>
          <a:ln w="12700">
            <a:solidFill>
              <a:srgbClr val="1B5E20"/>
            </a:solidFill>
            <a:prstDash val="solid"/>
          </a:ln>
        </p:spPr>
        <p:txBody>
          <a:bodyPr/>
          <a:lstStyle/>
          <a:p>
            <a:endParaRPr lang="en-LK"/>
          </a:p>
        </p:txBody>
      </p:sp>
      <p:sp>
        <p:nvSpPr>
          <p:cNvPr id="3" name="Text 1"/>
          <p:cNvSpPr txBox="1"/>
          <p:nvPr/>
        </p:nvSpPr>
        <p:spPr>
          <a:xfrm>
            <a:off x="365760" y="164592"/>
            <a:ext cx="84124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2200" b="1" dirty="0">
                <a:solidFill>
                  <a:srgbClr val="FFFFFF"/>
                </a:solidFill>
              </a:rPr>
              <a:t>Users &amp; Stakeholders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274320" y="777240"/>
            <a:ext cx="4206240" cy="3977640"/>
          </a:xfrm>
          <a:prstGeom prst="rect">
            <a:avLst/>
          </a:prstGeom>
          <a:solidFill>
            <a:srgbClr val="FFFFFF"/>
          </a:solidFill>
          <a:ln w="6350">
            <a:solidFill>
              <a:srgbClr val="D4DDD4"/>
            </a:solidFill>
            <a:prstDash val="solid"/>
          </a:ln>
          <a:effectLst>
            <a:outerShdw blurRad="101600" dist="38100" dir="8100000" algn="bl" rotWithShape="0">
              <a:srgbClr val="000000">
                <a:alpha val="13000"/>
              </a:srgbClr>
            </a:outerShdw>
          </a:effectLst>
        </p:spPr>
        <p:txBody>
          <a:bodyPr/>
          <a:lstStyle/>
          <a:p>
            <a:endParaRPr lang="en-LK"/>
          </a:p>
        </p:txBody>
      </p:sp>
      <p:sp>
        <p:nvSpPr>
          <p:cNvPr id="5" name="Shape 3"/>
          <p:cNvSpPr/>
          <p:nvPr/>
        </p:nvSpPr>
        <p:spPr>
          <a:xfrm>
            <a:off x="274320" y="777240"/>
            <a:ext cx="4206240" cy="347472"/>
          </a:xfrm>
          <a:prstGeom prst="roundRect">
            <a:avLst>
              <a:gd name="adj" fmla="val 21053"/>
            </a:avLst>
          </a:prstGeom>
          <a:solidFill>
            <a:srgbClr val="2E7D32"/>
          </a:solidFill>
          <a:ln w="12700">
            <a:solidFill>
              <a:srgbClr val="2E7D32"/>
            </a:solidFill>
            <a:prstDash val="solid"/>
          </a:ln>
        </p:spPr>
        <p:txBody>
          <a:bodyPr/>
          <a:lstStyle/>
          <a:p>
            <a:endParaRPr lang="en-LK"/>
          </a:p>
        </p:txBody>
      </p:sp>
      <p:sp>
        <p:nvSpPr>
          <p:cNvPr id="6" name="Text 4"/>
          <p:cNvSpPr txBox="1"/>
          <p:nvPr/>
        </p:nvSpPr>
        <p:spPr>
          <a:xfrm>
            <a:off x="274320" y="777240"/>
            <a:ext cx="42062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</a:rPr>
              <a:t>PRIMARY USERS</a:t>
            </a:r>
            <a:endParaRPr lang="en-US" sz="1000" dirty="0"/>
          </a:p>
        </p:txBody>
      </p:sp>
      <p:sp>
        <p:nvSpPr>
          <p:cNvPr id="8" name="Text 6"/>
          <p:cNvSpPr txBox="1"/>
          <p:nvPr/>
        </p:nvSpPr>
        <p:spPr>
          <a:xfrm>
            <a:off x="1024128" y="1280160"/>
            <a:ext cx="32004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1B5E20"/>
                </a:solidFill>
              </a:rPr>
              <a:t>Tomato Farmers</a:t>
            </a:r>
            <a:endParaRPr lang="en-US" sz="1100" dirty="0"/>
          </a:p>
        </p:txBody>
      </p:sp>
      <p:sp>
        <p:nvSpPr>
          <p:cNvPr id="9" name="Text 7"/>
          <p:cNvSpPr txBox="1"/>
          <p:nvPr/>
        </p:nvSpPr>
        <p:spPr>
          <a:xfrm>
            <a:off x="1024128" y="1536192"/>
            <a:ext cx="320040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buNone/>
            </a:pPr>
            <a:r>
              <a:rPr lang="en-US" sz="900" dirty="0">
                <a:solidFill>
                  <a:srgbClr val="9E9E9E"/>
                </a:solidFill>
              </a:rPr>
              <a:t>Upload leaf/fruit photos, get instant diagnosis and treatment advice</a:t>
            </a:r>
            <a:endParaRPr lang="en-US" sz="900" dirty="0"/>
          </a:p>
        </p:txBody>
      </p:sp>
      <p:sp>
        <p:nvSpPr>
          <p:cNvPr id="11" name="Text 9"/>
          <p:cNvSpPr txBox="1"/>
          <p:nvPr/>
        </p:nvSpPr>
        <p:spPr>
          <a:xfrm>
            <a:off x="1024128" y="2377440"/>
            <a:ext cx="32004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1B5E20"/>
                </a:solidFill>
              </a:rPr>
              <a:t>Agricultural Officers</a:t>
            </a:r>
            <a:endParaRPr lang="en-US" sz="1100" dirty="0"/>
          </a:p>
        </p:txBody>
      </p:sp>
      <p:sp>
        <p:nvSpPr>
          <p:cNvPr id="12" name="Text 10"/>
          <p:cNvSpPr txBox="1"/>
          <p:nvPr/>
        </p:nvSpPr>
        <p:spPr>
          <a:xfrm>
            <a:off x="1024128" y="2633472"/>
            <a:ext cx="320040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buNone/>
            </a:pPr>
            <a:r>
              <a:rPr lang="en-US" sz="900" dirty="0">
                <a:solidFill>
                  <a:srgbClr val="9E9E9E"/>
                </a:solidFill>
              </a:rPr>
              <a:t>Monitor field conditions, validate AI predictions</a:t>
            </a:r>
            <a:endParaRPr lang="en-US" sz="900" dirty="0"/>
          </a:p>
        </p:txBody>
      </p:sp>
      <p:sp>
        <p:nvSpPr>
          <p:cNvPr id="14" name="Text 12"/>
          <p:cNvSpPr txBox="1"/>
          <p:nvPr/>
        </p:nvSpPr>
        <p:spPr>
          <a:xfrm>
            <a:off x="1024128" y="3474720"/>
            <a:ext cx="32004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1B5E20"/>
                </a:solidFill>
              </a:rPr>
              <a:t>Mobile App Users</a:t>
            </a:r>
            <a:endParaRPr lang="en-US" sz="1100" dirty="0"/>
          </a:p>
        </p:txBody>
      </p:sp>
      <p:sp>
        <p:nvSpPr>
          <p:cNvPr id="15" name="Text 13"/>
          <p:cNvSpPr txBox="1"/>
          <p:nvPr/>
        </p:nvSpPr>
        <p:spPr>
          <a:xfrm>
            <a:off x="1024128" y="3730752"/>
            <a:ext cx="320040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buNone/>
            </a:pPr>
            <a:r>
              <a:rPr lang="en-US" sz="900" dirty="0">
                <a:solidFill>
                  <a:srgbClr val="9E9E9E"/>
                </a:solidFill>
              </a:rPr>
              <a:t>Access all 4 components from a single smartphone interface</a:t>
            </a:r>
            <a:endParaRPr lang="en-US" sz="900" dirty="0"/>
          </a:p>
        </p:txBody>
      </p:sp>
      <p:sp>
        <p:nvSpPr>
          <p:cNvPr id="16" name="Shape 14"/>
          <p:cNvSpPr/>
          <p:nvPr/>
        </p:nvSpPr>
        <p:spPr>
          <a:xfrm>
            <a:off x="4670935" y="784735"/>
            <a:ext cx="4206240" cy="3977640"/>
          </a:xfrm>
          <a:prstGeom prst="rect">
            <a:avLst/>
          </a:prstGeom>
          <a:solidFill>
            <a:srgbClr val="FFFFFF"/>
          </a:solidFill>
          <a:ln w="6350">
            <a:solidFill>
              <a:srgbClr val="D4DDD4"/>
            </a:solidFill>
            <a:prstDash val="solid"/>
          </a:ln>
          <a:effectLst>
            <a:outerShdw blurRad="101600" dist="38100" dir="8100000" algn="bl" rotWithShape="0">
              <a:srgbClr val="000000">
                <a:alpha val="13000"/>
              </a:srgbClr>
            </a:outerShdw>
          </a:effectLst>
        </p:spPr>
        <p:txBody>
          <a:bodyPr/>
          <a:lstStyle/>
          <a:p>
            <a:endParaRPr lang="en-LK"/>
          </a:p>
        </p:txBody>
      </p:sp>
      <p:sp>
        <p:nvSpPr>
          <p:cNvPr id="17" name="Shape 15"/>
          <p:cNvSpPr/>
          <p:nvPr/>
        </p:nvSpPr>
        <p:spPr>
          <a:xfrm>
            <a:off x="4663440" y="777240"/>
            <a:ext cx="4206240" cy="347472"/>
          </a:xfrm>
          <a:prstGeom prst="roundRect">
            <a:avLst>
              <a:gd name="adj" fmla="val 21053"/>
            </a:avLst>
          </a:prstGeom>
          <a:solidFill>
            <a:srgbClr val="1565C0"/>
          </a:solidFill>
          <a:ln w="12700">
            <a:solidFill>
              <a:srgbClr val="1565C0"/>
            </a:solidFill>
            <a:prstDash val="solid"/>
          </a:ln>
        </p:spPr>
        <p:txBody>
          <a:bodyPr/>
          <a:lstStyle/>
          <a:p>
            <a:endParaRPr lang="en-LK"/>
          </a:p>
        </p:txBody>
      </p:sp>
      <p:sp>
        <p:nvSpPr>
          <p:cNvPr id="18" name="Text 16"/>
          <p:cNvSpPr txBox="1"/>
          <p:nvPr/>
        </p:nvSpPr>
        <p:spPr>
          <a:xfrm>
            <a:off x="4663440" y="777240"/>
            <a:ext cx="42062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</a:rPr>
              <a:t>OTHER STAKEHOLDERS</a:t>
            </a:r>
            <a:endParaRPr lang="en-US" sz="1000" dirty="0"/>
          </a:p>
        </p:txBody>
      </p:sp>
      <p:sp>
        <p:nvSpPr>
          <p:cNvPr id="20" name="Text 18"/>
          <p:cNvSpPr txBox="1"/>
          <p:nvPr/>
        </p:nvSpPr>
        <p:spPr>
          <a:xfrm>
            <a:off x="5285232" y="1280160"/>
            <a:ext cx="33832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050" b="1" dirty="0">
                <a:solidFill>
                  <a:srgbClr val="1B5E20"/>
                </a:solidFill>
              </a:rPr>
              <a:t>Dept. of Agriculture Sri Lanka</a:t>
            </a:r>
            <a:endParaRPr lang="en-US" sz="1050" dirty="0"/>
          </a:p>
        </p:txBody>
      </p:sp>
      <p:sp>
        <p:nvSpPr>
          <p:cNvPr id="21" name="Text 19"/>
          <p:cNvSpPr txBox="1"/>
          <p:nvPr/>
        </p:nvSpPr>
        <p:spPr>
          <a:xfrm>
            <a:off x="5285232" y="1536192"/>
            <a:ext cx="338328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buNone/>
            </a:pPr>
            <a:r>
              <a:rPr lang="en-US" sz="850" dirty="0">
                <a:solidFill>
                  <a:srgbClr val="9E9E9E"/>
                </a:solidFill>
              </a:rPr>
              <a:t>Policy guidance, agrochemical approval list</a:t>
            </a:r>
            <a:endParaRPr lang="en-US" sz="850" dirty="0"/>
          </a:p>
        </p:txBody>
      </p:sp>
      <p:sp>
        <p:nvSpPr>
          <p:cNvPr id="23" name="Text 21"/>
          <p:cNvSpPr txBox="1"/>
          <p:nvPr/>
        </p:nvSpPr>
        <p:spPr>
          <a:xfrm>
            <a:off x="5230368" y="2130552"/>
            <a:ext cx="33832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endParaRPr lang="en-US" sz="1050" dirty="0"/>
          </a:p>
        </p:txBody>
      </p:sp>
      <p:sp>
        <p:nvSpPr>
          <p:cNvPr id="24" name="Text 22"/>
          <p:cNvSpPr txBox="1"/>
          <p:nvPr/>
        </p:nvSpPr>
        <p:spPr>
          <a:xfrm>
            <a:off x="5285232" y="2386584"/>
            <a:ext cx="338328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buNone/>
            </a:pPr>
            <a:endParaRPr lang="en-US" sz="850" dirty="0"/>
          </a:p>
        </p:txBody>
      </p:sp>
      <p:sp>
        <p:nvSpPr>
          <p:cNvPr id="26" name="Text 24"/>
          <p:cNvSpPr txBox="1"/>
          <p:nvPr/>
        </p:nvSpPr>
        <p:spPr>
          <a:xfrm>
            <a:off x="5285232" y="2980944"/>
            <a:ext cx="33832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050" b="1" dirty="0">
                <a:solidFill>
                  <a:srgbClr val="1B5E20"/>
                </a:solidFill>
              </a:rPr>
              <a:t>Agri-Tech Platforms</a:t>
            </a:r>
            <a:endParaRPr lang="en-US" sz="1050" dirty="0"/>
          </a:p>
        </p:txBody>
      </p:sp>
      <p:sp>
        <p:nvSpPr>
          <p:cNvPr id="27" name="Text 25"/>
          <p:cNvSpPr txBox="1"/>
          <p:nvPr/>
        </p:nvSpPr>
        <p:spPr>
          <a:xfrm>
            <a:off x="5285232" y="3236976"/>
            <a:ext cx="338328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buNone/>
            </a:pPr>
            <a:r>
              <a:rPr lang="en-US" sz="850" dirty="0">
                <a:solidFill>
                  <a:srgbClr val="9E9E9E"/>
                </a:solidFill>
              </a:rPr>
              <a:t>API integration, commercial deployment</a:t>
            </a:r>
            <a:endParaRPr lang="en-US" sz="850" dirty="0"/>
          </a:p>
        </p:txBody>
      </p:sp>
      <p:sp>
        <p:nvSpPr>
          <p:cNvPr id="28" name="Text 26"/>
          <p:cNvSpPr txBox="1"/>
          <p:nvPr/>
        </p:nvSpPr>
        <p:spPr>
          <a:xfrm>
            <a:off x="4828032" y="3840480"/>
            <a:ext cx="411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endParaRPr lang="en-US" sz="2200" dirty="0"/>
          </a:p>
        </p:txBody>
      </p:sp>
      <p:sp>
        <p:nvSpPr>
          <p:cNvPr id="29" name="Text 27"/>
          <p:cNvSpPr txBox="1"/>
          <p:nvPr/>
        </p:nvSpPr>
        <p:spPr>
          <a:xfrm>
            <a:off x="5257800" y="2030418"/>
            <a:ext cx="3383280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050" b="1" dirty="0">
                <a:solidFill>
                  <a:srgbClr val="1B5E20"/>
                </a:solidFill>
              </a:rPr>
              <a:t>Market Authorities</a:t>
            </a:r>
            <a:endParaRPr lang="en-US" sz="1050" dirty="0"/>
          </a:p>
        </p:txBody>
      </p:sp>
      <p:sp>
        <p:nvSpPr>
          <p:cNvPr id="30" name="Text 28"/>
          <p:cNvSpPr txBox="1"/>
          <p:nvPr/>
        </p:nvSpPr>
        <p:spPr>
          <a:xfrm>
            <a:off x="5285232" y="2370470"/>
            <a:ext cx="338328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buNone/>
            </a:pPr>
            <a:r>
              <a:rPr lang="en-US" sz="850" dirty="0">
                <a:solidFill>
                  <a:srgbClr val="9E9E9E"/>
                </a:solidFill>
              </a:rPr>
              <a:t>Price data sourcing, supply-demand analysis</a:t>
            </a:r>
            <a:endParaRPr lang="en-US" sz="850" dirty="0"/>
          </a:p>
        </p:txBody>
      </p:sp>
      <p:sp>
        <p:nvSpPr>
          <p:cNvPr id="31" name="Shape 29"/>
          <p:cNvSpPr/>
          <p:nvPr/>
        </p:nvSpPr>
        <p:spPr>
          <a:xfrm>
            <a:off x="0" y="4892040"/>
            <a:ext cx="9144000" cy="256032"/>
          </a:xfrm>
          <a:prstGeom prst="rect">
            <a:avLst/>
          </a:prstGeom>
          <a:solidFill>
            <a:srgbClr val="1B5E20"/>
          </a:solidFill>
          <a:ln w="12700">
            <a:solidFill>
              <a:srgbClr val="1B5E20"/>
            </a:solidFill>
            <a:prstDash val="solid"/>
          </a:ln>
        </p:spPr>
        <p:txBody>
          <a:bodyPr/>
          <a:lstStyle/>
          <a:p>
            <a:endParaRPr lang="en-LK"/>
          </a:p>
        </p:txBody>
      </p:sp>
      <p:sp>
        <p:nvSpPr>
          <p:cNvPr id="32" name="Text 30"/>
          <p:cNvSpPr txBox="1"/>
          <p:nvPr/>
        </p:nvSpPr>
        <p:spPr>
          <a:xfrm>
            <a:off x="274320" y="4892040"/>
            <a:ext cx="6400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800" dirty="0">
                <a:solidFill>
                  <a:srgbClr val="C8E6C9"/>
                </a:solidFill>
              </a:rPr>
              <a:t>TomatoDoc  |  R26-SE-032  |  SLIIT Faculty of Computing</a:t>
            </a:r>
            <a:endParaRPr lang="en-US" sz="800" dirty="0"/>
          </a:p>
        </p:txBody>
      </p:sp>
      <p:sp>
        <p:nvSpPr>
          <p:cNvPr id="33" name="Text 31"/>
          <p:cNvSpPr txBox="1"/>
          <p:nvPr/>
        </p:nvSpPr>
        <p:spPr>
          <a:xfrm>
            <a:off x="8229600" y="4892040"/>
            <a:ext cx="6400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C8E6C9"/>
                </a:solidFill>
              </a:rPr>
              <a:t>4</a:t>
            </a:r>
            <a:endParaRPr lang="en-US" sz="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4F6F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1B5E20"/>
          </a:solidFill>
          <a:ln w="12700">
            <a:solidFill>
              <a:srgbClr val="1B5E20"/>
            </a:solidFill>
            <a:prstDash val="solid"/>
          </a:ln>
        </p:spPr>
        <p:txBody>
          <a:bodyPr/>
          <a:lstStyle/>
          <a:p>
            <a:endParaRPr lang="en-LK"/>
          </a:p>
        </p:txBody>
      </p:sp>
      <p:sp>
        <p:nvSpPr>
          <p:cNvPr id="3" name="Text 1"/>
          <p:cNvSpPr txBox="1"/>
          <p:nvPr/>
        </p:nvSpPr>
        <p:spPr>
          <a:xfrm>
            <a:off x="365760" y="164592"/>
            <a:ext cx="84124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2200" b="1" dirty="0">
                <a:solidFill>
                  <a:srgbClr val="FFFFFF"/>
                </a:solidFill>
              </a:rPr>
              <a:t>Impact &amp; Measurable Pain Points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274320" y="777240"/>
            <a:ext cx="2011680" cy="1417320"/>
          </a:xfrm>
          <a:prstGeom prst="rect">
            <a:avLst/>
          </a:prstGeom>
          <a:solidFill>
            <a:srgbClr val="FFFFFF"/>
          </a:solidFill>
          <a:ln w="6350">
            <a:solidFill>
              <a:srgbClr val="D4DDD4"/>
            </a:solidFill>
            <a:prstDash val="solid"/>
          </a:ln>
          <a:effectLst>
            <a:outerShdw blurRad="101600" dist="38100" dir="8100000" algn="bl" rotWithShape="0">
              <a:srgbClr val="000000">
                <a:alpha val="13000"/>
              </a:srgbClr>
            </a:outerShdw>
          </a:effectLst>
        </p:spPr>
        <p:txBody>
          <a:bodyPr/>
          <a:lstStyle/>
          <a:p>
            <a:endParaRPr lang="en-LK"/>
          </a:p>
        </p:txBody>
      </p:sp>
      <p:sp>
        <p:nvSpPr>
          <p:cNvPr id="6" name="Text 4"/>
          <p:cNvSpPr txBox="1"/>
          <p:nvPr/>
        </p:nvSpPr>
        <p:spPr>
          <a:xfrm>
            <a:off x="329184" y="1242160"/>
            <a:ext cx="1828800" cy="62179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850" dirty="0">
                <a:solidFill>
                  <a:srgbClr val="9E9E9E"/>
                </a:solidFill>
              </a:rPr>
              <a:t>Post-harvest fruit loss</a:t>
            </a:r>
            <a:endParaRPr lang="en-US" sz="850" dirty="0"/>
          </a:p>
          <a:p>
            <a:pPr marL="0" indent="0" algn="ctr">
              <a:buNone/>
            </a:pPr>
            <a:r>
              <a:rPr lang="en-US" sz="850" dirty="0">
                <a:solidFill>
                  <a:srgbClr val="9E9E9E"/>
                </a:solidFill>
              </a:rPr>
              <a:t>annually in Sri Lanka</a:t>
            </a:r>
            <a:endParaRPr lang="en-US" sz="850" dirty="0"/>
          </a:p>
        </p:txBody>
      </p:sp>
      <p:sp>
        <p:nvSpPr>
          <p:cNvPr id="7" name="Shape 5"/>
          <p:cNvSpPr/>
          <p:nvPr/>
        </p:nvSpPr>
        <p:spPr>
          <a:xfrm>
            <a:off x="2450592" y="777240"/>
            <a:ext cx="2011680" cy="1417320"/>
          </a:xfrm>
          <a:prstGeom prst="rect">
            <a:avLst/>
          </a:prstGeom>
          <a:solidFill>
            <a:srgbClr val="FFFFFF"/>
          </a:solidFill>
          <a:ln w="6350">
            <a:solidFill>
              <a:srgbClr val="D4DDD4"/>
            </a:solidFill>
            <a:prstDash val="solid"/>
          </a:ln>
          <a:effectLst>
            <a:outerShdw blurRad="101600" dist="38100" dir="8100000" algn="bl" rotWithShape="0">
              <a:srgbClr val="000000">
                <a:alpha val="13000"/>
              </a:srgbClr>
            </a:outerShdw>
          </a:effectLst>
        </p:spPr>
        <p:txBody>
          <a:bodyPr/>
          <a:lstStyle/>
          <a:p>
            <a:endParaRPr lang="en-LK"/>
          </a:p>
        </p:txBody>
      </p:sp>
      <p:sp>
        <p:nvSpPr>
          <p:cNvPr id="9" name="Text 7"/>
          <p:cNvSpPr txBox="1"/>
          <p:nvPr/>
        </p:nvSpPr>
        <p:spPr>
          <a:xfrm>
            <a:off x="2542032" y="1260448"/>
            <a:ext cx="1828800" cy="62179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850" dirty="0">
                <a:solidFill>
                  <a:srgbClr val="9E9E9E"/>
                </a:solidFill>
              </a:rPr>
              <a:t>Price swing per kg</a:t>
            </a:r>
            <a:endParaRPr lang="en-US" sz="850" dirty="0"/>
          </a:p>
          <a:p>
            <a:pPr marL="0" indent="0" algn="ctr">
              <a:buNone/>
            </a:pPr>
            <a:r>
              <a:rPr lang="en-US" sz="850" dirty="0">
                <a:solidFill>
                  <a:srgbClr val="9E9E9E"/>
                </a:solidFill>
              </a:rPr>
              <a:t>— extreme volatility</a:t>
            </a:r>
            <a:endParaRPr lang="en-US" sz="850" dirty="0"/>
          </a:p>
        </p:txBody>
      </p:sp>
      <p:sp>
        <p:nvSpPr>
          <p:cNvPr id="10" name="Shape 8"/>
          <p:cNvSpPr/>
          <p:nvPr/>
        </p:nvSpPr>
        <p:spPr>
          <a:xfrm>
            <a:off x="4626864" y="777240"/>
            <a:ext cx="2011680" cy="1417320"/>
          </a:xfrm>
          <a:prstGeom prst="rect">
            <a:avLst/>
          </a:prstGeom>
          <a:solidFill>
            <a:srgbClr val="FFFFFF"/>
          </a:solidFill>
          <a:ln w="6350">
            <a:solidFill>
              <a:srgbClr val="D4DDD4"/>
            </a:solidFill>
            <a:prstDash val="solid"/>
          </a:ln>
          <a:effectLst>
            <a:outerShdw blurRad="101600" dist="38100" dir="8100000" algn="bl" rotWithShape="0">
              <a:srgbClr val="000000">
                <a:alpha val="13000"/>
              </a:srgbClr>
            </a:outerShdw>
          </a:effectLst>
        </p:spPr>
        <p:txBody>
          <a:bodyPr/>
          <a:lstStyle/>
          <a:p>
            <a:endParaRPr lang="en-LK"/>
          </a:p>
        </p:txBody>
      </p:sp>
      <p:sp>
        <p:nvSpPr>
          <p:cNvPr id="12" name="Text 10"/>
          <p:cNvSpPr txBox="1"/>
          <p:nvPr/>
        </p:nvSpPr>
        <p:spPr>
          <a:xfrm>
            <a:off x="4718304" y="1214353"/>
            <a:ext cx="1828800" cy="62179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850" dirty="0">
                <a:solidFill>
                  <a:srgbClr val="9E9E9E"/>
                </a:solidFill>
              </a:rPr>
              <a:t>Searched — zero Phosphorus</a:t>
            </a:r>
            <a:endParaRPr lang="en-US" sz="850" dirty="0"/>
          </a:p>
          <a:p>
            <a:pPr marL="0" indent="0" algn="ctr">
              <a:buNone/>
            </a:pPr>
            <a:r>
              <a:rPr lang="en-US" sz="850" dirty="0">
                <a:solidFill>
                  <a:srgbClr val="9E9E9E"/>
                </a:solidFill>
              </a:rPr>
              <a:t>deficiency datasets found</a:t>
            </a:r>
            <a:endParaRPr lang="en-US" sz="850" dirty="0"/>
          </a:p>
        </p:txBody>
      </p:sp>
      <p:sp>
        <p:nvSpPr>
          <p:cNvPr id="13" name="Shape 11"/>
          <p:cNvSpPr/>
          <p:nvPr/>
        </p:nvSpPr>
        <p:spPr>
          <a:xfrm>
            <a:off x="6766560" y="795528"/>
            <a:ext cx="2011680" cy="1417320"/>
          </a:xfrm>
          <a:prstGeom prst="rect">
            <a:avLst/>
          </a:prstGeom>
          <a:solidFill>
            <a:srgbClr val="FFFFFF"/>
          </a:solidFill>
          <a:ln w="6350">
            <a:solidFill>
              <a:srgbClr val="D4DDD4"/>
            </a:solidFill>
            <a:prstDash val="solid"/>
          </a:ln>
          <a:effectLst>
            <a:outerShdw blurRad="101600" dist="38100" dir="8100000" algn="bl" rotWithShape="0">
              <a:srgbClr val="000000">
                <a:alpha val="13000"/>
              </a:srgbClr>
            </a:outerShdw>
          </a:effectLst>
        </p:spPr>
        <p:txBody>
          <a:bodyPr/>
          <a:lstStyle/>
          <a:p>
            <a:endParaRPr lang="en-LK"/>
          </a:p>
        </p:txBody>
      </p:sp>
      <p:sp>
        <p:nvSpPr>
          <p:cNvPr id="15" name="Text 13"/>
          <p:cNvSpPr txBox="1"/>
          <p:nvPr/>
        </p:nvSpPr>
        <p:spPr>
          <a:xfrm>
            <a:off x="6949440" y="1260448"/>
            <a:ext cx="1828800" cy="62179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850" dirty="0">
                <a:solidFill>
                  <a:srgbClr val="9E9E9E"/>
                </a:solidFill>
              </a:rPr>
              <a:t>Test accuracy achieved</a:t>
            </a:r>
            <a:endParaRPr lang="en-US" sz="850" dirty="0"/>
          </a:p>
          <a:p>
            <a:pPr marL="0" indent="0" algn="ctr">
              <a:buNone/>
            </a:pPr>
            <a:r>
              <a:rPr lang="en-US" sz="850" dirty="0">
                <a:solidFill>
                  <a:srgbClr val="9E9E9E"/>
                </a:solidFill>
              </a:rPr>
              <a:t>with MobileNetV2</a:t>
            </a:r>
            <a:endParaRPr lang="en-US" sz="850" dirty="0"/>
          </a:p>
        </p:txBody>
      </p:sp>
      <p:sp>
        <p:nvSpPr>
          <p:cNvPr id="16" name="Shape 14"/>
          <p:cNvSpPr/>
          <p:nvPr/>
        </p:nvSpPr>
        <p:spPr>
          <a:xfrm>
            <a:off x="274320" y="2359152"/>
            <a:ext cx="4206240" cy="2395728"/>
          </a:xfrm>
          <a:prstGeom prst="rect">
            <a:avLst/>
          </a:prstGeom>
          <a:solidFill>
            <a:srgbClr val="FFFFFF"/>
          </a:solidFill>
          <a:ln w="6350">
            <a:solidFill>
              <a:srgbClr val="D4DDD4"/>
            </a:solidFill>
            <a:prstDash val="solid"/>
          </a:ln>
          <a:effectLst>
            <a:outerShdw blurRad="101600" dist="38100" dir="8100000" algn="bl" rotWithShape="0">
              <a:srgbClr val="000000">
                <a:alpha val="13000"/>
              </a:srgbClr>
            </a:outerShdw>
          </a:effectLst>
        </p:spPr>
        <p:txBody>
          <a:bodyPr/>
          <a:lstStyle/>
          <a:p>
            <a:endParaRPr lang="en-LK"/>
          </a:p>
        </p:txBody>
      </p:sp>
      <p:sp>
        <p:nvSpPr>
          <p:cNvPr id="17" name="Shape 15"/>
          <p:cNvSpPr/>
          <p:nvPr/>
        </p:nvSpPr>
        <p:spPr>
          <a:xfrm>
            <a:off x="274320" y="2359152"/>
            <a:ext cx="4206240" cy="320040"/>
          </a:xfrm>
          <a:prstGeom prst="roundRect">
            <a:avLst>
              <a:gd name="adj" fmla="val 22857"/>
            </a:avLst>
          </a:prstGeom>
          <a:solidFill>
            <a:srgbClr val="2E7D32"/>
          </a:solidFill>
          <a:ln w="12700">
            <a:solidFill>
              <a:srgbClr val="2E7D32"/>
            </a:solidFill>
            <a:prstDash val="solid"/>
          </a:ln>
        </p:spPr>
        <p:txBody>
          <a:bodyPr/>
          <a:lstStyle/>
          <a:p>
            <a:endParaRPr lang="en-LK"/>
          </a:p>
        </p:txBody>
      </p:sp>
      <p:sp>
        <p:nvSpPr>
          <p:cNvPr id="18" name="Text 16"/>
          <p:cNvSpPr txBox="1"/>
          <p:nvPr/>
        </p:nvSpPr>
        <p:spPr>
          <a:xfrm>
            <a:off x="274320" y="2359152"/>
            <a:ext cx="42062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</a:rPr>
              <a:t>IMPACT ON USERS</a:t>
            </a:r>
            <a:endParaRPr lang="en-US" sz="1000" dirty="0"/>
          </a:p>
        </p:txBody>
      </p:sp>
      <p:sp>
        <p:nvSpPr>
          <p:cNvPr id="19" name="Text 17"/>
          <p:cNvSpPr txBox="1"/>
          <p:nvPr/>
        </p:nvSpPr>
        <p:spPr>
          <a:xfrm>
            <a:off x="438912" y="2761488"/>
            <a:ext cx="37947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50" dirty="0">
                <a:solidFill>
                  <a:srgbClr val="111111"/>
                </a:solidFill>
              </a:rPr>
              <a:t>✓  Instant leaf &amp; fruit diagnosis — no lab needed</a:t>
            </a:r>
            <a:endParaRPr lang="en-US" sz="950" dirty="0"/>
          </a:p>
        </p:txBody>
      </p:sp>
      <p:sp>
        <p:nvSpPr>
          <p:cNvPr id="20" name="Text 18"/>
          <p:cNvSpPr txBox="1"/>
          <p:nvPr/>
        </p:nvSpPr>
        <p:spPr>
          <a:xfrm>
            <a:off x="438912" y="3145536"/>
            <a:ext cx="37947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50" dirty="0">
                <a:solidFill>
                  <a:srgbClr val="111111"/>
                </a:solidFill>
              </a:rPr>
              <a:t>✓  Specific fertilizer dosage recommendations</a:t>
            </a:r>
            <a:endParaRPr lang="en-US" sz="950" dirty="0"/>
          </a:p>
        </p:txBody>
      </p:sp>
      <p:sp>
        <p:nvSpPr>
          <p:cNvPr id="21" name="Text 19"/>
          <p:cNvSpPr txBox="1"/>
          <p:nvPr/>
        </p:nvSpPr>
        <p:spPr>
          <a:xfrm>
            <a:off x="438912" y="3529584"/>
            <a:ext cx="37947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50" dirty="0">
                <a:solidFill>
                  <a:srgbClr val="111111"/>
                </a:solidFill>
              </a:rPr>
              <a:t>✓  7-day treatment tracking — know if it is working</a:t>
            </a:r>
            <a:endParaRPr lang="en-US" sz="950" dirty="0"/>
          </a:p>
        </p:txBody>
      </p:sp>
      <p:sp>
        <p:nvSpPr>
          <p:cNvPr id="22" name="Text 20"/>
          <p:cNvSpPr txBox="1"/>
          <p:nvPr/>
        </p:nvSpPr>
        <p:spPr>
          <a:xfrm>
            <a:off x="438912" y="3913632"/>
            <a:ext cx="37947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50" dirty="0">
                <a:solidFill>
                  <a:srgbClr val="111111"/>
                </a:solidFill>
              </a:rPr>
              <a:t>✓  Optimal sell timing with SHAP-explained reasoning</a:t>
            </a:r>
            <a:endParaRPr lang="en-US" sz="950" dirty="0"/>
          </a:p>
        </p:txBody>
      </p:sp>
      <p:sp>
        <p:nvSpPr>
          <p:cNvPr id="23" name="Text 21"/>
          <p:cNvSpPr txBox="1"/>
          <p:nvPr/>
        </p:nvSpPr>
        <p:spPr>
          <a:xfrm>
            <a:off x="438912" y="4297680"/>
            <a:ext cx="37947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50" dirty="0">
                <a:solidFill>
                  <a:srgbClr val="111111"/>
                </a:solidFill>
              </a:rPr>
              <a:t>✓  All four tools in one mobile application</a:t>
            </a:r>
            <a:endParaRPr lang="en-US" sz="950" dirty="0"/>
          </a:p>
        </p:txBody>
      </p:sp>
      <p:sp>
        <p:nvSpPr>
          <p:cNvPr id="24" name="Shape 22"/>
          <p:cNvSpPr/>
          <p:nvPr/>
        </p:nvSpPr>
        <p:spPr>
          <a:xfrm>
            <a:off x="4663440" y="2359152"/>
            <a:ext cx="4206240" cy="2395728"/>
          </a:xfrm>
          <a:prstGeom prst="rect">
            <a:avLst/>
          </a:prstGeom>
          <a:solidFill>
            <a:srgbClr val="FFFFFF"/>
          </a:solidFill>
          <a:ln w="6350">
            <a:solidFill>
              <a:srgbClr val="D4DDD4"/>
            </a:solidFill>
            <a:prstDash val="solid"/>
          </a:ln>
          <a:effectLst>
            <a:outerShdw blurRad="101600" dist="38100" dir="8100000" algn="bl" rotWithShape="0">
              <a:srgbClr val="000000">
                <a:alpha val="13000"/>
              </a:srgbClr>
            </a:outerShdw>
          </a:effectLst>
        </p:spPr>
        <p:txBody>
          <a:bodyPr/>
          <a:lstStyle/>
          <a:p>
            <a:endParaRPr lang="en-LK"/>
          </a:p>
        </p:txBody>
      </p:sp>
      <p:sp>
        <p:nvSpPr>
          <p:cNvPr id="25" name="Shape 23"/>
          <p:cNvSpPr/>
          <p:nvPr/>
        </p:nvSpPr>
        <p:spPr>
          <a:xfrm>
            <a:off x="4663440" y="2359152"/>
            <a:ext cx="4206240" cy="320040"/>
          </a:xfrm>
          <a:prstGeom prst="roundRect">
            <a:avLst>
              <a:gd name="adj" fmla="val 22857"/>
            </a:avLst>
          </a:prstGeom>
          <a:solidFill>
            <a:srgbClr val="1565C0"/>
          </a:solidFill>
          <a:ln w="12700">
            <a:solidFill>
              <a:srgbClr val="1565C0"/>
            </a:solidFill>
            <a:prstDash val="solid"/>
          </a:ln>
        </p:spPr>
        <p:txBody>
          <a:bodyPr/>
          <a:lstStyle/>
          <a:p>
            <a:endParaRPr lang="en-LK"/>
          </a:p>
        </p:txBody>
      </p:sp>
      <p:sp>
        <p:nvSpPr>
          <p:cNvPr id="26" name="Text 24"/>
          <p:cNvSpPr txBox="1"/>
          <p:nvPr/>
        </p:nvSpPr>
        <p:spPr>
          <a:xfrm>
            <a:off x="4663440" y="2359152"/>
            <a:ext cx="42062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</a:rPr>
              <a:t>IMPACT ON SOCIETY</a:t>
            </a:r>
            <a:endParaRPr lang="en-US" sz="1000" dirty="0"/>
          </a:p>
        </p:txBody>
      </p:sp>
      <p:sp>
        <p:nvSpPr>
          <p:cNvPr id="27" name="Text 25"/>
          <p:cNvSpPr txBox="1"/>
          <p:nvPr/>
        </p:nvSpPr>
        <p:spPr>
          <a:xfrm>
            <a:off x="4828032" y="2761488"/>
            <a:ext cx="37947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50" dirty="0">
                <a:solidFill>
                  <a:srgbClr val="111111"/>
                </a:solidFill>
              </a:rPr>
              <a:t>✓  Reduced crop loss across Sri Lankan tomato sector</a:t>
            </a:r>
            <a:endParaRPr lang="en-US" sz="950" dirty="0"/>
          </a:p>
        </p:txBody>
      </p:sp>
      <p:sp>
        <p:nvSpPr>
          <p:cNvPr id="28" name="Text 26"/>
          <p:cNvSpPr txBox="1"/>
          <p:nvPr/>
        </p:nvSpPr>
        <p:spPr>
          <a:xfrm>
            <a:off x="4828032" y="3145536"/>
            <a:ext cx="37947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50" dirty="0">
                <a:solidFill>
                  <a:srgbClr val="111111"/>
                </a:solidFill>
              </a:rPr>
              <a:t>✓  Data-driven market decisions for smallholder farmers</a:t>
            </a:r>
            <a:endParaRPr lang="en-US" sz="950" dirty="0"/>
          </a:p>
        </p:txBody>
      </p:sp>
      <p:sp>
        <p:nvSpPr>
          <p:cNvPr id="29" name="Text 27"/>
          <p:cNvSpPr txBox="1"/>
          <p:nvPr/>
        </p:nvSpPr>
        <p:spPr>
          <a:xfrm>
            <a:off x="4828032" y="3529584"/>
            <a:ext cx="37947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50" dirty="0">
                <a:solidFill>
                  <a:srgbClr val="111111"/>
                </a:solidFill>
              </a:rPr>
              <a:t>✓  First confirmed gap: no public Phosphorus dataset</a:t>
            </a:r>
            <a:endParaRPr lang="en-US" sz="950" dirty="0"/>
          </a:p>
        </p:txBody>
      </p:sp>
      <p:sp>
        <p:nvSpPr>
          <p:cNvPr id="30" name="Text 28"/>
          <p:cNvSpPr txBox="1"/>
          <p:nvPr/>
        </p:nvSpPr>
        <p:spPr>
          <a:xfrm>
            <a:off x="4828032" y="3913632"/>
            <a:ext cx="37947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50" dirty="0">
                <a:solidFill>
                  <a:srgbClr val="111111"/>
                </a:solidFill>
              </a:rPr>
              <a:t>✓  Reduced pesticide resistance through smart rotation</a:t>
            </a:r>
            <a:endParaRPr lang="en-US" sz="950" dirty="0"/>
          </a:p>
        </p:txBody>
      </p:sp>
      <p:sp>
        <p:nvSpPr>
          <p:cNvPr id="31" name="Text 29"/>
          <p:cNvSpPr txBox="1"/>
          <p:nvPr/>
        </p:nvSpPr>
        <p:spPr>
          <a:xfrm>
            <a:off x="4828032" y="4297680"/>
            <a:ext cx="37947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50" dirty="0">
                <a:solidFill>
                  <a:srgbClr val="111111"/>
                </a:solidFill>
              </a:rPr>
              <a:t>✓  Scalable AI model — expandable to other crops</a:t>
            </a:r>
            <a:endParaRPr lang="en-US" sz="950" dirty="0"/>
          </a:p>
        </p:txBody>
      </p:sp>
      <p:sp>
        <p:nvSpPr>
          <p:cNvPr id="32" name="Shape 30"/>
          <p:cNvSpPr/>
          <p:nvPr/>
        </p:nvSpPr>
        <p:spPr>
          <a:xfrm>
            <a:off x="0" y="4892040"/>
            <a:ext cx="9144000" cy="256032"/>
          </a:xfrm>
          <a:prstGeom prst="rect">
            <a:avLst/>
          </a:prstGeom>
          <a:solidFill>
            <a:srgbClr val="1B5E20"/>
          </a:solidFill>
          <a:ln w="12700">
            <a:solidFill>
              <a:srgbClr val="1B5E20"/>
            </a:solidFill>
            <a:prstDash val="solid"/>
          </a:ln>
        </p:spPr>
        <p:txBody>
          <a:bodyPr/>
          <a:lstStyle/>
          <a:p>
            <a:endParaRPr lang="en-LK"/>
          </a:p>
        </p:txBody>
      </p:sp>
      <p:sp>
        <p:nvSpPr>
          <p:cNvPr id="33" name="Text 31"/>
          <p:cNvSpPr txBox="1"/>
          <p:nvPr/>
        </p:nvSpPr>
        <p:spPr>
          <a:xfrm>
            <a:off x="274320" y="4892040"/>
            <a:ext cx="6400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800" dirty="0">
                <a:solidFill>
                  <a:srgbClr val="C8E6C9"/>
                </a:solidFill>
              </a:rPr>
              <a:t>TomatoDoc  |  R26-SE-032  |  SLIIT Faculty of Computing</a:t>
            </a:r>
            <a:endParaRPr lang="en-US" sz="800" dirty="0"/>
          </a:p>
        </p:txBody>
      </p:sp>
      <p:sp>
        <p:nvSpPr>
          <p:cNvPr id="34" name="Text 32"/>
          <p:cNvSpPr txBox="1"/>
          <p:nvPr/>
        </p:nvSpPr>
        <p:spPr>
          <a:xfrm>
            <a:off x="8229600" y="4892040"/>
            <a:ext cx="6400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C8E6C9"/>
                </a:solidFill>
              </a:rPr>
              <a:t>5</a:t>
            </a:r>
            <a:endParaRPr lang="en-US" sz="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4F6F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1B5E20"/>
          </a:solidFill>
          <a:ln w="12700">
            <a:solidFill>
              <a:srgbClr val="1B5E20"/>
            </a:solidFill>
            <a:prstDash val="solid"/>
          </a:ln>
        </p:spPr>
        <p:txBody>
          <a:bodyPr/>
          <a:lstStyle/>
          <a:p>
            <a:endParaRPr lang="en-LK"/>
          </a:p>
        </p:txBody>
      </p:sp>
      <p:sp>
        <p:nvSpPr>
          <p:cNvPr id="3" name="Text 1"/>
          <p:cNvSpPr txBox="1"/>
          <p:nvPr/>
        </p:nvSpPr>
        <p:spPr>
          <a:xfrm>
            <a:off x="365760" y="164592"/>
            <a:ext cx="84124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2200" b="1" dirty="0">
                <a:solidFill>
                  <a:srgbClr val="FFFFFF"/>
                </a:solidFill>
              </a:rPr>
              <a:t>Research Gap &amp; Objectives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274320" y="749808"/>
            <a:ext cx="2286000" cy="292608"/>
          </a:xfrm>
          <a:prstGeom prst="rect">
            <a:avLst/>
          </a:prstGeom>
          <a:solidFill>
            <a:srgbClr val="1B5E20"/>
          </a:solidFill>
          <a:ln w="12700">
            <a:solidFill>
              <a:srgbClr val="1B5E20"/>
            </a:solidFill>
            <a:prstDash val="solid"/>
          </a:ln>
        </p:spPr>
        <p:txBody>
          <a:bodyPr/>
          <a:lstStyle/>
          <a:p>
            <a:endParaRPr lang="en-LK"/>
          </a:p>
        </p:txBody>
      </p:sp>
      <p:sp>
        <p:nvSpPr>
          <p:cNvPr id="5" name="Text 3"/>
          <p:cNvSpPr txBox="1"/>
          <p:nvPr/>
        </p:nvSpPr>
        <p:spPr>
          <a:xfrm>
            <a:off x="329184" y="749808"/>
            <a:ext cx="2176272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b="1" dirty="0">
                <a:solidFill>
                  <a:srgbClr val="FFFFFF"/>
                </a:solidFill>
              </a:rPr>
              <a:t>Criteria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2560320" y="749808"/>
            <a:ext cx="2926080" cy="292608"/>
          </a:xfrm>
          <a:prstGeom prst="rect">
            <a:avLst/>
          </a:prstGeom>
          <a:solidFill>
            <a:srgbClr val="1B5E20"/>
          </a:solidFill>
          <a:ln w="12700">
            <a:solidFill>
              <a:srgbClr val="1B5E20"/>
            </a:solidFill>
            <a:prstDash val="solid"/>
          </a:ln>
        </p:spPr>
        <p:txBody>
          <a:bodyPr/>
          <a:lstStyle/>
          <a:p>
            <a:endParaRPr lang="en-LK"/>
          </a:p>
        </p:txBody>
      </p:sp>
      <p:sp>
        <p:nvSpPr>
          <p:cNvPr id="7" name="Text 5"/>
          <p:cNvSpPr txBox="1"/>
          <p:nvPr/>
        </p:nvSpPr>
        <p:spPr>
          <a:xfrm>
            <a:off x="2615184" y="749808"/>
            <a:ext cx="2816352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b="1" dirty="0">
                <a:solidFill>
                  <a:srgbClr val="FFFFFF"/>
                </a:solidFill>
              </a:rPr>
              <a:t>Existing Systems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5486400" y="749808"/>
            <a:ext cx="2926080" cy="292608"/>
          </a:xfrm>
          <a:prstGeom prst="rect">
            <a:avLst/>
          </a:prstGeom>
          <a:solidFill>
            <a:srgbClr val="2E7D32"/>
          </a:solidFill>
          <a:ln w="12700">
            <a:solidFill>
              <a:srgbClr val="2E7D32"/>
            </a:solidFill>
            <a:prstDash val="solid"/>
          </a:ln>
        </p:spPr>
        <p:txBody>
          <a:bodyPr/>
          <a:lstStyle/>
          <a:p>
            <a:endParaRPr lang="en-LK"/>
          </a:p>
        </p:txBody>
      </p:sp>
      <p:sp>
        <p:nvSpPr>
          <p:cNvPr id="9" name="Text 7"/>
          <p:cNvSpPr txBox="1"/>
          <p:nvPr/>
        </p:nvSpPr>
        <p:spPr>
          <a:xfrm>
            <a:off x="5541264" y="749808"/>
            <a:ext cx="2816352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b="1" dirty="0">
                <a:solidFill>
                  <a:srgbClr val="FFFFFF"/>
                </a:solidFill>
              </a:rPr>
              <a:t>TomatoDoc</a:t>
            </a:r>
            <a:endParaRPr lang="en-US" sz="900" dirty="0"/>
          </a:p>
        </p:txBody>
      </p:sp>
      <p:sp>
        <p:nvSpPr>
          <p:cNvPr id="10" name="Shape 8"/>
          <p:cNvSpPr/>
          <p:nvPr/>
        </p:nvSpPr>
        <p:spPr>
          <a:xfrm>
            <a:off x="274320" y="1042416"/>
            <a:ext cx="2286000" cy="384048"/>
          </a:xfrm>
          <a:prstGeom prst="rect">
            <a:avLst/>
          </a:prstGeom>
          <a:solidFill>
            <a:srgbClr val="FFFFFF"/>
          </a:solidFill>
          <a:ln w="3810">
            <a:solidFill>
              <a:srgbClr val="D0D8D0"/>
            </a:solidFill>
            <a:prstDash val="solid"/>
          </a:ln>
        </p:spPr>
        <p:txBody>
          <a:bodyPr/>
          <a:lstStyle/>
          <a:p>
            <a:endParaRPr lang="en-LK"/>
          </a:p>
        </p:txBody>
      </p:sp>
      <p:sp>
        <p:nvSpPr>
          <p:cNvPr id="11" name="Text 9"/>
          <p:cNvSpPr txBox="1"/>
          <p:nvPr/>
        </p:nvSpPr>
        <p:spPr>
          <a:xfrm>
            <a:off x="329184" y="1042416"/>
            <a:ext cx="2176272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850" dirty="0">
                <a:solidFill>
                  <a:srgbClr val="111111"/>
                </a:solidFill>
              </a:rPr>
              <a:t>Nutrient deficiency detection</a:t>
            </a:r>
            <a:endParaRPr lang="en-US" sz="850" dirty="0"/>
          </a:p>
        </p:txBody>
      </p:sp>
      <p:sp>
        <p:nvSpPr>
          <p:cNvPr id="12" name="Shape 10"/>
          <p:cNvSpPr/>
          <p:nvPr/>
        </p:nvSpPr>
        <p:spPr>
          <a:xfrm>
            <a:off x="2560320" y="1042416"/>
            <a:ext cx="2926080" cy="384048"/>
          </a:xfrm>
          <a:prstGeom prst="rect">
            <a:avLst/>
          </a:prstGeom>
          <a:solidFill>
            <a:srgbClr val="FFFFFF"/>
          </a:solidFill>
          <a:ln w="3810">
            <a:solidFill>
              <a:srgbClr val="D0D8D0"/>
            </a:solidFill>
            <a:prstDash val="solid"/>
          </a:ln>
        </p:spPr>
        <p:txBody>
          <a:bodyPr/>
          <a:lstStyle/>
          <a:p>
            <a:endParaRPr lang="en-LK"/>
          </a:p>
        </p:txBody>
      </p:sp>
      <p:sp>
        <p:nvSpPr>
          <p:cNvPr id="13" name="Text 11"/>
          <p:cNvSpPr txBox="1"/>
          <p:nvPr/>
        </p:nvSpPr>
        <p:spPr>
          <a:xfrm>
            <a:off x="2615184" y="1042416"/>
            <a:ext cx="2816352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850" dirty="0">
                <a:solidFill>
                  <a:srgbClr val="111111"/>
                </a:solidFill>
              </a:rPr>
              <a:t>  Not covered</a:t>
            </a:r>
            <a:endParaRPr lang="en-US" sz="850" dirty="0"/>
          </a:p>
        </p:txBody>
      </p:sp>
      <p:sp>
        <p:nvSpPr>
          <p:cNvPr id="14" name="Shape 12"/>
          <p:cNvSpPr/>
          <p:nvPr/>
        </p:nvSpPr>
        <p:spPr>
          <a:xfrm>
            <a:off x="5486400" y="1042416"/>
            <a:ext cx="2926080" cy="384048"/>
          </a:xfrm>
          <a:prstGeom prst="rect">
            <a:avLst/>
          </a:prstGeom>
          <a:solidFill>
            <a:srgbClr val="F1F8F1"/>
          </a:solidFill>
          <a:ln w="3810">
            <a:solidFill>
              <a:srgbClr val="D0D8D0"/>
            </a:solidFill>
            <a:prstDash val="solid"/>
          </a:ln>
        </p:spPr>
        <p:txBody>
          <a:bodyPr/>
          <a:lstStyle/>
          <a:p>
            <a:endParaRPr lang="en-LK"/>
          </a:p>
        </p:txBody>
      </p:sp>
      <p:sp>
        <p:nvSpPr>
          <p:cNvPr id="15" name="Text 13"/>
          <p:cNvSpPr txBox="1"/>
          <p:nvPr/>
        </p:nvSpPr>
        <p:spPr>
          <a:xfrm>
            <a:off x="5541264" y="1042416"/>
            <a:ext cx="2816352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850" b="1" dirty="0">
                <a:solidFill>
                  <a:srgbClr val="1B5E20"/>
                </a:solidFill>
              </a:rPr>
              <a:t>  6 classes detected</a:t>
            </a:r>
            <a:endParaRPr lang="en-US" sz="850" dirty="0"/>
          </a:p>
        </p:txBody>
      </p:sp>
      <p:sp>
        <p:nvSpPr>
          <p:cNvPr id="16" name="Shape 14"/>
          <p:cNvSpPr/>
          <p:nvPr/>
        </p:nvSpPr>
        <p:spPr>
          <a:xfrm>
            <a:off x="274320" y="1426464"/>
            <a:ext cx="2286000" cy="384048"/>
          </a:xfrm>
          <a:prstGeom prst="rect">
            <a:avLst/>
          </a:prstGeom>
          <a:solidFill>
            <a:srgbClr val="E8EDE8"/>
          </a:solidFill>
          <a:ln w="3810">
            <a:solidFill>
              <a:srgbClr val="D0D8D0"/>
            </a:solidFill>
            <a:prstDash val="solid"/>
          </a:ln>
        </p:spPr>
        <p:txBody>
          <a:bodyPr/>
          <a:lstStyle/>
          <a:p>
            <a:endParaRPr lang="en-LK"/>
          </a:p>
        </p:txBody>
      </p:sp>
      <p:sp>
        <p:nvSpPr>
          <p:cNvPr id="17" name="Text 15"/>
          <p:cNvSpPr txBox="1"/>
          <p:nvPr/>
        </p:nvSpPr>
        <p:spPr>
          <a:xfrm>
            <a:off x="329184" y="1426464"/>
            <a:ext cx="2176272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850" dirty="0">
                <a:solidFill>
                  <a:srgbClr val="111111"/>
                </a:solidFill>
              </a:rPr>
              <a:t>Fruit disease detection</a:t>
            </a:r>
            <a:endParaRPr lang="en-US" sz="850" dirty="0"/>
          </a:p>
        </p:txBody>
      </p:sp>
      <p:sp>
        <p:nvSpPr>
          <p:cNvPr id="18" name="Shape 16"/>
          <p:cNvSpPr/>
          <p:nvPr/>
        </p:nvSpPr>
        <p:spPr>
          <a:xfrm>
            <a:off x="2560320" y="1426464"/>
            <a:ext cx="2926080" cy="384048"/>
          </a:xfrm>
          <a:prstGeom prst="rect">
            <a:avLst/>
          </a:prstGeom>
          <a:solidFill>
            <a:srgbClr val="E8EDE8"/>
          </a:solidFill>
          <a:ln w="3810">
            <a:solidFill>
              <a:srgbClr val="D0D8D0"/>
            </a:solidFill>
            <a:prstDash val="solid"/>
          </a:ln>
        </p:spPr>
        <p:txBody>
          <a:bodyPr/>
          <a:lstStyle/>
          <a:p>
            <a:endParaRPr lang="en-LK"/>
          </a:p>
        </p:txBody>
      </p:sp>
      <p:sp>
        <p:nvSpPr>
          <p:cNvPr id="19" name="Text 17"/>
          <p:cNvSpPr txBox="1"/>
          <p:nvPr/>
        </p:nvSpPr>
        <p:spPr>
          <a:xfrm>
            <a:off x="2615184" y="1426464"/>
            <a:ext cx="2816352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850" dirty="0">
                <a:solidFill>
                  <a:srgbClr val="111111"/>
                </a:solidFill>
              </a:rPr>
              <a:t> Not covered</a:t>
            </a:r>
            <a:endParaRPr lang="en-US" sz="850" dirty="0"/>
          </a:p>
        </p:txBody>
      </p:sp>
      <p:sp>
        <p:nvSpPr>
          <p:cNvPr id="20" name="Shape 18"/>
          <p:cNvSpPr/>
          <p:nvPr/>
        </p:nvSpPr>
        <p:spPr>
          <a:xfrm>
            <a:off x="5486400" y="1426464"/>
            <a:ext cx="2926080" cy="384048"/>
          </a:xfrm>
          <a:prstGeom prst="rect">
            <a:avLst/>
          </a:prstGeom>
          <a:solidFill>
            <a:srgbClr val="F1F8F1"/>
          </a:solidFill>
          <a:ln w="3810">
            <a:solidFill>
              <a:srgbClr val="D0D8D0"/>
            </a:solidFill>
            <a:prstDash val="solid"/>
          </a:ln>
        </p:spPr>
        <p:txBody>
          <a:bodyPr/>
          <a:lstStyle/>
          <a:p>
            <a:endParaRPr lang="en-LK"/>
          </a:p>
        </p:txBody>
      </p:sp>
      <p:sp>
        <p:nvSpPr>
          <p:cNvPr id="21" name="Text 19"/>
          <p:cNvSpPr txBox="1"/>
          <p:nvPr/>
        </p:nvSpPr>
        <p:spPr>
          <a:xfrm>
            <a:off x="5541264" y="1426464"/>
            <a:ext cx="2816352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850" b="1" dirty="0">
                <a:solidFill>
                  <a:srgbClr val="1B5E20"/>
                </a:solidFill>
              </a:rPr>
              <a:t>  5 classes detected</a:t>
            </a:r>
            <a:endParaRPr lang="en-US" sz="850" dirty="0"/>
          </a:p>
        </p:txBody>
      </p:sp>
      <p:sp>
        <p:nvSpPr>
          <p:cNvPr id="22" name="Shape 20"/>
          <p:cNvSpPr/>
          <p:nvPr/>
        </p:nvSpPr>
        <p:spPr>
          <a:xfrm>
            <a:off x="274320" y="1810512"/>
            <a:ext cx="2286000" cy="384048"/>
          </a:xfrm>
          <a:prstGeom prst="rect">
            <a:avLst/>
          </a:prstGeom>
          <a:solidFill>
            <a:srgbClr val="FFFFFF"/>
          </a:solidFill>
          <a:ln w="3810">
            <a:solidFill>
              <a:srgbClr val="D0D8D0"/>
            </a:solidFill>
            <a:prstDash val="solid"/>
          </a:ln>
        </p:spPr>
        <p:txBody>
          <a:bodyPr/>
          <a:lstStyle/>
          <a:p>
            <a:endParaRPr lang="en-LK"/>
          </a:p>
        </p:txBody>
      </p:sp>
      <p:sp>
        <p:nvSpPr>
          <p:cNvPr id="23" name="Text 21"/>
          <p:cNvSpPr txBox="1"/>
          <p:nvPr/>
        </p:nvSpPr>
        <p:spPr>
          <a:xfrm>
            <a:off x="329184" y="1810512"/>
            <a:ext cx="2176272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850" dirty="0">
                <a:solidFill>
                  <a:srgbClr val="111111"/>
                </a:solidFill>
              </a:rPr>
              <a:t>Co-occurrence detection</a:t>
            </a:r>
            <a:endParaRPr lang="en-US" sz="850" dirty="0"/>
          </a:p>
        </p:txBody>
      </p:sp>
      <p:sp>
        <p:nvSpPr>
          <p:cNvPr id="24" name="Shape 22"/>
          <p:cNvSpPr/>
          <p:nvPr/>
        </p:nvSpPr>
        <p:spPr>
          <a:xfrm>
            <a:off x="2560320" y="1810512"/>
            <a:ext cx="2926080" cy="384048"/>
          </a:xfrm>
          <a:prstGeom prst="rect">
            <a:avLst/>
          </a:prstGeom>
          <a:solidFill>
            <a:srgbClr val="FFFFFF"/>
          </a:solidFill>
          <a:ln w="3810">
            <a:solidFill>
              <a:srgbClr val="D0D8D0"/>
            </a:solidFill>
            <a:prstDash val="solid"/>
          </a:ln>
        </p:spPr>
        <p:txBody>
          <a:bodyPr/>
          <a:lstStyle/>
          <a:p>
            <a:endParaRPr lang="en-LK"/>
          </a:p>
        </p:txBody>
      </p:sp>
      <p:sp>
        <p:nvSpPr>
          <p:cNvPr id="25" name="Text 23"/>
          <p:cNvSpPr txBox="1"/>
          <p:nvPr/>
        </p:nvSpPr>
        <p:spPr>
          <a:xfrm>
            <a:off x="2615184" y="1810512"/>
            <a:ext cx="2816352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850" dirty="0">
                <a:solidFill>
                  <a:srgbClr val="111111"/>
                </a:solidFill>
              </a:rPr>
              <a:t>  Single label only</a:t>
            </a:r>
            <a:endParaRPr lang="en-US" sz="850" dirty="0"/>
          </a:p>
        </p:txBody>
      </p:sp>
      <p:sp>
        <p:nvSpPr>
          <p:cNvPr id="26" name="Shape 24"/>
          <p:cNvSpPr/>
          <p:nvPr/>
        </p:nvSpPr>
        <p:spPr>
          <a:xfrm>
            <a:off x="5486400" y="1810512"/>
            <a:ext cx="2926080" cy="384048"/>
          </a:xfrm>
          <a:prstGeom prst="rect">
            <a:avLst/>
          </a:prstGeom>
          <a:solidFill>
            <a:srgbClr val="F1F8F1"/>
          </a:solidFill>
          <a:ln w="3810">
            <a:solidFill>
              <a:srgbClr val="D0D8D0"/>
            </a:solidFill>
            <a:prstDash val="solid"/>
          </a:ln>
        </p:spPr>
        <p:txBody>
          <a:bodyPr/>
          <a:lstStyle/>
          <a:p>
            <a:endParaRPr lang="en-LK"/>
          </a:p>
        </p:txBody>
      </p:sp>
      <p:sp>
        <p:nvSpPr>
          <p:cNvPr id="27" name="Text 25"/>
          <p:cNvSpPr txBox="1"/>
          <p:nvPr/>
        </p:nvSpPr>
        <p:spPr>
          <a:xfrm>
            <a:off x="5541264" y="1810512"/>
            <a:ext cx="2816352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850" b="1" dirty="0">
                <a:solidFill>
                  <a:srgbClr val="1B5E20"/>
                </a:solidFill>
              </a:rPr>
              <a:t>  YOLOv8m spatial detection</a:t>
            </a:r>
            <a:endParaRPr lang="en-US" sz="850" dirty="0"/>
          </a:p>
        </p:txBody>
      </p:sp>
      <p:sp>
        <p:nvSpPr>
          <p:cNvPr id="28" name="Shape 26"/>
          <p:cNvSpPr/>
          <p:nvPr/>
        </p:nvSpPr>
        <p:spPr>
          <a:xfrm>
            <a:off x="274320" y="2194560"/>
            <a:ext cx="2286000" cy="384048"/>
          </a:xfrm>
          <a:prstGeom prst="rect">
            <a:avLst/>
          </a:prstGeom>
          <a:solidFill>
            <a:srgbClr val="E8EDE8"/>
          </a:solidFill>
          <a:ln w="3810">
            <a:solidFill>
              <a:srgbClr val="D0D8D0"/>
            </a:solidFill>
            <a:prstDash val="solid"/>
          </a:ln>
        </p:spPr>
        <p:txBody>
          <a:bodyPr/>
          <a:lstStyle/>
          <a:p>
            <a:endParaRPr lang="en-LK"/>
          </a:p>
        </p:txBody>
      </p:sp>
      <p:sp>
        <p:nvSpPr>
          <p:cNvPr id="29" name="Text 27"/>
          <p:cNvSpPr txBox="1"/>
          <p:nvPr/>
        </p:nvSpPr>
        <p:spPr>
          <a:xfrm>
            <a:off x="329184" y="2194560"/>
            <a:ext cx="2176272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850" dirty="0">
                <a:solidFill>
                  <a:srgbClr val="111111"/>
                </a:solidFill>
              </a:rPr>
              <a:t>Treatment efficacy tracking</a:t>
            </a:r>
            <a:endParaRPr lang="en-US" sz="850" dirty="0"/>
          </a:p>
        </p:txBody>
      </p:sp>
      <p:sp>
        <p:nvSpPr>
          <p:cNvPr id="30" name="Shape 28"/>
          <p:cNvSpPr/>
          <p:nvPr/>
        </p:nvSpPr>
        <p:spPr>
          <a:xfrm>
            <a:off x="2560320" y="2194560"/>
            <a:ext cx="2926080" cy="384048"/>
          </a:xfrm>
          <a:prstGeom prst="rect">
            <a:avLst/>
          </a:prstGeom>
          <a:solidFill>
            <a:srgbClr val="E8EDE8"/>
          </a:solidFill>
          <a:ln w="3810">
            <a:solidFill>
              <a:srgbClr val="D0D8D0"/>
            </a:solidFill>
            <a:prstDash val="solid"/>
          </a:ln>
        </p:spPr>
        <p:txBody>
          <a:bodyPr/>
          <a:lstStyle/>
          <a:p>
            <a:endParaRPr lang="en-LK"/>
          </a:p>
        </p:txBody>
      </p:sp>
      <p:sp>
        <p:nvSpPr>
          <p:cNvPr id="31" name="Text 29"/>
          <p:cNvSpPr txBox="1"/>
          <p:nvPr/>
        </p:nvSpPr>
        <p:spPr>
          <a:xfrm>
            <a:off x="2615184" y="2194560"/>
            <a:ext cx="2816352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850" dirty="0">
                <a:solidFill>
                  <a:srgbClr val="111111"/>
                </a:solidFill>
              </a:rPr>
              <a:t>  Single-shot only</a:t>
            </a:r>
            <a:endParaRPr lang="en-US" sz="850" dirty="0"/>
          </a:p>
        </p:txBody>
      </p:sp>
      <p:sp>
        <p:nvSpPr>
          <p:cNvPr id="32" name="Shape 30"/>
          <p:cNvSpPr/>
          <p:nvPr/>
        </p:nvSpPr>
        <p:spPr>
          <a:xfrm>
            <a:off x="5486400" y="2194560"/>
            <a:ext cx="2926080" cy="384048"/>
          </a:xfrm>
          <a:prstGeom prst="rect">
            <a:avLst/>
          </a:prstGeom>
          <a:solidFill>
            <a:srgbClr val="F1F8F1"/>
          </a:solidFill>
          <a:ln w="3810">
            <a:solidFill>
              <a:srgbClr val="D0D8D0"/>
            </a:solidFill>
            <a:prstDash val="solid"/>
          </a:ln>
        </p:spPr>
        <p:txBody>
          <a:bodyPr/>
          <a:lstStyle/>
          <a:p>
            <a:endParaRPr lang="en-LK"/>
          </a:p>
        </p:txBody>
      </p:sp>
      <p:sp>
        <p:nvSpPr>
          <p:cNvPr id="33" name="Text 31"/>
          <p:cNvSpPr txBox="1"/>
          <p:nvPr/>
        </p:nvSpPr>
        <p:spPr>
          <a:xfrm>
            <a:off x="5541264" y="2194560"/>
            <a:ext cx="2816352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850" b="1" dirty="0">
                <a:solidFill>
                  <a:srgbClr val="1B5E20"/>
                </a:solidFill>
              </a:rPr>
              <a:t>  7-day TRR monitoring</a:t>
            </a:r>
            <a:endParaRPr lang="en-US" sz="850" dirty="0"/>
          </a:p>
        </p:txBody>
      </p:sp>
      <p:sp>
        <p:nvSpPr>
          <p:cNvPr id="34" name="Shape 32"/>
          <p:cNvSpPr/>
          <p:nvPr/>
        </p:nvSpPr>
        <p:spPr>
          <a:xfrm>
            <a:off x="274320" y="2578608"/>
            <a:ext cx="2286000" cy="384048"/>
          </a:xfrm>
          <a:prstGeom prst="rect">
            <a:avLst/>
          </a:prstGeom>
          <a:solidFill>
            <a:srgbClr val="FFFFFF"/>
          </a:solidFill>
          <a:ln w="3810">
            <a:solidFill>
              <a:srgbClr val="D0D8D0"/>
            </a:solidFill>
            <a:prstDash val="solid"/>
          </a:ln>
        </p:spPr>
        <p:txBody>
          <a:bodyPr/>
          <a:lstStyle/>
          <a:p>
            <a:endParaRPr lang="en-LK"/>
          </a:p>
        </p:txBody>
      </p:sp>
      <p:sp>
        <p:nvSpPr>
          <p:cNvPr id="35" name="Text 33"/>
          <p:cNvSpPr txBox="1"/>
          <p:nvPr/>
        </p:nvSpPr>
        <p:spPr>
          <a:xfrm>
            <a:off x="329184" y="2578608"/>
            <a:ext cx="2176272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850" dirty="0">
                <a:solidFill>
                  <a:srgbClr val="111111"/>
                </a:solidFill>
              </a:rPr>
              <a:t>Price forecasting + selling advice</a:t>
            </a:r>
            <a:endParaRPr lang="en-US" sz="850" dirty="0"/>
          </a:p>
        </p:txBody>
      </p:sp>
      <p:sp>
        <p:nvSpPr>
          <p:cNvPr id="36" name="Shape 34"/>
          <p:cNvSpPr/>
          <p:nvPr/>
        </p:nvSpPr>
        <p:spPr>
          <a:xfrm>
            <a:off x="2560320" y="2578608"/>
            <a:ext cx="2926080" cy="384048"/>
          </a:xfrm>
          <a:prstGeom prst="rect">
            <a:avLst/>
          </a:prstGeom>
          <a:solidFill>
            <a:srgbClr val="FFFFFF"/>
          </a:solidFill>
          <a:ln w="3810">
            <a:solidFill>
              <a:srgbClr val="D0D8D0"/>
            </a:solidFill>
            <a:prstDash val="solid"/>
          </a:ln>
        </p:spPr>
        <p:txBody>
          <a:bodyPr/>
          <a:lstStyle/>
          <a:p>
            <a:endParaRPr lang="en-LK"/>
          </a:p>
        </p:txBody>
      </p:sp>
      <p:sp>
        <p:nvSpPr>
          <p:cNvPr id="37" name="Text 35"/>
          <p:cNvSpPr txBox="1"/>
          <p:nvPr/>
        </p:nvSpPr>
        <p:spPr>
          <a:xfrm>
            <a:off x="2615184" y="2578608"/>
            <a:ext cx="2816352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850" dirty="0">
                <a:solidFill>
                  <a:srgbClr val="111111"/>
                </a:solidFill>
              </a:rPr>
              <a:t>  Forecast only</a:t>
            </a:r>
            <a:endParaRPr lang="en-US" sz="850" dirty="0"/>
          </a:p>
        </p:txBody>
      </p:sp>
      <p:sp>
        <p:nvSpPr>
          <p:cNvPr id="38" name="Shape 36"/>
          <p:cNvSpPr/>
          <p:nvPr/>
        </p:nvSpPr>
        <p:spPr>
          <a:xfrm>
            <a:off x="5486400" y="2578608"/>
            <a:ext cx="2926080" cy="384048"/>
          </a:xfrm>
          <a:prstGeom prst="rect">
            <a:avLst/>
          </a:prstGeom>
          <a:solidFill>
            <a:srgbClr val="F1F8F1"/>
          </a:solidFill>
          <a:ln w="3810">
            <a:solidFill>
              <a:srgbClr val="D0D8D0"/>
            </a:solidFill>
            <a:prstDash val="solid"/>
          </a:ln>
        </p:spPr>
        <p:txBody>
          <a:bodyPr/>
          <a:lstStyle/>
          <a:p>
            <a:endParaRPr lang="en-LK"/>
          </a:p>
        </p:txBody>
      </p:sp>
      <p:sp>
        <p:nvSpPr>
          <p:cNvPr id="39" name="Text 37"/>
          <p:cNvSpPr txBox="1"/>
          <p:nvPr/>
        </p:nvSpPr>
        <p:spPr>
          <a:xfrm>
            <a:off x="5541264" y="2578608"/>
            <a:ext cx="2816352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850" b="1" dirty="0">
                <a:solidFill>
                  <a:srgbClr val="1B5E20"/>
                </a:solidFill>
              </a:rPr>
              <a:t>  SHAP sell/hold decision</a:t>
            </a:r>
            <a:endParaRPr lang="en-US" sz="850" dirty="0"/>
          </a:p>
        </p:txBody>
      </p:sp>
      <p:sp>
        <p:nvSpPr>
          <p:cNvPr id="40" name="Shape 38"/>
          <p:cNvSpPr/>
          <p:nvPr/>
        </p:nvSpPr>
        <p:spPr>
          <a:xfrm>
            <a:off x="274320" y="2962656"/>
            <a:ext cx="2286000" cy="384048"/>
          </a:xfrm>
          <a:prstGeom prst="rect">
            <a:avLst/>
          </a:prstGeom>
          <a:solidFill>
            <a:srgbClr val="E8EDE8"/>
          </a:solidFill>
          <a:ln w="3810">
            <a:solidFill>
              <a:srgbClr val="D0D8D0"/>
            </a:solidFill>
            <a:prstDash val="solid"/>
          </a:ln>
        </p:spPr>
        <p:txBody>
          <a:bodyPr/>
          <a:lstStyle/>
          <a:p>
            <a:endParaRPr lang="en-LK"/>
          </a:p>
        </p:txBody>
      </p:sp>
      <p:sp>
        <p:nvSpPr>
          <p:cNvPr id="41" name="Text 39"/>
          <p:cNvSpPr txBox="1"/>
          <p:nvPr/>
        </p:nvSpPr>
        <p:spPr>
          <a:xfrm>
            <a:off x="329184" y="2962656"/>
            <a:ext cx="2176272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850" dirty="0">
                <a:solidFill>
                  <a:srgbClr val="111111"/>
                </a:solidFill>
              </a:rPr>
              <a:t>Sri Lanka field conditions</a:t>
            </a:r>
            <a:endParaRPr lang="en-US" sz="850" dirty="0"/>
          </a:p>
        </p:txBody>
      </p:sp>
      <p:sp>
        <p:nvSpPr>
          <p:cNvPr id="42" name="Shape 40"/>
          <p:cNvSpPr/>
          <p:nvPr/>
        </p:nvSpPr>
        <p:spPr>
          <a:xfrm>
            <a:off x="2560320" y="2962656"/>
            <a:ext cx="2926080" cy="384048"/>
          </a:xfrm>
          <a:prstGeom prst="rect">
            <a:avLst/>
          </a:prstGeom>
          <a:solidFill>
            <a:srgbClr val="E8EDE8"/>
          </a:solidFill>
          <a:ln w="3810">
            <a:solidFill>
              <a:srgbClr val="D0D8D0"/>
            </a:solidFill>
            <a:prstDash val="solid"/>
          </a:ln>
        </p:spPr>
        <p:txBody>
          <a:bodyPr/>
          <a:lstStyle/>
          <a:p>
            <a:endParaRPr lang="en-LK"/>
          </a:p>
        </p:txBody>
      </p:sp>
      <p:sp>
        <p:nvSpPr>
          <p:cNvPr id="43" name="Text 41"/>
          <p:cNvSpPr txBox="1"/>
          <p:nvPr/>
        </p:nvSpPr>
        <p:spPr>
          <a:xfrm>
            <a:off x="2615184" y="2962656"/>
            <a:ext cx="2816352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850" dirty="0">
                <a:solidFill>
                  <a:srgbClr val="111111"/>
                </a:solidFill>
              </a:rPr>
              <a:t>  Lab images only</a:t>
            </a:r>
            <a:endParaRPr lang="en-US" sz="850" dirty="0"/>
          </a:p>
        </p:txBody>
      </p:sp>
      <p:sp>
        <p:nvSpPr>
          <p:cNvPr id="44" name="Shape 42"/>
          <p:cNvSpPr/>
          <p:nvPr/>
        </p:nvSpPr>
        <p:spPr>
          <a:xfrm>
            <a:off x="5486400" y="2962656"/>
            <a:ext cx="2926080" cy="384048"/>
          </a:xfrm>
          <a:prstGeom prst="rect">
            <a:avLst/>
          </a:prstGeom>
          <a:solidFill>
            <a:srgbClr val="F1F8F1"/>
          </a:solidFill>
          <a:ln w="3810">
            <a:solidFill>
              <a:srgbClr val="D0D8D0"/>
            </a:solidFill>
            <a:prstDash val="solid"/>
          </a:ln>
        </p:spPr>
        <p:txBody>
          <a:bodyPr/>
          <a:lstStyle/>
          <a:p>
            <a:endParaRPr lang="en-LK"/>
          </a:p>
        </p:txBody>
      </p:sp>
      <p:sp>
        <p:nvSpPr>
          <p:cNvPr id="45" name="Text 43"/>
          <p:cNvSpPr txBox="1"/>
          <p:nvPr/>
        </p:nvSpPr>
        <p:spPr>
          <a:xfrm>
            <a:off x="5541264" y="2962656"/>
            <a:ext cx="2816352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850" b="1" dirty="0">
                <a:solidFill>
                  <a:srgbClr val="1B5E20"/>
                </a:solidFill>
              </a:rPr>
              <a:t>  Real field datasets</a:t>
            </a:r>
            <a:endParaRPr lang="en-US" sz="850" dirty="0"/>
          </a:p>
        </p:txBody>
      </p:sp>
      <p:sp>
        <p:nvSpPr>
          <p:cNvPr id="46" name="Shape 44"/>
          <p:cNvSpPr/>
          <p:nvPr/>
        </p:nvSpPr>
        <p:spPr>
          <a:xfrm>
            <a:off x="274320" y="3419856"/>
            <a:ext cx="8595360" cy="365760"/>
          </a:xfrm>
          <a:prstGeom prst="roundRect">
            <a:avLst>
              <a:gd name="adj" fmla="val 15000"/>
            </a:avLst>
          </a:prstGeom>
          <a:solidFill>
            <a:srgbClr val="1B5E20"/>
          </a:solidFill>
          <a:ln w="12700">
            <a:solidFill>
              <a:srgbClr val="1B5E20"/>
            </a:solidFill>
            <a:prstDash val="solid"/>
          </a:ln>
        </p:spPr>
        <p:txBody>
          <a:bodyPr/>
          <a:lstStyle/>
          <a:p>
            <a:endParaRPr lang="en-LK"/>
          </a:p>
        </p:txBody>
      </p:sp>
      <p:sp>
        <p:nvSpPr>
          <p:cNvPr id="47" name="Text 45"/>
          <p:cNvSpPr txBox="1"/>
          <p:nvPr/>
        </p:nvSpPr>
        <p:spPr>
          <a:xfrm>
            <a:off x="411480" y="3419856"/>
            <a:ext cx="8321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850" dirty="0">
                <a:solidFill>
                  <a:srgbClr val="FFFFFF"/>
                </a:solidFill>
              </a:rPr>
              <a:t>Gap Statement:  No existing system addresses nutrient deficiency, co-occurring leaf disease, treatment monitoring, and price forecasting together — for Sri Lankan farmers — in a single mobile platform.</a:t>
            </a:r>
            <a:endParaRPr lang="en-US" sz="850" dirty="0"/>
          </a:p>
        </p:txBody>
      </p:sp>
      <p:sp>
        <p:nvSpPr>
          <p:cNvPr id="48" name="Text 46"/>
          <p:cNvSpPr txBox="1"/>
          <p:nvPr/>
        </p:nvSpPr>
        <p:spPr>
          <a:xfrm>
            <a:off x="274320" y="3858768"/>
            <a:ext cx="1828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1B5E20"/>
                </a:solidFill>
              </a:rPr>
              <a:t>Objectives</a:t>
            </a:r>
            <a:endParaRPr lang="en-US" sz="1100" dirty="0"/>
          </a:p>
        </p:txBody>
      </p:sp>
      <p:sp>
        <p:nvSpPr>
          <p:cNvPr id="49" name="Text 47"/>
          <p:cNvSpPr txBox="1"/>
          <p:nvPr/>
        </p:nvSpPr>
        <p:spPr>
          <a:xfrm>
            <a:off x="274320" y="4160520"/>
            <a:ext cx="85953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850" dirty="0">
                <a:solidFill>
                  <a:srgbClr val="111111"/>
                </a:solidFill>
              </a:rPr>
              <a:t>1.  Classify tomato leaf nutrient deficiency across 6 classes using MobileNetV2 Transfer Learning</a:t>
            </a:r>
            <a:endParaRPr lang="en-US" sz="850" dirty="0"/>
          </a:p>
        </p:txBody>
      </p:sp>
      <p:sp>
        <p:nvSpPr>
          <p:cNvPr id="50" name="Text 48"/>
          <p:cNvSpPr txBox="1"/>
          <p:nvPr/>
        </p:nvSpPr>
        <p:spPr>
          <a:xfrm>
            <a:off x="274320" y="4379976"/>
            <a:ext cx="85953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850" dirty="0">
                <a:solidFill>
                  <a:srgbClr val="111111"/>
                </a:solidFill>
              </a:rPr>
              <a:t>2.  Detect and localise leaf disease symptoms including co-occurrence using YOLOv8m</a:t>
            </a:r>
            <a:endParaRPr lang="en-US" sz="850" dirty="0"/>
          </a:p>
        </p:txBody>
      </p:sp>
      <p:sp>
        <p:nvSpPr>
          <p:cNvPr id="51" name="Text 49"/>
          <p:cNvSpPr txBox="1"/>
          <p:nvPr/>
        </p:nvSpPr>
        <p:spPr>
          <a:xfrm>
            <a:off x="274320" y="4599432"/>
            <a:ext cx="85953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850" dirty="0">
                <a:solidFill>
                  <a:srgbClr val="111111"/>
                </a:solidFill>
              </a:rPr>
              <a:t>3.  Monitor 7-day treatment response using U-Net severity segmentation and TRR engine</a:t>
            </a:r>
            <a:endParaRPr lang="en-US" sz="850" dirty="0"/>
          </a:p>
        </p:txBody>
      </p:sp>
      <p:sp>
        <p:nvSpPr>
          <p:cNvPr id="52" name="Text 50"/>
          <p:cNvSpPr txBox="1"/>
          <p:nvPr/>
        </p:nvSpPr>
        <p:spPr>
          <a:xfrm>
            <a:off x="274320" y="4818888"/>
            <a:ext cx="85953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850" dirty="0">
                <a:solidFill>
                  <a:srgbClr val="111111"/>
                </a:solidFill>
              </a:rPr>
              <a:t>4.  Forecast tomato market prices with LSTM/GRU and provide SHAP-explained sell/hold advice</a:t>
            </a:r>
            <a:endParaRPr lang="en-US" sz="850" dirty="0"/>
          </a:p>
        </p:txBody>
      </p:sp>
      <p:sp>
        <p:nvSpPr>
          <p:cNvPr id="53" name="Shape 51"/>
          <p:cNvSpPr/>
          <p:nvPr/>
        </p:nvSpPr>
        <p:spPr>
          <a:xfrm>
            <a:off x="0" y="4892040"/>
            <a:ext cx="9144000" cy="256032"/>
          </a:xfrm>
          <a:prstGeom prst="rect">
            <a:avLst/>
          </a:prstGeom>
          <a:solidFill>
            <a:srgbClr val="1B5E20"/>
          </a:solidFill>
          <a:ln w="12700">
            <a:solidFill>
              <a:srgbClr val="1B5E20"/>
            </a:solidFill>
            <a:prstDash val="solid"/>
          </a:ln>
        </p:spPr>
        <p:txBody>
          <a:bodyPr/>
          <a:lstStyle/>
          <a:p>
            <a:endParaRPr lang="en-LK"/>
          </a:p>
        </p:txBody>
      </p:sp>
      <p:sp>
        <p:nvSpPr>
          <p:cNvPr id="54" name="Text 52"/>
          <p:cNvSpPr txBox="1"/>
          <p:nvPr/>
        </p:nvSpPr>
        <p:spPr>
          <a:xfrm>
            <a:off x="274320" y="4892040"/>
            <a:ext cx="6400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800" dirty="0">
                <a:solidFill>
                  <a:srgbClr val="C8E6C9"/>
                </a:solidFill>
              </a:rPr>
              <a:t>TomatoDoc  |  R26-SE-032  |  SLIIT Faculty of Computing</a:t>
            </a:r>
            <a:endParaRPr lang="en-US" sz="800" dirty="0"/>
          </a:p>
        </p:txBody>
      </p:sp>
      <p:sp>
        <p:nvSpPr>
          <p:cNvPr id="55" name="Text 53"/>
          <p:cNvSpPr txBox="1"/>
          <p:nvPr/>
        </p:nvSpPr>
        <p:spPr>
          <a:xfrm>
            <a:off x="8229600" y="4892040"/>
            <a:ext cx="6400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C8E6C9"/>
                </a:solidFill>
              </a:rPr>
              <a:t>6</a:t>
            </a:r>
            <a:endParaRPr lang="en-US" sz="8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4F6F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1B5E20"/>
          </a:solidFill>
          <a:ln w="12700">
            <a:solidFill>
              <a:srgbClr val="1B5E20"/>
            </a:solidFill>
            <a:prstDash val="solid"/>
          </a:ln>
        </p:spPr>
        <p:txBody>
          <a:bodyPr/>
          <a:lstStyle/>
          <a:p>
            <a:endParaRPr lang="en-LK"/>
          </a:p>
        </p:txBody>
      </p:sp>
      <p:sp>
        <p:nvSpPr>
          <p:cNvPr id="3" name="Text 1"/>
          <p:cNvSpPr txBox="1"/>
          <p:nvPr/>
        </p:nvSpPr>
        <p:spPr>
          <a:xfrm>
            <a:off x="365760" y="164592"/>
            <a:ext cx="84124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2200" b="1" dirty="0">
                <a:solidFill>
                  <a:srgbClr val="FFFFFF"/>
                </a:solidFill>
              </a:rPr>
              <a:t>Solution Overview &amp; Architecture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274320" y="749808"/>
            <a:ext cx="2011680" cy="347472"/>
          </a:xfrm>
          <a:prstGeom prst="rect">
            <a:avLst/>
          </a:prstGeom>
          <a:solidFill>
            <a:srgbClr val="2E7D32"/>
          </a:solidFill>
          <a:ln w="12700">
            <a:solidFill>
              <a:srgbClr val="2E7D32"/>
            </a:solidFill>
            <a:prstDash val="solid"/>
          </a:ln>
        </p:spPr>
        <p:txBody>
          <a:bodyPr/>
          <a:lstStyle/>
          <a:p>
            <a:endParaRPr lang="en-LK"/>
          </a:p>
        </p:txBody>
      </p:sp>
      <p:sp>
        <p:nvSpPr>
          <p:cNvPr id="5" name="Text 3"/>
          <p:cNvSpPr txBox="1"/>
          <p:nvPr/>
        </p:nvSpPr>
        <p:spPr>
          <a:xfrm>
            <a:off x="274320" y="749808"/>
            <a:ext cx="4572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</a:rPr>
              <a:t>01</a:t>
            </a:r>
            <a:endParaRPr lang="en-US" sz="1600" dirty="0"/>
          </a:p>
        </p:txBody>
      </p:sp>
      <p:sp>
        <p:nvSpPr>
          <p:cNvPr id="6" name="Text 4"/>
          <p:cNvSpPr txBox="1"/>
          <p:nvPr/>
        </p:nvSpPr>
        <p:spPr>
          <a:xfrm>
            <a:off x="731520" y="749808"/>
            <a:ext cx="15087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FFFFFF"/>
                </a:solidFill>
              </a:rPr>
              <a:t>Nutrient Deficiency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274320" y="1097280"/>
            <a:ext cx="2011680" cy="960120"/>
          </a:xfrm>
          <a:prstGeom prst="rect">
            <a:avLst/>
          </a:prstGeom>
          <a:solidFill>
            <a:srgbClr val="FFFFFF"/>
          </a:solidFill>
          <a:ln w="6350">
            <a:solidFill>
              <a:srgbClr val="D4DDD4"/>
            </a:solidFill>
            <a:prstDash val="solid"/>
          </a:ln>
          <a:effectLst>
            <a:outerShdw blurRad="101600" dist="38100" dir="8100000" algn="bl" rotWithShape="0">
              <a:srgbClr val="000000">
                <a:alpha val="13000"/>
              </a:srgbClr>
            </a:outerShdw>
          </a:effectLst>
        </p:spPr>
        <p:txBody>
          <a:bodyPr/>
          <a:lstStyle/>
          <a:p>
            <a:endParaRPr lang="en-LK"/>
          </a:p>
        </p:txBody>
      </p:sp>
      <p:sp>
        <p:nvSpPr>
          <p:cNvPr id="8" name="Text 6"/>
          <p:cNvSpPr txBox="1"/>
          <p:nvPr/>
        </p:nvSpPr>
        <p:spPr>
          <a:xfrm>
            <a:off x="365760" y="1143000"/>
            <a:ext cx="1828800" cy="868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850" dirty="0">
                <a:solidFill>
                  <a:srgbClr val="111111"/>
                </a:solidFill>
              </a:rPr>
              <a:t>MobileNetV2 + Transfer Learning</a:t>
            </a:r>
            <a:endParaRPr lang="en-US" sz="850" dirty="0"/>
          </a:p>
          <a:p>
            <a:pPr marL="0" indent="0" algn="l">
              <a:lnSpc>
                <a:spcPct val="130000"/>
              </a:lnSpc>
              <a:buNone/>
            </a:pPr>
            <a:r>
              <a:rPr lang="en-US" sz="850" dirty="0">
                <a:solidFill>
                  <a:srgbClr val="111111"/>
                </a:solidFill>
              </a:rPr>
              <a:t>6 classes → fertilizer advice via RAG</a:t>
            </a:r>
            <a:endParaRPr lang="en-US" sz="850" dirty="0"/>
          </a:p>
        </p:txBody>
      </p:sp>
      <p:sp>
        <p:nvSpPr>
          <p:cNvPr id="9" name="Shape 7"/>
          <p:cNvSpPr/>
          <p:nvPr/>
        </p:nvSpPr>
        <p:spPr>
          <a:xfrm>
            <a:off x="2450592" y="749808"/>
            <a:ext cx="2011680" cy="347472"/>
          </a:xfrm>
          <a:prstGeom prst="rect">
            <a:avLst/>
          </a:prstGeom>
          <a:solidFill>
            <a:srgbClr val="00695C"/>
          </a:solidFill>
          <a:ln w="12700">
            <a:solidFill>
              <a:srgbClr val="00695C"/>
            </a:solidFill>
            <a:prstDash val="solid"/>
          </a:ln>
        </p:spPr>
        <p:txBody>
          <a:bodyPr/>
          <a:lstStyle/>
          <a:p>
            <a:endParaRPr lang="en-LK"/>
          </a:p>
        </p:txBody>
      </p:sp>
      <p:sp>
        <p:nvSpPr>
          <p:cNvPr id="10" name="Text 8"/>
          <p:cNvSpPr txBox="1"/>
          <p:nvPr/>
        </p:nvSpPr>
        <p:spPr>
          <a:xfrm>
            <a:off x="2450592" y="749808"/>
            <a:ext cx="4572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</a:rPr>
              <a:t>02</a:t>
            </a:r>
            <a:endParaRPr lang="en-US" sz="1600" dirty="0"/>
          </a:p>
        </p:txBody>
      </p:sp>
      <p:sp>
        <p:nvSpPr>
          <p:cNvPr id="11" name="Text 9"/>
          <p:cNvSpPr txBox="1"/>
          <p:nvPr/>
        </p:nvSpPr>
        <p:spPr>
          <a:xfrm>
            <a:off x="2907792" y="749808"/>
            <a:ext cx="15087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FFFFFF"/>
                </a:solidFill>
              </a:rPr>
              <a:t>Leaf Disease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2450592" y="1097280"/>
            <a:ext cx="2011680" cy="960120"/>
          </a:xfrm>
          <a:prstGeom prst="rect">
            <a:avLst/>
          </a:prstGeom>
          <a:solidFill>
            <a:srgbClr val="FFFFFF"/>
          </a:solidFill>
          <a:ln w="6350">
            <a:solidFill>
              <a:srgbClr val="D4DDD4"/>
            </a:solidFill>
            <a:prstDash val="solid"/>
          </a:ln>
          <a:effectLst>
            <a:outerShdw blurRad="101600" dist="38100" dir="8100000" algn="bl" rotWithShape="0">
              <a:srgbClr val="000000">
                <a:alpha val="13000"/>
              </a:srgbClr>
            </a:outerShdw>
          </a:effectLst>
        </p:spPr>
        <p:txBody>
          <a:bodyPr/>
          <a:lstStyle/>
          <a:p>
            <a:endParaRPr lang="en-LK"/>
          </a:p>
        </p:txBody>
      </p:sp>
      <p:sp>
        <p:nvSpPr>
          <p:cNvPr id="13" name="Text 11"/>
          <p:cNvSpPr txBox="1"/>
          <p:nvPr/>
        </p:nvSpPr>
        <p:spPr>
          <a:xfrm>
            <a:off x="2542032" y="1143000"/>
            <a:ext cx="1828800" cy="868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850" dirty="0">
                <a:solidFill>
                  <a:srgbClr val="111111"/>
                </a:solidFill>
              </a:rPr>
              <a:t>YOLOv8m + EfficientNet gate</a:t>
            </a:r>
            <a:endParaRPr lang="en-US" sz="850" dirty="0"/>
          </a:p>
          <a:p>
            <a:pPr marL="0" indent="0" algn="l">
              <a:lnSpc>
                <a:spcPct val="130000"/>
              </a:lnSpc>
              <a:buNone/>
            </a:pPr>
            <a:r>
              <a:rPr lang="en-US" sz="850" dirty="0">
                <a:solidFill>
                  <a:srgbClr val="111111"/>
                </a:solidFill>
              </a:rPr>
              <a:t>4 classes + co-occurrence + RAG</a:t>
            </a:r>
            <a:endParaRPr lang="en-US" sz="850" dirty="0"/>
          </a:p>
        </p:txBody>
      </p:sp>
      <p:sp>
        <p:nvSpPr>
          <p:cNvPr id="14" name="Shape 12"/>
          <p:cNvSpPr/>
          <p:nvPr/>
        </p:nvSpPr>
        <p:spPr>
          <a:xfrm>
            <a:off x="4626864" y="749808"/>
            <a:ext cx="2011680" cy="347472"/>
          </a:xfrm>
          <a:prstGeom prst="rect">
            <a:avLst/>
          </a:prstGeom>
          <a:solidFill>
            <a:srgbClr val="1565C0"/>
          </a:solidFill>
          <a:ln w="12700">
            <a:solidFill>
              <a:srgbClr val="1565C0"/>
            </a:solidFill>
            <a:prstDash val="solid"/>
          </a:ln>
        </p:spPr>
        <p:txBody>
          <a:bodyPr/>
          <a:lstStyle/>
          <a:p>
            <a:endParaRPr lang="en-LK"/>
          </a:p>
        </p:txBody>
      </p:sp>
      <p:sp>
        <p:nvSpPr>
          <p:cNvPr id="15" name="Text 13"/>
          <p:cNvSpPr txBox="1"/>
          <p:nvPr/>
        </p:nvSpPr>
        <p:spPr>
          <a:xfrm>
            <a:off x="4626864" y="749808"/>
            <a:ext cx="4572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</a:rPr>
              <a:t>03</a:t>
            </a:r>
            <a:endParaRPr lang="en-US" sz="1600" dirty="0"/>
          </a:p>
        </p:txBody>
      </p:sp>
      <p:sp>
        <p:nvSpPr>
          <p:cNvPr id="16" name="Text 14"/>
          <p:cNvSpPr txBox="1"/>
          <p:nvPr/>
        </p:nvSpPr>
        <p:spPr>
          <a:xfrm>
            <a:off x="5084064" y="749808"/>
            <a:ext cx="15087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FFFFFF"/>
                </a:solidFill>
              </a:rPr>
              <a:t>Treatment Monitoring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4626864" y="1097280"/>
            <a:ext cx="2011680" cy="960120"/>
          </a:xfrm>
          <a:prstGeom prst="rect">
            <a:avLst/>
          </a:prstGeom>
          <a:solidFill>
            <a:srgbClr val="FFFFFF"/>
          </a:solidFill>
          <a:ln w="6350">
            <a:solidFill>
              <a:srgbClr val="D4DDD4"/>
            </a:solidFill>
            <a:prstDash val="solid"/>
          </a:ln>
          <a:effectLst>
            <a:outerShdw blurRad="101600" dist="38100" dir="8100000" algn="bl" rotWithShape="0">
              <a:srgbClr val="000000">
                <a:alpha val="13000"/>
              </a:srgbClr>
            </a:outerShdw>
          </a:effectLst>
        </p:spPr>
        <p:txBody>
          <a:bodyPr/>
          <a:lstStyle/>
          <a:p>
            <a:endParaRPr lang="en-LK"/>
          </a:p>
        </p:txBody>
      </p:sp>
      <p:sp>
        <p:nvSpPr>
          <p:cNvPr id="18" name="Text 16"/>
          <p:cNvSpPr txBox="1"/>
          <p:nvPr/>
        </p:nvSpPr>
        <p:spPr>
          <a:xfrm>
            <a:off x="4718304" y="1143000"/>
            <a:ext cx="1828800" cy="868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850" dirty="0">
                <a:solidFill>
                  <a:srgbClr val="111111"/>
                </a:solidFill>
              </a:rPr>
              <a:t>U-Net segmentation + 7-day TRR</a:t>
            </a:r>
            <a:endParaRPr lang="en-US" sz="850" dirty="0"/>
          </a:p>
          <a:p>
            <a:pPr marL="0" indent="0" algn="l">
              <a:lnSpc>
                <a:spcPct val="130000"/>
              </a:lnSpc>
              <a:buNone/>
            </a:pPr>
            <a:r>
              <a:rPr lang="en-US" sz="850" dirty="0">
                <a:solidFill>
                  <a:srgbClr val="111111"/>
                </a:solidFill>
              </a:rPr>
              <a:t>Weather fusion + alt treatment RAG</a:t>
            </a:r>
            <a:endParaRPr lang="en-US" sz="850" dirty="0"/>
          </a:p>
        </p:txBody>
      </p:sp>
      <p:sp>
        <p:nvSpPr>
          <p:cNvPr id="19" name="Shape 17"/>
          <p:cNvSpPr/>
          <p:nvPr/>
        </p:nvSpPr>
        <p:spPr>
          <a:xfrm>
            <a:off x="6803136" y="749808"/>
            <a:ext cx="2011680" cy="347472"/>
          </a:xfrm>
          <a:prstGeom prst="rect">
            <a:avLst/>
          </a:prstGeom>
          <a:solidFill>
            <a:srgbClr val="E65100"/>
          </a:solidFill>
          <a:ln w="12700">
            <a:solidFill>
              <a:srgbClr val="E65100"/>
            </a:solidFill>
            <a:prstDash val="solid"/>
          </a:ln>
        </p:spPr>
        <p:txBody>
          <a:bodyPr/>
          <a:lstStyle/>
          <a:p>
            <a:endParaRPr lang="en-LK"/>
          </a:p>
        </p:txBody>
      </p:sp>
      <p:sp>
        <p:nvSpPr>
          <p:cNvPr id="20" name="Text 18"/>
          <p:cNvSpPr txBox="1"/>
          <p:nvPr/>
        </p:nvSpPr>
        <p:spPr>
          <a:xfrm>
            <a:off x="6803136" y="749808"/>
            <a:ext cx="4572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</a:rPr>
              <a:t>04</a:t>
            </a:r>
            <a:endParaRPr lang="en-US" sz="1600" dirty="0"/>
          </a:p>
        </p:txBody>
      </p:sp>
      <p:sp>
        <p:nvSpPr>
          <p:cNvPr id="21" name="Text 19"/>
          <p:cNvSpPr txBox="1"/>
          <p:nvPr/>
        </p:nvSpPr>
        <p:spPr>
          <a:xfrm>
            <a:off x="7260336" y="749808"/>
            <a:ext cx="15087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FFFFFF"/>
                </a:solidFill>
              </a:rPr>
              <a:t>Price Forecasting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6803136" y="1097280"/>
            <a:ext cx="2011680" cy="960120"/>
          </a:xfrm>
          <a:prstGeom prst="rect">
            <a:avLst/>
          </a:prstGeom>
          <a:solidFill>
            <a:srgbClr val="FFFFFF"/>
          </a:solidFill>
          <a:ln w="6350">
            <a:solidFill>
              <a:srgbClr val="D4DDD4"/>
            </a:solidFill>
            <a:prstDash val="solid"/>
          </a:ln>
          <a:effectLst>
            <a:outerShdw blurRad="101600" dist="38100" dir="8100000" algn="bl" rotWithShape="0">
              <a:srgbClr val="000000">
                <a:alpha val="13000"/>
              </a:srgbClr>
            </a:outerShdw>
          </a:effectLst>
        </p:spPr>
        <p:txBody>
          <a:bodyPr/>
          <a:lstStyle/>
          <a:p>
            <a:endParaRPr lang="en-LK"/>
          </a:p>
        </p:txBody>
      </p:sp>
      <p:sp>
        <p:nvSpPr>
          <p:cNvPr id="23" name="Text 21"/>
          <p:cNvSpPr txBox="1"/>
          <p:nvPr/>
        </p:nvSpPr>
        <p:spPr>
          <a:xfrm>
            <a:off x="6894576" y="1143000"/>
            <a:ext cx="1828800" cy="868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850" dirty="0">
                <a:solidFill>
                  <a:srgbClr val="111111"/>
                </a:solidFill>
              </a:rPr>
              <a:t>LSTM/GRU/XGBoost/RF/ARIMA</a:t>
            </a:r>
            <a:endParaRPr lang="en-US" sz="850" dirty="0"/>
          </a:p>
          <a:p>
            <a:pPr marL="0" indent="0" algn="l">
              <a:lnSpc>
                <a:spcPct val="130000"/>
              </a:lnSpc>
              <a:buNone/>
            </a:pPr>
            <a:r>
              <a:rPr lang="en-US" sz="850" dirty="0">
                <a:solidFill>
                  <a:srgbClr val="111111"/>
                </a:solidFill>
              </a:rPr>
              <a:t>SHAP sell/hold recommendation</a:t>
            </a:r>
            <a:endParaRPr lang="en-US" sz="850" dirty="0"/>
          </a:p>
        </p:txBody>
      </p:sp>
      <p:sp>
        <p:nvSpPr>
          <p:cNvPr id="24" name="Text 22"/>
          <p:cNvSpPr txBox="1"/>
          <p:nvPr/>
        </p:nvSpPr>
        <p:spPr>
          <a:xfrm>
            <a:off x="274320" y="2212848"/>
            <a:ext cx="3657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1B5E20"/>
                </a:solidFill>
              </a:rPr>
              <a:t>System Architecture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274320" y="2542032"/>
            <a:ext cx="1572768" cy="1005840"/>
          </a:xfrm>
          <a:prstGeom prst="roundRect">
            <a:avLst>
              <a:gd name="adj" fmla="val 7273"/>
            </a:avLst>
          </a:prstGeom>
          <a:solidFill>
            <a:srgbClr val="2E7D32"/>
          </a:solidFill>
          <a:ln w="12700">
            <a:solidFill>
              <a:srgbClr val="2E7D32"/>
            </a:solidFill>
            <a:prstDash val="solid"/>
          </a:ln>
          <a:effectLst>
            <a:outerShdw blurRad="101600" dist="38100" dir="8100000" algn="bl" rotWithShape="0">
              <a:srgbClr val="000000">
                <a:alpha val="13000"/>
              </a:srgbClr>
            </a:outerShdw>
          </a:effectLst>
        </p:spPr>
        <p:txBody>
          <a:bodyPr/>
          <a:lstStyle/>
          <a:p>
            <a:endParaRPr lang="en-LK"/>
          </a:p>
        </p:txBody>
      </p:sp>
      <p:sp>
        <p:nvSpPr>
          <p:cNvPr id="26" name="Text 24"/>
          <p:cNvSpPr txBox="1"/>
          <p:nvPr/>
        </p:nvSpPr>
        <p:spPr>
          <a:xfrm>
            <a:off x="320040" y="2542032"/>
            <a:ext cx="1481328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</a:rPr>
              <a:t> React Native</a:t>
            </a:r>
            <a:endParaRPr lang="en-US" sz="900" dirty="0"/>
          </a:p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</a:rPr>
              <a:t>Mobile App</a:t>
            </a:r>
            <a:endParaRPr lang="en-US" sz="900" dirty="0"/>
          </a:p>
        </p:txBody>
      </p:sp>
      <p:sp>
        <p:nvSpPr>
          <p:cNvPr id="27" name="Text 25"/>
          <p:cNvSpPr txBox="1"/>
          <p:nvPr/>
        </p:nvSpPr>
        <p:spPr>
          <a:xfrm>
            <a:off x="1847088" y="2907792"/>
            <a:ext cx="16459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2E7D32"/>
                </a:solidFill>
              </a:rPr>
              <a:t>→</a:t>
            </a:r>
            <a:endParaRPr lang="en-US" sz="1400" dirty="0"/>
          </a:p>
        </p:txBody>
      </p:sp>
      <p:sp>
        <p:nvSpPr>
          <p:cNvPr id="28" name="Shape 26"/>
          <p:cNvSpPr/>
          <p:nvPr/>
        </p:nvSpPr>
        <p:spPr>
          <a:xfrm>
            <a:off x="2011680" y="2542032"/>
            <a:ext cx="1572768" cy="1005840"/>
          </a:xfrm>
          <a:prstGeom prst="roundRect">
            <a:avLst>
              <a:gd name="adj" fmla="val 7273"/>
            </a:avLst>
          </a:prstGeom>
          <a:solidFill>
            <a:srgbClr val="00695C"/>
          </a:solidFill>
          <a:ln w="12700">
            <a:solidFill>
              <a:srgbClr val="00695C"/>
            </a:solidFill>
            <a:prstDash val="solid"/>
          </a:ln>
          <a:effectLst>
            <a:outerShdw blurRad="101600" dist="38100" dir="8100000" algn="bl" rotWithShape="0">
              <a:srgbClr val="000000">
                <a:alpha val="13000"/>
              </a:srgbClr>
            </a:outerShdw>
          </a:effectLst>
        </p:spPr>
        <p:txBody>
          <a:bodyPr/>
          <a:lstStyle/>
          <a:p>
            <a:endParaRPr lang="en-LK"/>
          </a:p>
        </p:txBody>
      </p:sp>
      <p:sp>
        <p:nvSpPr>
          <p:cNvPr id="29" name="Text 27"/>
          <p:cNvSpPr txBox="1"/>
          <p:nvPr/>
        </p:nvSpPr>
        <p:spPr>
          <a:xfrm>
            <a:off x="2057400" y="2542032"/>
            <a:ext cx="1481328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</a:rPr>
              <a:t>Flask/FastAPI</a:t>
            </a:r>
            <a:endParaRPr lang="en-US" sz="900" dirty="0"/>
          </a:p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</a:rPr>
              <a:t>REST APIs</a:t>
            </a:r>
            <a:endParaRPr lang="en-US" sz="900" dirty="0"/>
          </a:p>
        </p:txBody>
      </p:sp>
      <p:sp>
        <p:nvSpPr>
          <p:cNvPr id="30" name="Text 28"/>
          <p:cNvSpPr txBox="1"/>
          <p:nvPr/>
        </p:nvSpPr>
        <p:spPr>
          <a:xfrm>
            <a:off x="3584448" y="2907792"/>
            <a:ext cx="16459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2E7D32"/>
                </a:solidFill>
              </a:rPr>
              <a:t>→</a:t>
            </a:r>
            <a:endParaRPr lang="en-US" sz="1400" dirty="0"/>
          </a:p>
        </p:txBody>
      </p:sp>
      <p:sp>
        <p:nvSpPr>
          <p:cNvPr id="31" name="Shape 29"/>
          <p:cNvSpPr/>
          <p:nvPr/>
        </p:nvSpPr>
        <p:spPr>
          <a:xfrm>
            <a:off x="3749040" y="2542032"/>
            <a:ext cx="1572768" cy="1005840"/>
          </a:xfrm>
          <a:prstGeom prst="roundRect">
            <a:avLst>
              <a:gd name="adj" fmla="val 7273"/>
            </a:avLst>
          </a:prstGeom>
          <a:solidFill>
            <a:srgbClr val="1565C0"/>
          </a:solidFill>
          <a:ln w="12700">
            <a:solidFill>
              <a:srgbClr val="1565C0"/>
            </a:solidFill>
            <a:prstDash val="solid"/>
          </a:ln>
          <a:effectLst>
            <a:outerShdw blurRad="101600" dist="38100" dir="8100000" algn="bl" rotWithShape="0">
              <a:srgbClr val="000000">
                <a:alpha val="13000"/>
              </a:srgbClr>
            </a:outerShdw>
          </a:effectLst>
        </p:spPr>
        <p:txBody>
          <a:bodyPr/>
          <a:lstStyle/>
          <a:p>
            <a:endParaRPr lang="en-LK"/>
          </a:p>
        </p:txBody>
      </p:sp>
      <p:sp>
        <p:nvSpPr>
          <p:cNvPr id="32" name="Text 30"/>
          <p:cNvSpPr txBox="1"/>
          <p:nvPr/>
        </p:nvSpPr>
        <p:spPr>
          <a:xfrm>
            <a:off x="3794760" y="2542032"/>
            <a:ext cx="1481328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</a:rPr>
              <a:t>AI Models</a:t>
            </a:r>
            <a:endParaRPr lang="en-US" sz="900" dirty="0"/>
          </a:p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</a:rPr>
              <a:t>(4 components)</a:t>
            </a:r>
            <a:endParaRPr lang="en-US" sz="900" dirty="0"/>
          </a:p>
        </p:txBody>
      </p:sp>
      <p:sp>
        <p:nvSpPr>
          <p:cNvPr id="33" name="Text 31"/>
          <p:cNvSpPr txBox="1"/>
          <p:nvPr/>
        </p:nvSpPr>
        <p:spPr>
          <a:xfrm>
            <a:off x="5321808" y="2907792"/>
            <a:ext cx="16459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2E7D32"/>
                </a:solidFill>
              </a:rPr>
              <a:t>→</a:t>
            </a:r>
            <a:endParaRPr lang="en-US" sz="1400" dirty="0"/>
          </a:p>
        </p:txBody>
      </p:sp>
      <p:sp>
        <p:nvSpPr>
          <p:cNvPr id="34" name="Shape 32"/>
          <p:cNvSpPr/>
          <p:nvPr/>
        </p:nvSpPr>
        <p:spPr>
          <a:xfrm>
            <a:off x="5486400" y="2542032"/>
            <a:ext cx="1572768" cy="1005840"/>
          </a:xfrm>
          <a:prstGeom prst="roundRect">
            <a:avLst>
              <a:gd name="adj" fmla="val 7273"/>
            </a:avLst>
          </a:prstGeom>
          <a:solidFill>
            <a:srgbClr val="2E7D32"/>
          </a:solidFill>
          <a:ln w="12700">
            <a:solidFill>
              <a:srgbClr val="2E7D32"/>
            </a:solidFill>
            <a:prstDash val="solid"/>
          </a:ln>
          <a:effectLst>
            <a:outerShdw blurRad="101600" dist="38100" dir="8100000" algn="bl" rotWithShape="0">
              <a:srgbClr val="000000">
                <a:alpha val="13000"/>
              </a:srgbClr>
            </a:outerShdw>
          </a:effectLst>
        </p:spPr>
        <p:txBody>
          <a:bodyPr/>
          <a:lstStyle/>
          <a:p>
            <a:endParaRPr lang="en-LK"/>
          </a:p>
        </p:txBody>
      </p:sp>
      <p:sp>
        <p:nvSpPr>
          <p:cNvPr id="35" name="Text 33"/>
          <p:cNvSpPr txBox="1"/>
          <p:nvPr/>
        </p:nvSpPr>
        <p:spPr>
          <a:xfrm>
            <a:off x="5532120" y="2542032"/>
            <a:ext cx="1481328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</a:rPr>
              <a:t>MongoDB Atlas</a:t>
            </a:r>
            <a:endParaRPr lang="en-US" sz="900" dirty="0"/>
          </a:p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</a:rPr>
              <a:t>+ SQLite</a:t>
            </a:r>
            <a:endParaRPr lang="en-US" sz="900" dirty="0"/>
          </a:p>
        </p:txBody>
      </p:sp>
      <p:sp>
        <p:nvSpPr>
          <p:cNvPr id="36" name="Text 34"/>
          <p:cNvSpPr txBox="1"/>
          <p:nvPr/>
        </p:nvSpPr>
        <p:spPr>
          <a:xfrm>
            <a:off x="7059168" y="2907792"/>
            <a:ext cx="16459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2E7D32"/>
                </a:solidFill>
              </a:rPr>
              <a:t>→</a:t>
            </a:r>
            <a:endParaRPr lang="en-US" sz="1400" dirty="0"/>
          </a:p>
        </p:txBody>
      </p:sp>
      <p:sp>
        <p:nvSpPr>
          <p:cNvPr id="37" name="Shape 35"/>
          <p:cNvSpPr/>
          <p:nvPr/>
        </p:nvSpPr>
        <p:spPr>
          <a:xfrm>
            <a:off x="7223760" y="2542032"/>
            <a:ext cx="1572768" cy="1005840"/>
          </a:xfrm>
          <a:prstGeom prst="roundRect">
            <a:avLst>
              <a:gd name="adj" fmla="val 7273"/>
            </a:avLst>
          </a:prstGeom>
          <a:solidFill>
            <a:srgbClr val="E65100"/>
          </a:solidFill>
          <a:ln w="12700">
            <a:solidFill>
              <a:srgbClr val="E65100"/>
            </a:solidFill>
            <a:prstDash val="solid"/>
          </a:ln>
          <a:effectLst>
            <a:outerShdw blurRad="101600" dist="38100" dir="8100000" algn="bl" rotWithShape="0">
              <a:srgbClr val="000000">
                <a:alpha val="13000"/>
              </a:srgbClr>
            </a:outerShdw>
          </a:effectLst>
        </p:spPr>
        <p:txBody>
          <a:bodyPr/>
          <a:lstStyle/>
          <a:p>
            <a:endParaRPr lang="en-LK"/>
          </a:p>
        </p:txBody>
      </p:sp>
      <p:sp>
        <p:nvSpPr>
          <p:cNvPr id="38" name="Text 36"/>
          <p:cNvSpPr txBox="1"/>
          <p:nvPr/>
        </p:nvSpPr>
        <p:spPr>
          <a:xfrm>
            <a:off x="7269480" y="2542032"/>
            <a:ext cx="1481328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</a:rPr>
              <a:t>ChromaDB</a:t>
            </a:r>
            <a:endParaRPr lang="en-US" sz="900" dirty="0"/>
          </a:p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</a:rPr>
              <a:t>+ Groq RAG</a:t>
            </a:r>
            <a:endParaRPr lang="en-US" sz="900" dirty="0"/>
          </a:p>
        </p:txBody>
      </p:sp>
      <p:sp>
        <p:nvSpPr>
          <p:cNvPr id="39" name="Text 37"/>
          <p:cNvSpPr txBox="1"/>
          <p:nvPr/>
        </p:nvSpPr>
        <p:spPr>
          <a:xfrm>
            <a:off x="274320" y="3712464"/>
            <a:ext cx="27432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1B5E20"/>
                </a:solidFill>
              </a:rPr>
              <a:t>Engineering Practices</a:t>
            </a:r>
            <a:endParaRPr lang="en-US" sz="1100" dirty="0"/>
          </a:p>
        </p:txBody>
      </p:sp>
      <p:sp>
        <p:nvSpPr>
          <p:cNvPr id="40" name="Text 38"/>
          <p:cNvSpPr txBox="1"/>
          <p:nvPr/>
        </p:nvSpPr>
        <p:spPr>
          <a:xfrm>
            <a:off x="274320" y="4005072"/>
            <a:ext cx="42062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850" dirty="0">
                <a:solidFill>
                  <a:srgbClr val="111111"/>
                </a:solidFill>
              </a:rPr>
              <a:t>•  Microservice architecture — each component scales independently</a:t>
            </a:r>
            <a:endParaRPr lang="en-US" sz="850" dirty="0"/>
          </a:p>
        </p:txBody>
      </p:sp>
      <p:sp>
        <p:nvSpPr>
          <p:cNvPr id="41" name="Text 39"/>
          <p:cNvSpPr txBox="1"/>
          <p:nvPr/>
        </p:nvSpPr>
        <p:spPr>
          <a:xfrm>
            <a:off x="4709160" y="4005072"/>
            <a:ext cx="42062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850" dirty="0">
                <a:solidFill>
                  <a:srgbClr val="111111"/>
                </a:solidFill>
              </a:rPr>
              <a:t>•  JWT authentication + MongoDB Atlas for secure user data</a:t>
            </a:r>
            <a:endParaRPr lang="en-US" sz="850" dirty="0"/>
          </a:p>
        </p:txBody>
      </p:sp>
      <p:sp>
        <p:nvSpPr>
          <p:cNvPr id="42" name="Text 40"/>
          <p:cNvSpPr txBox="1"/>
          <p:nvPr/>
        </p:nvSpPr>
        <p:spPr>
          <a:xfrm>
            <a:off x="274320" y="4389120"/>
            <a:ext cx="42062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850" dirty="0">
                <a:solidFill>
                  <a:srgbClr val="111111"/>
                </a:solidFill>
              </a:rPr>
              <a:t>•  RAG grounded in DOA Sri Lanka verified sources</a:t>
            </a:r>
            <a:endParaRPr lang="en-US" sz="850" dirty="0"/>
          </a:p>
        </p:txBody>
      </p:sp>
      <p:sp>
        <p:nvSpPr>
          <p:cNvPr id="43" name="Text 41"/>
          <p:cNvSpPr txBox="1"/>
          <p:nvPr/>
        </p:nvSpPr>
        <p:spPr>
          <a:xfrm>
            <a:off x="4709160" y="4389120"/>
            <a:ext cx="42062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850" dirty="0">
                <a:solidFill>
                  <a:srgbClr val="111111"/>
                </a:solidFill>
              </a:rPr>
              <a:t>•  Transfer learning + augmentation for small-dataset robustness</a:t>
            </a:r>
            <a:endParaRPr lang="en-US" sz="850" dirty="0"/>
          </a:p>
        </p:txBody>
      </p:sp>
      <p:sp>
        <p:nvSpPr>
          <p:cNvPr id="44" name="Shape 42"/>
          <p:cNvSpPr/>
          <p:nvPr/>
        </p:nvSpPr>
        <p:spPr>
          <a:xfrm>
            <a:off x="0" y="4892040"/>
            <a:ext cx="9144000" cy="256032"/>
          </a:xfrm>
          <a:prstGeom prst="rect">
            <a:avLst/>
          </a:prstGeom>
          <a:solidFill>
            <a:srgbClr val="1B5E20"/>
          </a:solidFill>
          <a:ln w="12700">
            <a:solidFill>
              <a:srgbClr val="1B5E20"/>
            </a:solidFill>
            <a:prstDash val="solid"/>
          </a:ln>
        </p:spPr>
        <p:txBody>
          <a:bodyPr/>
          <a:lstStyle/>
          <a:p>
            <a:endParaRPr lang="en-LK"/>
          </a:p>
        </p:txBody>
      </p:sp>
      <p:sp>
        <p:nvSpPr>
          <p:cNvPr id="45" name="Text 43"/>
          <p:cNvSpPr txBox="1"/>
          <p:nvPr/>
        </p:nvSpPr>
        <p:spPr>
          <a:xfrm>
            <a:off x="274320" y="4892040"/>
            <a:ext cx="6400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800" dirty="0">
                <a:solidFill>
                  <a:srgbClr val="C8E6C9"/>
                </a:solidFill>
              </a:rPr>
              <a:t>TomatoDoc  |  R26-SE-032  |  SLIIT Faculty of Computing</a:t>
            </a:r>
            <a:endParaRPr lang="en-US" sz="800" dirty="0"/>
          </a:p>
        </p:txBody>
      </p:sp>
      <p:sp>
        <p:nvSpPr>
          <p:cNvPr id="46" name="Text 44"/>
          <p:cNvSpPr txBox="1"/>
          <p:nvPr/>
        </p:nvSpPr>
        <p:spPr>
          <a:xfrm>
            <a:off x="8229600" y="4892040"/>
            <a:ext cx="6400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C8E6C9"/>
                </a:solidFill>
              </a:rPr>
              <a:t>7</a:t>
            </a:r>
            <a:endParaRPr lang="en-US" sz="8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4F6F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1B5E20"/>
          </a:solidFill>
          <a:ln w="12700">
            <a:solidFill>
              <a:srgbClr val="1B5E20"/>
            </a:solidFill>
            <a:prstDash val="solid"/>
          </a:ln>
        </p:spPr>
        <p:txBody>
          <a:bodyPr/>
          <a:lstStyle/>
          <a:p>
            <a:endParaRPr lang="en-LK"/>
          </a:p>
        </p:txBody>
      </p:sp>
      <p:sp>
        <p:nvSpPr>
          <p:cNvPr id="3" name="Text 1"/>
          <p:cNvSpPr txBox="1"/>
          <p:nvPr/>
        </p:nvSpPr>
        <p:spPr>
          <a:xfrm>
            <a:off x="365760" y="164592"/>
            <a:ext cx="84124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2200" b="1" dirty="0">
                <a:solidFill>
                  <a:srgbClr val="FFFFFF"/>
                </a:solidFill>
              </a:rPr>
              <a:t>Integration &amp; Completion Status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530352" y="777240"/>
            <a:ext cx="713232" cy="713232"/>
          </a:xfrm>
          <a:prstGeom prst="ellipse">
            <a:avLst/>
          </a:prstGeom>
          <a:solidFill>
            <a:srgbClr val="2E7D32"/>
          </a:solidFill>
          <a:ln w="12700">
            <a:solidFill>
              <a:srgbClr val="2E7D32"/>
            </a:solidFill>
            <a:prstDash val="solid"/>
          </a:ln>
        </p:spPr>
        <p:txBody>
          <a:bodyPr/>
          <a:lstStyle/>
          <a:p>
            <a:endParaRPr lang="en-LK"/>
          </a:p>
        </p:txBody>
      </p:sp>
      <p:sp>
        <p:nvSpPr>
          <p:cNvPr id="5" name="Text 3"/>
          <p:cNvSpPr txBox="1"/>
          <p:nvPr/>
        </p:nvSpPr>
        <p:spPr>
          <a:xfrm>
            <a:off x="530352" y="777240"/>
            <a:ext cx="713232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</a:rPr>
              <a:t>01</a:t>
            </a:r>
            <a:endParaRPr lang="en-US" sz="1300" dirty="0"/>
          </a:p>
        </p:txBody>
      </p:sp>
      <p:sp>
        <p:nvSpPr>
          <p:cNvPr id="6" name="Text 4"/>
          <p:cNvSpPr txBox="1"/>
          <p:nvPr/>
        </p:nvSpPr>
        <p:spPr>
          <a:xfrm>
            <a:off x="320040" y="1536192"/>
            <a:ext cx="1143000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800" dirty="0">
                <a:solidFill>
                  <a:srgbClr val="1B5E20"/>
                </a:solidFill>
              </a:rPr>
              <a:t>Upload</a:t>
            </a:r>
            <a:endParaRPr lang="en-US" sz="800" dirty="0"/>
          </a:p>
          <a:p>
            <a:pPr marL="0" indent="0" algn="ctr">
              <a:buNone/>
            </a:pPr>
            <a:r>
              <a:rPr lang="en-US" sz="800" dirty="0">
                <a:solidFill>
                  <a:srgbClr val="1B5E20"/>
                </a:solidFill>
              </a:rPr>
              <a:t>Photo</a:t>
            </a:r>
            <a:endParaRPr lang="en-US" sz="800" dirty="0"/>
          </a:p>
        </p:txBody>
      </p:sp>
      <p:sp>
        <p:nvSpPr>
          <p:cNvPr id="7" name="Shape 5"/>
          <p:cNvSpPr/>
          <p:nvPr/>
        </p:nvSpPr>
        <p:spPr>
          <a:xfrm>
            <a:off x="1243584" y="1097280"/>
            <a:ext cx="274320" cy="54864"/>
          </a:xfrm>
          <a:prstGeom prst="rect">
            <a:avLst/>
          </a:prstGeom>
          <a:solidFill>
            <a:srgbClr val="2E7D32"/>
          </a:solidFill>
          <a:ln w="12700">
            <a:solidFill>
              <a:srgbClr val="2E7D32"/>
            </a:solidFill>
            <a:prstDash val="solid"/>
          </a:ln>
        </p:spPr>
        <p:txBody>
          <a:bodyPr/>
          <a:lstStyle/>
          <a:p>
            <a:endParaRPr lang="en-LK"/>
          </a:p>
        </p:txBody>
      </p:sp>
      <p:sp>
        <p:nvSpPr>
          <p:cNvPr id="8" name="Shape 6"/>
          <p:cNvSpPr/>
          <p:nvPr/>
        </p:nvSpPr>
        <p:spPr>
          <a:xfrm>
            <a:off x="1773936" y="777240"/>
            <a:ext cx="713232" cy="713232"/>
          </a:xfrm>
          <a:prstGeom prst="ellipse">
            <a:avLst/>
          </a:prstGeom>
          <a:solidFill>
            <a:srgbClr val="2E7D32"/>
          </a:solidFill>
          <a:ln w="12700">
            <a:solidFill>
              <a:srgbClr val="2E7D32"/>
            </a:solidFill>
            <a:prstDash val="solid"/>
          </a:ln>
        </p:spPr>
        <p:txBody>
          <a:bodyPr/>
          <a:lstStyle/>
          <a:p>
            <a:endParaRPr lang="en-LK"/>
          </a:p>
        </p:txBody>
      </p:sp>
      <p:sp>
        <p:nvSpPr>
          <p:cNvPr id="9" name="Text 7"/>
          <p:cNvSpPr txBox="1"/>
          <p:nvPr/>
        </p:nvSpPr>
        <p:spPr>
          <a:xfrm>
            <a:off x="1773936" y="777240"/>
            <a:ext cx="713232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</a:rPr>
              <a:t>02</a:t>
            </a:r>
            <a:endParaRPr lang="en-US" sz="1300" dirty="0"/>
          </a:p>
        </p:txBody>
      </p:sp>
      <p:sp>
        <p:nvSpPr>
          <p:cNvPr id="10" name="Text 8"/>
          <p:cNvSpPr txBox="1"/>
          <p:nvPr/>
        </p:nvSpPr>
        <p:spPr>
          <a:xfrm>
            <a:off x="1563624" y="1536192"/>
            <a:ext cx="1143000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800" dirty="0">
                <a:solidFill>
                  <a:srgbClr val="1B5E20"/>
                </a:solidFill>
              </a:rPr>
              <a:t>Quality</a:t>
            </a:r>
            <a:endParaRPr lang="en-US" sz="800" dirty="0"/>
          </a:p>
          <a:p>
            <a:pPr marL="0" indent="0" algn="ctr">
              <a:buNone/>
            </a:pPr>
            <a:r>
              <a:rPr lang="en-US" sz="800" dirty="0">
                <a:solidFill>
                  <a:srgbClr val="1B5E20"/>
                </a:solidFill>
              </a:rPr>
              <a:t>Gate</a:t>
            </a:r>
            <a:endParaRPr lang="en-US" sz="800" dirty="0"/>
          </a:p>
        </p:txBody>
      </p:sp>
      <p:sp>
        <p:nvSpPr>
          <p:cNvPr id="11" name="Shape 9"/>
          <p:cNvSpPr/>
          <p:nvPr/>
        </p:nvSpPr>
        <p:spPr>
          <a:xfrm>
            <a:off x="2487168" y="1097280"/>
            <a:ext cx="274320" cy="54864"/>
          </a:xfrm>
          <a:prstGeom prst="rect">
            <a:avLst/>
          </a:prstGeom>
          <a:solidFill>
            <a:srgbClr val="2E7D32"/>
          </a:solidFill>
          <a:ln w="12700">
            <a:solidFill>
              <a:srgbClr val="2E7D32"/>
            </a:solidFill>
            <a:prstDash val="solid"/>
          </a:ln>
        </p:spPr>
        <p:txBody>
          <a:bodyPr/>
          <a:lstStyle/>
          <a:p>
            <a:endParaRPr lang="en-LK"/>
          </a:p>
        </p:txBody>
      </p:sp>
      <p:sp>
        <p:nvSpPr>
          <p:cNvPr id="12" name="Shape 10"/>
          <p:cNvSpPr/>
          <p:nvPr/>
        </p:nvSpPr>
        <p:spPr>
          <a:xfrm>
            <a:off x="3017520" y="777240"/>
            <a:ext cx="713232" cy="713232"/>
          </a:xfrm>
          <a:prstGeom prst="ellipse">
            <a:avLst/>
          </a:prstGeom>
          <a:solidFill>
            <a:srgbClr val="2E7D32"/>
          </a:solidFill>
          <a:ln w="12700">
            <a:solidFill>
              <a:srgbClr val="2E7D32"/>
            </a:solidFill>
            <a:prstDash val="solid"/>
          </a:ln>
        </p:spPr>
        <p:txBody>
          <a:bodyPr/>
          <a:lstStyle/>
          <a:p>
            <a:endParaRPr lang="en-LK"/>
          </a:p>
        </p:txBody>
      </p:sp>
      <p:sp>
        <p:nvSpPr>
          <p:cNvPr id="13" name="Text 11"/>
          <p:cNvSpPr txBox="1"/>
          <p:nvPr/>
        </p:nvSpPr>
        <p:spPr>
          <a:xfrm>
            <a:off x="3017520" y="777240"/>
            <a:ext cx="713232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</a:rPr>
              <a:t>03</a:t>
            </a:r>
            <a:endParaRPr lang="en-US" sz="1300" dirty="0"/>
          </a:p>
        </p:txBody>
      </p:sp>
      <p:sp>
        <p:nvSpPr>
          <p:cNvPr id="14" name="Text 12"/>
          <p:cNvSpPr txBox="1"/>
          <p:nvPr/>
        </p:nvSpPr>
        <p:spPr>
          <a:xfrm>
            <a:off x="2807208" y="1536192"/>
            <a:ext cx="1143000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800" dirty="0">
                <a:solidFill>
                  <a:srgbClr val="1B5E20"/>
                </a:solidFill>
              </a:rPr>
              <a:t>AI Model</a:t>
            </a:r>
            <a:endParaRPr lang="en-US" sz="800" dirty="0"/>
          </a:p>
          <a:p>
            <a:pPr marL="0" indent="0" algn="ctr">
              <a:buNone/>
            </a:pPr>
            <a:r>
              <a:rPr lang="en-US" sz="800" dirty="0">
                <a:solidFill>
                  <a:srgbClr val="1B5E20"/>
                </a:solidFill>
              </a:rPr>
              <a:t>Infer</a:t>
            </a:r>
            <a:endParaRPr lang="en-US" sz="800" dirty="0"/>
          </a:p>
        </p:txBody>
      </p:sp>
      <p:sp>
        <p:nvSpPr>
          <p:cNvPr id="15" name="Shape 13"/>
          <p:cNvSpPr/>
          <p:nvPr/>
        </p:nvSpPr>
        <p:spPr>
          <a:xfrm>
            <a:off x="3730752" y="1097280"/>
            <a:ext cx="274320" cy="54864"/>
          </a:xfrm>
          <a:prstGeom prst="rect">
            <a:avLst/>
          </a:prstGeom>
          <a:solidFill>
            <a:srgbClr val="2E7D32"/>
          </a:solidFill>
          <a:ln w="12700">
            <a:solidFill>
              <a:srgbClr val="2E7D32"/>
            </a:solidFill>
            <a:prstDash val="solid"/>
          </a:ln>
        </p:spPr>
        <p:txBody>
          <a:bodyPr/>
          <a:lstStyle/>
          <a:p>
            <a:endParaRPr lang="en-LK"/>
          </a:p>
        </p:txBody>
      </p:sp>
      <p:sp>
        <p:nvSpPr>
          <p:cNvPr id="16" name="Shape 14"/>
          <p:cNvSpPr/>
          <p:nvPr/>
        </p:nvSpPr>
        <p:spPr>
          <a:xfrm>
            <a:off x="4261104" y="777240"/>
            <a:ext cx="713232" cy="713232"/>
          </a:xfrm>
          <a:prstGeom prst="ellipse">
            <a:avLst/>
          </a:prstGeom>
          <a:solidFill>
            <a:srgbClr val="2E7D32"/>
          </a:solidFill>
          <a:ln w="12700">
            <a:solidFill>
              <a:srgbClr val="2E7D32"/>
            </a:solidFill>
            <a:prstDash val="solid"/>
          </a:ln>
        </p:spPr>
        <p:txBody>
          <a:bodyPr/>
          <a:lstStyle/>
          <a:p>
            <a:endParaRPr lang="en-LK"/>
          </a:p>
        </p:txBody>
      </p:sp>
      <p:sp>
        <p:nvSpPr>
          <p:cNvPr id="17" name="Text 15"/>
          <p:cNvSpPr txBox="1"/>
          <p:nvPr/>
        </p:nvSpPr>
        <p:spPr>
          <a:xfrm>
            <a:off x="4261104" y="777240"/>
            <a:ext cx="713232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</a:rPr>
              <a:t>04</a:t>
            </a:r>
            <a:endParaRPr lang="en-US" sz="1300" dirty="0"/>
          </a:p>
        </p:txBody>
      </p:sp>
      <p:sp>
        <p:nvSpPr>
          <p:cNvPr id="18" name="Text 16"/>
          <p:cNvSpPr txBox="1"/>
          <p:nvPr/>
        </p:nvSpPr>
        <p:spPr>
          <a:xfrm>
            <a:off x="4050792" y="1536192"/>
            <a:ext cx="1143000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800" dirty="0">
                <a:solidFill>
                  <a:srgbClr val="1B5E20"/>
                </a:solidFill>
              </a:rPr>
              <a:t>RAG</a:t>
            </a:r>
            <a:endParaRPr lang="en-US" sz="800" dirty="0"/>
          </a:p>
          <a:p>
            <a:pPr marL="0" indent="0" algn="ctr">
              <a:buNone/>
            </a:pPr>
            <a:r>
              <a:rPr lang="en-US" sz="800" dirty="0">
                <a:solidFill>
                  <a:srgbClr val="1B5E20"/>
                </a:solidFill>
              </a:rPr>
              <a:t>Advice</a:t>
            </a:r>
            <a:endParaRPr lang="en-US" sz="800" dirty="0"/>
          </a:p>
        </p:txBody>
      </p:sp>
      <p:sp>
        <p:nvSpPr>
          <p:cNvPr id="19" name="Shape 17"/>
          <p:cNvSpPr/>
          <p:nvPr/>
        </p:nvSpPr>
        <p:spPr>
          <a:xfrm>
            <a:off x="4974336" y="1097280"/>
            <a:ext cx="274320" cy="54864"/>
          </a:xfrm>
          <a:prstGeom prst="rect">
            <a:avLst/>
          </a:prstGeom>
          <a:solidFill>
            <a:srgbClr val="2E7D32"/>
          </a:solidFill>
          <a:ln w="12700">
            <a:solidFill>
              <a:srgbClr val="2E7D32"/>
            </a:solidFill>
            <a:prstDash val="solid"/>
          </a:ln>
        </p:spPr>
        <p:txBody>
          <a:bodyPr/>
          <a:lstStyle/>
          <a:p>
            <a:endParaRPr lang="en-LK"/>
          </a:p>
        </p:txBody>
      </p:sp>
      <p:sp>
        <p:nvSpPr>
          <p:cNvPr id="20" name="Shape 18"/>
          <p:cNvSpPr/>
          <p:nvPr/>
        </p:nvSpPr>
        <p:spPr>
          <a:xfrm>
            <a:off x="5504688" y="777240"/>
            <a:ext cx="713232" cy="713232"/>
          </a:xfrm>
          <a:prstGeom prst="ellipse">
            <a:avLst/>
          </a:prstGeom>
          <a:solidFill>
            <a:srgbClr val="2E7D32"/>
          </a:solidFill>
          <a:ln w="12700">
            <a:solidFill>
              <a:srgbClr val="2E7D32"/>
            </a:solidFill>
            <a:prstDash val="solid"/>
          </a:ln>
        </p:spPr>
        <p:txBody>
          <a:bodyPr/>
          <a:lstStyle/>
          <a:p>
            <a:endParaRPr lang="en-LK"/>
          </a:p>
        </p:txBody>
      </p:sp>
      <p:sp>
        <p:nvSpPr>
          <p:cNvPr id="21" name="Text 19"/>
          <p:cNvSpPr txBox="1"/>
          <p:nvPr/>
        </p:nvSpPr>
        <p:spPr>
          <a:xfrm>
            <a:off x="5504688" y="777240"/>
            <a:ext cx="713232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</a:rPr>
              <a:t>05</a:t>
            </a:r>
            <a:endParaRPr lang="en-US" sz="1300" dirty="0"/>
          </a:p>
        </p:txBody>
      </p:sp>
      <p:sp>
        <p:nvSpPr>
          <p:cNvPr id="22" name="Text 20"/>
          <p:cNvSpPr txBox="1"/>
          <p:nvPr/>
        </p:nvSpPr>
        <p:spPr>
          <a:xfrm>
            <a:off x="5294376" y="1536192"/>
            <a:ext cx="1143000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800" dirty="0">
                <a:solidFill>
                  <a:srgbClr val="1B5E20"/>
                </a:solidFill>
              </a:rPr>
              <a:t>Save</a:t>
            </a:r>
            <a:endParaRPr lang="en-US" sz="800" dirty="0"/>
          </a:p>
          <a:p>
            <a:pPr marL="0" indent="0" algn="ctr">
              <a:buNone/>
            </a:pPr>
            <a:r>
              <a:rPr lang="en-US" sz="800" dirty="0">
                <a:solidFill>
                  <a:srgbClr val="1B5E20"/>
                </a:solidFill>
              </a:rPr>
              <a:t>History</a:t>
            </a:r>
            <a:endParaRPr lang="en-US" sz="800" dirty="0"/>
          </a:p>
        </p:txBody>
      </p:sp>
      <p:sp>
        <p:nvSpPr>
          <p:cNvPr id="23" name="Shape 21"/>
          <p:cNvSpPr/>
          <p:nvPr/>
        </p:nvSpPr>
        <p:spPr>
          <a:xfrm>
            <a:off x="6217920" y="1097280"/>
            <a:ext cx="274320" cy="54864"/>
          </a:xfrm>
          <a:prstGeom prst="rect">
            <a:avLst/>
          </a:prstGeom>
          <a:solidFill>
            <a:srgbClr val="2E7D32"/>
          </a:solidFill>
          <a:ln w="12700">
            <a:solidFill>
              <a:srgbClr val="2E7D32"/>
            </a:solidFill>
            <a:prstDash val="solid"/>
          </a:ln>
        </p:spPr>
        <p:txBody>
          <a:bodyPr/>
          <a:lstStyle/>
          <a:p>
            <a:endParaRPr lang="en-LK"/>
          </a:p>
        </p:txBody>
      </p:sp>
      <p:sp>
        <p:nvSpPr>
          <p:cNvPr id="24" name="Shape 22"/>
          <p:cNvSpPr/>
          <p:nvPr/>
        </p:nvSpPr>
        <p:spPr>
          <a:xfrm>
            <a:off x="6748272" y="777240"/>
            <a:ext cx="713232" cy="713232"/>
          </a:xfrm>
          <a:prstGeom prst="ellipse">
            <a:avLst/>
          </a:prstGeom>
          <a:solidFill>
            <a:srgbClr val="9E9E9E"/>
          </a:solidFill>
          <a:ln w="12700">
            <a:solidFill>
              <a:srgbClr val="9E9E9E"/>
            </a:solidFill>
            <a:prstDash val="solid"/>
          </a:ln>
        </p:spPr>
        <p:txBody>
          <a:bodyPr/>
          <a:lstStyle/>
          <a:p>
            <a:endParaRPr lang="en-LK"/>
          </a:p>
        </p:txBody>
      </p:sp>
      <p:sp>
        <p:nvSpPr>
          <p:cNvPr id="25" name="Text 23"/>
          <p:cNvSpPr txBox="1"/>
          <p:nvPr/>
        </p:nvSpPr>
        <p:spPr>
          <a:xfrm>
            <a:off x="6748272" y="777240"/>
            <a:ext cx="713232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</a:rPr>
              <a:t>06</a:t>
            </a:r>
            <a:endParaRPr lang="en-US" sz="1300" dirty="0"/>
          </a:p>
        </p:txBody>
      </p:sp>
      <p:sp>
        <p:nvSpPr>
          <p:cNvPr id="26" name="Text 24"/>
          <p:cNvSpPr txBox="1"/>
          <p:nvPr/>
        </p:nvSpPr>
        <p:spPr>
          <a:xfrm>
            <a:off x="6537960" y="1536192"/>
            <a:ext cx="1143000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800" dirty="0">
                <a:solidFill>
                  <a:srgbClr val="9E9E9E"/>
                </a:solidFill>
              </a:rPr>
              <a:t>Frontend</a:t>
            </a:r>
            <a:endParaRPr lang="en-US" sz="800" dirty="0"/>
          </a:p>
          <a:p>
            <a:pPr marL="0" indent="0" algn="ctr">
              <a:buNone/>
            </a:pPr>
            <a:r>
              <a:rPr lang="en-US" sz="800" dirty="0">
                <a:solidFill>
                  <a:srgbClr val="9E9E9E"/>
                </a:solidFill>
              </a:rPr>
              <a:t>Integ.</a:t>
            </a:r>
            <a:endParaRPr lang="en-US" sz="800" dirty="0"/>
          </a:p>
        </p:txBody>
      </p:sp>
      <p:sp>
        <p:nvSpPr>
          <p:cNvPr id="27" name="Shape 25"/>
          <p:cNvSpPr/>
          <p:nvPr/>
        </p:nvSpPr>
        <p:spPr>
          <a:xfrm>
            <a:off x="7461504" y="1097280"/>
            <a:ext cx="274320" cy="54864"/>
          </a:xfrm>
          <a:prstGeom prst="rect">
            <a:avLst/>
          </a:prstGeom>
          <a:solidFill>
            <a:srgbClr val="9E9E9E"/>
          </a:solidFill>
          <a:ln w="12700">
            <a:solidFill>
              <a:srgbClr val="9E9E9E"/>
            </a:solidFill>
            <a:prstDash val="solid"/>
          </a:ln>
        </p:spPr>
        <p:txBody>
          <a:bodyPr/>
          <a:lstStyle/>
          <a:p>
            <a:endParaRPr lang="en-LK"/>
          </a:p>
        </p:txBody>
      </p:sp>
      <p:sp>
        <p:nvSpPr>
          <p:cNvPr id="28" name="Shape 26"/>
          <p:cNvSpPr/>
          <p:nvPr/>
        </p:nvSpPr>
        <p:spPr>
          <a:xfrm>
            <a:off x="7991856" y="777240"/>
            <a:ext cx="713232" cy="713232"/>
          </a:xfrm>
          <a:prstGeom prst="ellipse">
            <a:avLst/>
          </a:prstGeom>
          <a:solidFill>
            <a:srgbClr val="9E9E9E"/>
          </a:solidFill>
          <a:ln w="12700">
            <a:solidFill>
              <a:srgbClr val="9E9E9E"/>
            </a:solidFill>
            <a:prstDash val="solid"/>
          </a:ln>
        </p:spPr>
        <p:txBody>
          <a:bodyPr/>
          <a:lstStyle/>
          <a:p>
            <a:endParaRPr lang="en-LK"/>
          </a:p>
        </p:txBody>
      </p:sp>
      <p:sp>
        <p:nvSpPr>
          <p:cNvPr id="29" name="Text 27"/>
          <p:cNvSpPr txBox="1"/>
          <p:nvPr/>
        </p:nvSpPr>
        <p:spPr>
          <a:xfrm>
            <a:off x="7991856" y="777240"/>
            <a:ext cx="713232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</a:rPr>
              <a:t>07</a:t>
            </a:r>
            <a:endParaRPr lang="en-US" sz="1300" dirty="0"/>
          </a:p>
        </p:txBody>
      </p:sp>
      <p:sp>
        <p:nvSpPr>
          <p:cNvPr id="30" name="Text 28"/>
          <p:cNvSpPr txBox="1"/>
          <p:nvPr/>
        </p:nvSpPr>
        <p:spPr>
          <a:xfrm>
            <a:off x="7781544" y="1536192"/>
            <a:ext cx="1143000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800" dirty="0">
                <a:solidFill>
                  <a:srgbClr val="9E9E9E"/>
                </a:solidFill>
              </a:rPr>
              <a:t>Field</a:t>
            </a:r>
            <a:endParaRPr lang="en-US" sz="800" dirty="0"/>
          </a:p>
          <a:p>
            <a:pPr marL="0" indent="0" algn="ctr">
              <a:buNone/>
            </a:pPr>
            <a:r>
              <a:rPr lang="en-US" sz="800" dirty="0">
                <a:solidFill>
                  <a:srgbClr val="9E9E9E"/>
                </a:solidFill>
              </a:rPr>
              <a:t>Validation</a:t>
            </a:r>
            <a:endParaRPr lang="en-US" sz="800" dirty="0"/>
          </a:p>
        </p:txBody>
      </p:sp>
      <p:sp>
        <p:nvSpPr>
          <p:cNvPr id="31" name="Text 29"/>
          <p:cNvSpPr txBox="1"/>
          <p:nvPr/>
        </p:nvSpPr>
        <p:spPr>
          <a:xfrm>
            <a:off x="274320" y="2084832"/>
            <a:ext cx="3657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850" dirty="0">
                <a:solidFill>
                  <a:srgbClr val="9E9E9E"/>
                </a:solidFill>
              </a:rPr>
              <a:t>● Implemented  ● Future Work</a:t>
            </a:r>
            <a:endParaRPr lang="en-US" sz="850" dirty="0"/>
          </a:p>
        </p:txBody>
      </p:sp>
      <p:sp>
        <p:nvSpPr>
          <p:cNvPr id="32" name="Shape 30"/>
          <p:cNvSpPr/>
          <p:nvPr/>
        </p:nvSpPr>
        <p:spPr>
          <a:xfrm>
            <a:off x="274320" y="2423160"/>
            <a:ext cx="4206240" cy="2359152"/>
          </a:xfrm>
          <a:prstGeom prst="rect">
            <a:avLst/>
          </a:prstGeom>
          <a:solidFill>
            <a:srgbClr val="FFFFFF"/>
          </a:solidFill>
          <a:ln w="6350">
            <a:solidFill>
              <a:srgbClr val="D4DDD4"/>
            </a:solidFill>
            <a:prstDash val="solid"/>
          </a:ln>
          <a:effectLst>
            <a:outerShdw blurRad="101600" dist="38100" dir="8100000" algn="bl" rotWithShape="0">
              <a:srgbClr val="000000">
                <a:alpha val="13000"/>
              </a:srgbClr>
            </a:outerShdw>
          </a:effectLst>
        </p:spPr>
        <p:txBody>
          <a:bodyPr/>
          <a:lstStyle/>
          <a:p>
            <a:endParaRPr lang="en-LK"/>
          </a:p>
        </p:txBody>
      </p:sp>
      <p:sp>
        <p:nvSpPr>
          <p:cNvPr id="33" name="Shape 31"/>
          <p:cNvSpPr/>
          <p:nvPr/>
        </p:nvSpPr>
        <p:spPr>
          <a:xfrm>
            <a:off x="274320" y="2423160"/>
            <a:ext cx="4206240" cy="320040"/>
          </a:xfrm>
          <a:prstGeom prst="roundRect">
            <a:avLst>
              <a:gd name="adj" fmla="val 22857"/>
            </a:avLst>
          </a:prstGeom>
          <a:solidFill>
            <a:srgbClr val="2E7D32"/>
          </a:solidFill>
          <a:ln w="12700">
            <a:solidFill>
              <a:srgbClr val="2E7D32"/>
            </a:solidFill>
            <a:prstDash val="solid"/>
          </a:ln>
        </p:spPr>
        <p:txBody>
          <a:bodyPr/>
          <a:lstStyle/>
          <a:p>
            <a:endParaRPr lang="en-LK"/>
          </a:p>
        </p:txBody>
      </p:sp>
      <p:sp>
        <p:nvSpPr>
          <p:cNvPr id="34" name="Text 32"/>
          <p:cNvSpPr txBox="1"/>
          <p:nvPr/>
        </p:nvSpPr>
        <p:spPr>
          <a:xfrm>
            <a:off x="274320" y="2423160"/>
            <a:ext cx="42062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</a:rPr>
              <a:t>  IMPLEMENTED</a:t>
            </a:r>
            <a:endParaRPr lang="en-US" sz="1000" dirty="0"/>
          </a:p>
        </p:txBody>
      </p:sp>
      <p:sp>
        <p:nvSpPr>
          <p:cNvPr id="35" name="Text 33"/>
          <p:cNvSpPr txBox="1"/>
          <p:nvPr/>
        </p:nvSpPr>
        <p:spPr>
          <a:xfrm>
            <a:off x="438912" y="2816352"/>
            <a:ext cx="382219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111111"/>
                </a:solidFill>
              </a:rPr>
              <a:t>✓  MobileNetV2 models — leaf (93.30%) &amp; fruit (93.14%)</a:t>
            </a:r>
            <a:endParaRPr lang="en-US" sz="900" dirty="0"/>
          </a:p>
        </p:txBody>
      </p:sp>
      <p:sp>
        <p:nvSpPr>
          <p:cNvPr id="36" name="Text 34"/>
          <p:cNvSpPr txBox="1"/>
          <p:nvPr/>
        </p:nvSpPr>
        <p:spPr>
          <a:xfrm>
            <a:off x="438912" y="3090672"/>
            <a:ext cx="382219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111111"/>
                </a:solidFill>
              </a:rPr>
              <a:t>✓  YOLOv8m co-occurrence detection — mAP@0.5: 0.734</a:t>
            </a:r>
            <a:endParaRPr lang="en-US" sz="900" dirty="0"/>
          </a:p>
        </p:txBody>
      </p:sp>
      <p:sp>
        <p:nvSpPr>
          <p:cNvPr id="37" name="Text 35"/>
          <p:cNvSpPr txBox="1"/>
          <p:nvPr/>
        </p:nvSpPr>
        <p:spPr>
          <a:xfrm>
            <a:off x="438912" y="3364992"/>
            <a:ext cx="382219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111111"/>
                </a:solidFill>
              </a:rPr>
              <a:t>✓  U-Net severity segmentation + 7-day TRR engine</a:t>
            </a:r>
            <a:endParaRPr lang="en-US" sz="900" dirty="0"/>
          </a:p>
        </p:txBody>
      </p:sp>
      <p:sp>
        <p:nvSpPr>
          <p:cNvPr id="38" name="Text 36"/>
          <p:cNvSpPr txBox="1"/>
          <p:nvPr/>
        </p:nvSpPr>
        <p:spPr>
          <a:xfrm>
            <a:off x="438912" y="3639312"/>
            <a:ext cx="382219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111111"/>
                </a:solidFill>
              </a:rPr>
              <a:t>✓  RAG system — ChromaDB + Groq Llama 3 8B</a:t>
            </a:r>
            <a:endParaRPr lang="en-US" sz="900" dirty="0"/>
          </a:p>
        </p:txBody>
      </p:sp>
      <p:sp>
        <p:nvSpPr>
          <p:cNvPr id="39" name="Text 37"/>
          <p:cNvSpPr txBox="1"/>
          <p:nvPr/>
        </p:nvSpPr>
        <p:spPr>
          <a:xfrm>
            <a:off x="438912" y="3913632"/>
            <a:ext cx="382219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111111"/>
                </a:solidFill>
              </a:rPr>
              <a:t>✓  Flask/FastAPI backends — all 4 API endpoints live</a:t>
            </a:r>
            <a:endParaRPr lang="en-US" sz="900" dirty="0"/>
          </a:p>
        </p:txBody>
      </p:sp>
      <p:sp>
        <p:nvSpPr>
          <p:cNvPr id="40" name="Text 38"/>
          <p:cNvSpPr txBox="1"/>
          <p:nvPr/>
        </p:nvSpPr>
        <p:spPr>
          <a:xfrm>
            <a:off x="438912" y="4187952"/>
            <a:ext cx="382219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111111"/>
                </a:solidFill>
              </a:rPr>
              <a:t>✓  React Native frontend — scan, result, history screens</a:t>
            </a:r>
            <a:endParaRPr lang="en-US" sz="900" dirty="0"/>
          </a:p>
        </p:txBody>
      </p:sp>
      <p:sp>
        <p:nvSpPr>
          <p:cNvPr id="41" name="Text 39"/>
          <p:cNvSpPr txBox="1"/>
          <p:nvPr/>
        </p:nvSpPr>
        <p:spPr>
          <a:xfrm>
            <a:off x="438912" y="4462272"/>
            <a:ext cx="382219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111111"/>
                </a:solidFill>
              </a:rPr>
              <a:t>✓  MongoDB Atlas — user auth + scan history storage</a:t>
            </a:r>
            <a:endParaRPr lang="en-US" sz="900" dirty="0"/>
          </a:p>
        </p:txBody>
      </p:sp>
      <p:sp>
        <p:nvSpPr>
          <p:cNvPr id="42" name="Shape 40"/>
          <p:cNvSpPr/>
          <p:nvPr/>
        </p:nvSpPr>
        <p:spPr>
          <a:xfrm>
            <a:off x="4663440" y="2423160"/>
            <a:ext cx="4206240" cy="2359152"/>
          </a:xfrm>
          <a:prstGeom prst="rect">
            <a:avLst/>
          </a:prstGeom>
          <a:solidFill>
            <a:srgbClr val="FFFFFF"/>
          </a:solidFill>
          <a:ln w="6350">
            <a:solidFill>
              <a:srgbClr val="D4DDD4"/>
            </a:solidFill>
            <a:prstDash val="solid"/>
          </a:ln>
          <a:effectLst>
            <a:outerShdw blurRad="101600" dist="38100" dir="8100000" algn="bl" rotWithShape="0">
              <a:srgbClr val="000000">
                <a:alpha val="13000"/>
              </a:srgbClr>
            </a:outerShdw>
          </a:effectLst>
        </p:spPr>
        <p:txBody>
          <a:bodyPr/>
          <a:lstStyle/>
          <a:p>
            <a:endParaRPr lang="en-LK"/>
          </a:p>
        </p:txBody>
      </p:sp>
      <p:sp>
        <p:nvSpPr>
          <p:cNvPr id="43" name="Shape 41"/>
          <p:cNvSpPr/>
          <p:nvPr/>
        </p:nvSpPr>
        <p:spPr>
          <a:xfrm>
            <a:off x="4663440" y="2423160"/>
            <a:ext cx="4206240" cy="320040"/>
          </a:xfrm>
          <a:prstGeom prst="roundRect">
            <a:avLst>
              <a:gd name="adj" fmla="val 22857"/>
            </a:avLst>
          </a:prstGeom>
          <a:solidFill>
            <a:srgbClr val="E65100"/>
          </a:solidFill>
          <a:ln w="12700">
            <a:solidFill>
              <a:srgbClr val="E65100"/>
            </a:solidFill>
            <a:prstDash val="solid"/>
          </a:ln>
        </p:spPr>
        <p:txBody>
          <a:bodyPr/>
          <a:lstStyle/>
          <a:p>
            <a:endParaRPr lang="en-LK"/>
          </a:p>
        </p:txBody>
      </p:sp>
      <p:sp>
        <p:nvSpPr>
          <p:cNvPr id="44" name="Text 42"/>
          <p:cNvSpPr txBox="1"/>
          <p:nvPr/>
        </p:nvSpPr>
        <p:spPr>
          <a:xfrm>
            <a:off x="4663440" y="2423160"/>
            <a:ext cx="42062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</a:rPr>
              <a:t>  FUTURE WORK</a:t>
            </a:r>
            <a:endParaRPr lang="en-US" sz="1000" dirty="0"/>
          </a:p>
        </p:txBody>
      </p:sp>
      <p:sp>
        <p:nvSpPr>
          <p:cNvPr id="45" name="Text 43"/>
          <p:cNvSpPr txBox="1"/>
          <p:nvPr/>
        </p:nvSpPr>
        <p:spPr>
          <a:xfrm>
            <a:off x="4828032" y="2816352"/>
            <a:ext cx="382219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111111"/>
                </a:solidFill>
              </a:rPr>
              <a:t>→  Collect verified Sri Lankan field dataset</a:t>
            </a:r>
            <a:endParaRPr lang="en-US" sz="900" dirty="0"/>
          </a:p>
        </p:txBody>
      </p:sp>
      <p:sp>
        <p:nvSpPr>
          <p:cNvPr id="46" name="Text 44"/>
          <p:cNvSpPr txBox="1"/>
          <p:nvPr/>
        </p:nvSpPr>
        <p:spPr>
          <a:xfrm>
            <a:off x="4828032" y="3090672"/>
            <a:ext cx="382219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111111"/>
                </a:solidFill>
              </a:rPr>
              <a:t>→  Add Magnesium &amp; Calcium deficiency classes</a:t>
            </a:r>
            <a:endParaRPr lang="en-US" sz="900" dirty="0"/>
          </a:p>
        </p:txBody>
      </p:sp>
      <p:sp>
        <p:nvSpPr>
          <p:cNvPr id="47" name="Text 45"/>
          <p:cNvSpPr txBox="1"/>
          <p:nvPr/>
        </p:nvSpPr>
        <p:spPr>
          <a:xfrm>
            <a:off x="4828032" y="3364992"/>
            <a:ext cx="382219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111111"/>
                </a:solidFill>
              </a:rPr>
              <a:t>→  Implement offline TFLite inference mode</a:t>
            </a:r>
            <a:endParaRPr lang="en-US" sz="900" dirty="0"/>
          </a:p>
        </p:txBody>
      </p:sp>
      <p:sp>
        <p:nvSpPr>
          <p:cNvPr id="48" name="Text 46"/>
          <p:cNvSpPr txBox="1"/>
          <p:nvPr/>
        </p:nvSpPr>
        <p:spPr>
          <a:xfrm>
            <a:off x="4828032" y="3639312"/>
            <a:ext cx="382219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111111"/>
                </a:solidFill>
              </a:rPr>
              <a:t>→  Add Sinhala language support</a:t>
            </a:r>
            <a:endParaRPr lang="en-US" sz="900" dirty="0"/>
          </a:p>
        </p:txBody>
      </p:sp>
      <p:sp>
        <p:nvSpPr>
          <p:cNvPr id="49" name="Text 47"/>
          <p:cNvSpPr txBox="1"/>
          <p:nvPr/>
        </p:nvSpPr>
        <p:spPr>
          <a:xfrm>
            <a:off x="4828032" y="3913632"/>
            <a:ext cx="382219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111111"/>
                </a:solidFill>
              </a:rPr>
              <a:t>→  Complete Component 3 frontend integration</a:t>
            </a:r>
            <a:endParaRPr lang="en-US" sz="900" dirty="0"/>
          </a:p>
        </p:txBody>
      </p:sp>
      <p:sp>
        <p:nvSpPr>
          <p:cNvPr id="50" name="Text 48"/>
          <p:cNvSpPr txBox="1"/>
          <p:nvPr/>
        </p:nvSpPr>
        <p:spPr>
          <a:xfrm>
            <a:off x="4828032" y="4187952"/>
            <a:ext cx="382219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111111"/>
                </a:solidFill>
              </a:rPr>
              <a:t>→  Field-validate price forecasting with real farmers</a:t>
            </a:r>
            <a:endParaRPr lang="en-US" sz="900" dirty="0"/>
          </a:p>
        </p:txBody>
      </p:sp>
      <p:sp>
        <p:nvSpPr>
          <p:cNvPr id="51" name="Text 49"/>
          <p:cNvSpPr txBox="1"/>
          <p:nvPr/>
        </p:nvSpPr>
        <p:spPr>
          <a:xfrm>
            <a:off x="4828032" y="4462272"/>
            <a:ext cx="382219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111111"/>
                </a:solidFill>
              </a:rPr>
              <a:t>→  Publish Phosphorus deficiency dataset publicly</a:t>
            </a:r>
            <a:endParaRPr lang="en-US" sz="900" dirty="0"/>
          </a:p>
        </p:txBody>
      </p:sp>
      <p:sp>
        <p:nvSpPr>
          <p:cNvPr id="52" name="Shape 50"/>
          <p:cNvSpPr/>
          <p:nvPr/>
        </p:nvSpPr>
        <p:spPr>
          <a:xfrm>
            <a:off x="0" y="4892040"/>
            <a:ext cx="9144000" cy="256032"/>
          </a:xfrm>
          <a:prstGeom prst="rect">
            <a:avLst/>
          </a:prstGeom>
          <a:solidFill>
            <a:srgbClr val="1B5E20"/>
          </a:solidFill>
          <a:ln w="12700">
            <a:solidFill>
              <a:srgbClr val="1B5E20"/>
            </a:solidFill>
            <a:prstDash val="solid"/>
          </a:ln>
        </p:spPr>
        <p:txBody>
          <a:bodyPr/>
          <a:lstStyle/>
          <a:p>
            <a:endParaRPr lang="en-LK"/>
          </a:p>
        </p:txBody>
      </p:sp>
      <p:sp>
        <p:nvSpPr>
          <p:cNvPr id="53" name="Text 51"/>
          <p:cNvSpPr txBox="1"/>
          <p:nvPr/>
        </p:nvSpPr>
        <p:spPr>
          <a:xfrm>
            <a:off x="274320" y="4892040"/>
            <a:ext cx="6400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800" dirty="0">
                <a:solidFill>
                  <a:srgbClr val="C8E6C9"/>
                </a:solidFill>
              </a:rPr>
              <a:t>TomatoDoc  |  R26-SE-032  |  SLIIT Faculty of Computing</a:t>
            </a:r>
            <a:endParaRPr lang="en-US" sz="800" dirty="0"/>
          </a:p>
        </p:txBody>
      </p:sp>
      <p:sp>
        <p:nvSpPr>
          <p:cNvPr id="54" name="Text 52"/>
          <p:cNvSpPr txBox="1"/>
          <p:nvPr/>
        </p:nvSpPr>
        <p:spPr>
          <a:xfrm>
            <a:off x="8229600" y="4892040"/>
            <a:ext cx="6400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C8E6C9"/>
                </a:solidFill>
              </a:rPr>
              <a:t>8</a:t>
            </a:r>
            <a:endParaRPr lang="en-US" sz="8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4F6F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1B5E20"/>
          </a:solidFill>
          <a:ln w="12700">
            <a:solidFill>
              <a:srgbClr val="1B5E20"/>
            </a:solidFill>
            <a:prstDash val="solid"/>
          </a:ln>
        </p:spPr>
        <p:txBody>
          <a:bodyPr/>
          <a:lstStyle/>
          <a:p>
            <a:endParaRPr lang="en-LK"/>
          </a:p>
        </p:txBody>
      </p:sp>
      <p:sp>
        <p:nvSpPr>
          <p:cNvPr id="3" name="Text 1"/>
          <p:cNvSpPr txBox="1"/>
          <p:nvPr/>
        </p:nvSpPr>
        <p:spPr>
          <a:xfrm>
            <a:off x="365760" y="164592"/>
            <a:ext cx="84124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2200" b="1" dirty="0">
                <a:solidFill>
                  <a:srgbClr val="FFFFFF"/>
                </a:solidFill>
              </a:rPr>
              <a:t>Evaluation Evidence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274320" y="749808"/>
            <a:ext cx="2377440" cy="274320"/>
          </a:xfrm>
          <a:prstGeom prst="rect">
            <a:avLst/>
          </a:prstGeom>
          <a:solidFill>
            <a:srgbClr val="1B5E20"/>
          </a:solidFill>
          <a:ln w="12700">
            <a:solidFill>
              <a:srgbClr val="1B5E20"/>
            </a:solidFill>
            <a:prstDash val="solid"/>
          </a:ln>
        </p:spPr>
        <p:txBody>
          <a:bodyPr/>
          <a:lstStyle/>
          <a:p>
            <a:endParaRPr lang="en-LK"/>
          </a:p>
        </p:txBody>
      </p:sp>
      <p:sp>
        <p:nvSpPr>
          <p:cNvPr id="5" name="Text 3"/>
          <p:cNvSpPr txBox="1"/>
          <p:nvPr/>
        </p:nvSpPr>
        <p:spPr>
          <a:xfrm>
            <a:off x="310896" y="749808"/>
            <a:ext cx="230428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800" b="1" dirty="0">
                <a:solidFill>
                  <a:srgbClr val="FFFFFF"/>
                </a:solidFill>
              </a:rPr>
              <a:t>Component / Model</a:t>
            </a:r>
            <a:endParaRPr lang="en-US" sz="800" dirty="0"/>
          </a:p>
        </p:txBody>
      </p:sp>
      <p:sp>
        <p:nvSpPr>
          <p:cNvPr id="6" name="Shape 4"/>
          <p:cNvSpPr/>
          <p:nvPr/>
        </p:nvSpPr>
        <p:spPr>
          <a:xfrm>
            <a:off x="2651760" y="749808"/>
            <a:ext cx="914400" cy="274320"/>
          </a:xfrm>
          <a:prstGeom prst="rect">
            <a:avLst/>
          </a:prstGeom>
          <a:solidFill>
            <a:srgbClr val="1B5E20"/>
          </a:solidFill>
          <a:ln w="12700">
            <a:solidFill>
              <a:srgbClr val="1B5E20"/>
            </a:solidFill>
            <a:prstDash val="solid"/>
          </a:ln>
        </p:spPr>
        <p:txBody>
          <a:bodyPr/>
          <a:lstStyle/>
          <a:p>
            <a:endParaRPr lang="en-LK"/>
          </a:p>
        </p:txBody>
      </p:sp>
      <p:sp>
        <p:nvSpPr>
          <p:cNvPr id="7" name="Text 5"/>
          <p:cNvSpPr txBox="1"/>
          <p:nvPr/>
        </p:nvSpPr>
        <p:spPr>
          <a:xfrm>
            <a:off x="2688336" y="749808"/>
            <a:ext cx="84124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800" b="1" dirty="0">
                <a:solidFill>
                  <a:srgbClr val="FFFFFF"/>
                </a:solidFill>
              </a:rPr>
              <a:t>Train Acc.</a:t>
            </a:r>
            <a:endParaRPr lang="en-US" sz="800" dirty="0"/>
          </a:p>
        </p:txBody>
      </p:sp>
      <p:sp>
        <p:nvSpPr>
          <p:cNvPr id="8" name="Shape 6"/>
          <p:cNvSpPr/>
          <p:nvPr/>
        </p:nvSpPr>
        <p:spPr>
          <a:xfrm>
            <a:off x="3566160" y="749808"/>
            <a:ext cx="914400" cy="274320"/>
          </a:xfrm>
          <a:prstGeom prst="rect">
            <a:avLst/>
          </a:prstGeom>
          <a:solidFill>
            <a:srgbClr val="1B5E20"/>
          </a:solidFill>
          <a:ln w="12700">
            <a:solidFill>
              <a:srgbClr val="1B5E20"/>
            </a:solidFill>
            <a:prstDash val="solid"/>
          </a:ln>
        </p:spPr>
        <p:txBody>
          <a:bodyPr/>
          <a:lstStyle/>
          <a:p>
            <a:endParaRPr lang="en-LK"/>
          </a:p>
        </p:txBody>
      </p:sp>
      <p:sp>
        <p:nvSpPr>
          <p:cNvPr id="9" name="Text 7"/>
          <p:cNvSpPr txBox="1"/>
          <p:nvPr/>
        </p:nvSpPr>
        <p:spPr>
          <a:xfrm>
            <a:off x="3602736" y="749808"/>
            <a:ext cx="84124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800" b="1" dirty="0">
                <a:solidFill>
                  <a:srgbClr val="FFFFFF"/>
                </a:solidFill>
              </a:rPr>
              <a:t>Val Acc.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4480560" y="749808"/>
            <a:ext cx="914400" cy="274320"/>
          </a:xfrm>
          <a:prstGeom prst="rect">
            <a:avLst/>
          </a:prstGeom>
          <a:solidFill>
            <a:srgbClr val="1B5E20"/>
          </a:solidFill>
          <a:ln w="12700">
            <a:solidFill>
              <a:srgbClr val="1B5E20"/>
            </a:solidFill>
            <a:prstDash val="solid"/>
          </a:ln>
        </p:spPr>
        <p:txBody>
          <a:bodyPr/>
          <a:lstStyle/>
          <a:p>
            <a:endParaRPr lang="en-LK"/>
          </a:p>
        </p:txBody>
      </p:sp>
      <p:sp>
        <p:nvSpPr>
          <p:cNvPr id="11" name="Text 9"/>
          <p:cNvSpPr txBox="1"/>
          <p:nvPr/>
        </p:nvSpPr>
        <p:spPr>
          <a:xfrm>
            <a:off x="4517136" y="749808"/>
            <a:ext cx="84124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800" b="1" dirty="0">
                <a:solidFill>
                  <a:srgbClr val="FFFFFF"/>
                </a:solidFill>
              </a:rPr>
              <a:t>Test Acc.</a:t>
            </a:r>
            <a:endParaRPr lang="en-US" sz="800" dirty="0"/>
          </a:p>
        </p:txBody>
      </p:sp>
      <p:sp>
        <p:nvSpPr>
          <p:cNvPr id="12" name="Shape 10"/>
          <p:cNvSpPr/>
          <p:nvPr/>
        </p:nvSpPr>
        <p:spPr>
          <a:xfrm>
            <a:off x="5394960" y="749808"/>
            <a:ext cx="777240" cy="274320"/>
          </a:xfrm>
          <a:prstGeom prst="rect">
            <a:avLst/>
          </a:prstGeom>
          <a:solidFill>
            <a:srgbClr val="1B5E20"/>
          </a:solidFill>
          <a:ln w="12700">
            <a:solidFill>
              <a:srgbClr val="1B5E20"/>
            </a:solidFill>
            <a:prstDash val="solid"/>
          </a:ln>
        </p:spPr>
        <p:txBody>
          <a:bodyPr/>
          <a:lstStyle/>
          <a:p>
            <a:endParaRPr lang="en-LK"/>
          </a:p>
        </p:txBody>
      </p:sp>
      <p:sp>
        <p:nvSpPr>
          <p:cNvPr id="13" name="Text 11"/>
          <p:cNvSpPr txBox="1"/>
          <p:nvPr/>
        </p:nvSpPr>
        <p:spPr>
          <a:xfrm>
            <a:off x="5431536" y="749808"/>
            <a:ext cx="70408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800" b="1" dirty="0">
                <a:solidFill>
                  <a:srgbClr val="FFFFFF"/>
                </a:solidFill>
              </a:rPr>
              <a:t>Gap</a:t>
            </a:r>
            <a:endParaRPr lang="en-US" sz="800" dirty="0"/>
          </a:p>
        </p:txBody>
      </p:sp>
      <p:sp>
        <p:nvSpPr>
          <p:cNvPr id="14" name="Shape 12"/>
          <p:cNvSpPr/>
          <p:nvPr/>
        </p:nvSpPr>
        <p:spPr>
          <a:xfrm>
            <a:off x="6172200" y="749808"/>
            <a:ext cx="2743200" cy="274320"/>
          </a:xfrm>
          <a:prstGeom prst="rect">
            <a:avLst/>
          </a:prstGeom>
          <a:solidFill>
            <a:srgbClr val="1B5E20"/>
          </a:solidFill>
          <a:ln w="12700">
            <a:solidFill>
              <a:srgbClr val="1B5E20"/>
            </a:solidFill>
            <a:prstDash val="solid"/>
          </a:ln>
        </p:spPr>
        <p:txBody>
          <a:bodyPr/>
          <a:lstStyle/>
          <a:p>
            <a:endParaRPr lang="en-LK"/>
          </a:p>
        </p:txBody>
      </p:sp>
      <p:sp>
        <p:nvSpPr>
          <p:cNvPr id="15" name="Text 13"/>
          <p:cNvSpPr txBox="1"/>
          <p:nvPr/>
        </p:nvSpPr>
        <p:spPr>
          <a:xfrm>
            <a:off x="6208776" y="749808"/>
            <a:ext cx="267004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800" b="1" dirty="0">
                <a:solidFill>
                  <a:srgbClr val="FFFFFF"/>
                </a:solidFill>
              </a:rPr>
              <a:t>Key Metric</a:t>
            </a:r>
            <a:endParaRPr lang="en-US" sz="800" dirty="0"/>
          </a:p>
        </p:txBody>
      </p:sp>
      <p:sp>
        <p:nvSpPr>
          <p:cNvPr id="16" name="Shape 14"/>
          <p:cNvSpPr/>
          <p:nvPr/>
        </p:nvSpPr>
        <p:spPr>
          <a:xfrm>
            <a:off x="274320" y="1024128"/>
            <a:ext cx="2377440" cy="475488"/>
          </a:xfrm>
          <a:prstGeom prst="rect">
            <a:avLst/>
          </a:prstGeom>
          <a:solidFill>
            <a:srgbClr val="FFFFFF"/>
          </a:solidFill>
          <a:ln w="3810">
            <a:solidFill>
              <a:srgbClr val="D0D8D0"/>
            </a:solidFill>
            <a:prstDash val="solid"/>
          </a:ln>
        </p:spPr>
        <p:txBody>
          <a:bodyPr/>
          <a:lstStyle/>
          <a:p>
            <a:endParaRPr lang="en-LK"/>
          </a:p>
        </p:txBody>
      </p:sp>
      <p:sp>
        <p:nvSpPr>
          <p:cNvPr id="17" name="Text 15"/>
          <p:cNvSpPr txBox="1"/>
          <p:nvPr/>
        </p:nvSpPr>
        <p:spPr>
          <a:xfrm>
            <a:off x="310896" y="1024128"/>
            <a:ext cx="2304288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800" dirty="0">
                <a:solidFill>
                  <a:srgbClr val="111111"/>
                </a:solidFill>
              </a:rPr>
              <a:t>Component 1 — Nutrient Deficiency (MobileNetV2)</a:t>
            </a:r>
            <a:endParaRPr lang="en-US" sz="800" dirty="0"/>
          </a:p>
        </p:txBody>
      </p:sp>
      <p:sp>
        <p:nvSpPr>
          <p:cNvPr id="18" name="Shape 16"/>
          <p:cNvSpPr/>
          <p:nvPr/>
        </p:nvSpPr>
        <p:spPr>
          <a:xfrm>
            <a:off x="2651760" y="1024128"/>
            <a:ext cx="914400" cy="475488"/>
          </a:xfrm>
          <a:prstGeom prst="rect">
            <a:avLst/>
          </a:prstGeom>
          <a:solidFill>
            <a:srgbClr val="FFFFFF"/>
          </a:solidFill>
          <a:ln w="3810">
            <a:solidFill>
              <a:srgbClr val="D0D8D0"/>
            </a:solidFill>
            <a:prstDash val="solid"/>
          </a:ln>
        </p:spPr>
        <p:txBody>
          <a:bodyPr/>
          <a:lstStyle/>
          <a:p>
            <a:endParaRPr lang="en-LK"/>
          </a:p>
        </p:txBody>
      </p:sp>
      <p:sp>
        <p:nvSpPr>
          <p:cNvPr id="19" name="Text 17"/>
          <p:cNvSpPr txBox="1"/>
          <p:nvPr/>
        </p:nvSpPr>
        <p:spPr>
          <a:xfrm>
            <a:off x="2688336" y="1024128"/>
            <a:ext cx="841248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800" dirty="0">
                <a:solidFill>
                  <a:srgbClr val="111111"/>
                </a:solidFill>
              </a:rPr>
              <a:t>95.49%</a:t>
            </a:r>
            <a:endParaRPr lang="en-US" sz="800" dirty="0"/>
          </a:p>
        </p:txBody>
      </p:sp>
      <p:sp>
        <p:nvSpPr>
          <p:cNvPr id="20" name="Shape 18"/>
          <p:cNvSpPr/>
          <p:nvPr/>
        </p:nvSpPr>
        <p:spPr>
          <a:xfrm>
            <a:off x="3566160" y="1024128"/>
            <a:ext cx="914400" cy="475488"/>
          </a:xfrm>
          <a:prstGeom prst="rect">
            <a:avLst/>
          </a:prstGeom>
          <a:solidFill>
            <a:srgbClr val="FFFFFF"/>
          </a:solidFill>
          <a:ln w="3810">
            <a:solidFill>
              <a:srgbClr val="D0D8D0"/>
            </a:solidFill>
            <a:prstDash val="solid"/>
          </a:ln>
        </p:spPr>
        <p:txBody>
          <a:bodyPr/>
          <a:lstStyle/>
          <a:p>
            <a:endParaRPr lang="en-LK"/>
          </a:p>
        </p:txBody>
      </p:sp>
      <p:sp>
        <p:nvSpPr>
          <p:cNvPr id="21" name="Text 19"/>
          <p:cNvSpPr txBox="1"/>
          <p:nvPr/>
        </p:nvSpPr>
        <p:spPr>
          <a:xfrm>
            <a:off x="3602736" y="1024128"/>
            <a:ext cx="841248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800" dirty="0">
                <a:solidFill>
                  <a:srgbClr val="111111"/>
                </a:solidFill>
              </a:rPr>
              <a:t>94.57%</a:t>
            </a:r>
            <a:endParaRPr lang="en-US" sz="800" dirty="0"/>
          </a:p>
        </p:txBody>
      </p:sp>
      <p:sp>
        <p:nvSpPr>
          <p:cNvPr id="22" name="Shape 20"/>
          <p:cNvSpPr/>
          <p:nvPr/>
        </p:nvSpPr>
        <p:spPr>
          <a:xfrm>
            <a:off x="4480560" y="1024128"/>
            <a:ext cx="914400" cy="475488"/>
          </a:xfrm>
          <a:prstGeom prst="rect">
            <a:avLst/>
          </a:prstGeom>
          <a:solidFill>
            <a:srgbClr val="E8F5E9"/>
          </a:solidFill>
          <a:ln w="3810">
            <a:solidFill>
              <a:srgbClr val="D0D8D0"/>
            </a:solidFill>
            <a:prstDash val="solid"/>
          </a:ln>
        </p:spPr>
        <p:txBody>
          <a:bodyPr/>
          <a:lstStyle/>
          <a:p>
            <a:endParaRPr lang="en-LK"/>
          </a:p>
        </p:txBody>
      </p:sp>
      <p:sp>
        <p:nvSpPr>
          <p:cNvPr id="23" name="Text 21"/>
          <p:cNvSpPr txBox="1"/>
          <p:nvPr/>
        </p:nvSpPr>
        <p:spPr>
          <a:xfrm>
            <a:off x="4517136" y="1024128"/>
            <a:ext cx="841248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800" b="1" dirty="0">
                <a:solidFill>
                  <a:srgbClr val="1B5E20"/>
                </a:solidFill>
              </a:rPr>
              <a:t>93.30%</a:t>
            </a:r>
            <a:endParaRPr lang="en-US" sz="800" dirty="0"/>
          </a:p>
        </p:txBody>
      </p:sp>
      <p:sp>
        <p:nvSpPr>
          <p:cNvPr id="24" name="Shape 22"/>
          <p:cNvSpPr/>
          <p:nvPr/>
        </p:nvSpPr>
        <p:spPr>
          <a:xfrm>
            <a:off x="5394960" y="1024128"/>
            <a:ext cx="777240" cy="475488"/>
          </a:xfrm>
          <a:prstGeom prst="rect">
            <a:avLst/>
          </a:prstGeom>
          <a:solidFill>
            <a:srgbClr val="FFFFFF"/>
          </a:solidFill>
          <a:ln w="3810">
            <a:solidFill>
              <a:srgbClr val="D0D8D0"/>
            </a:solidFill>
            <a:prstDash val="solid"/>
          </a:ln>
        </p:spPr>
        <p:txBody>
          <a:bodyPr/>
          <a:lstStyle/>
          <a:p>
            <a:endParaRPr lang="en-LK"/>
          </a:p>
        </p:txBody>
      </p:sp>
      <p:sp>
        <p:nvSpPr>
          <p:cNvPr id="25" name="Text 23"/>
          <p:cNvSpPr txBox="1"/>
          <p:nvPr/>
        </p:nvSpPr>
        <p:spPr>
          <a:xfrm>
            <a:off x="5431536" y="1024128"/>
            <a:ext cx="704088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800" dirty="0">
                <a:solidFill>
                  <a:srgbClr val="111111"/>
                </a:solidFill>
              </a:rPr>
              <a:t>0.92%</a:t>
            </a:r>
            <a:endParaRPr lang="en-US" sz="800" dirty="0"/>
          </a:p>
        </p:txBody>
      </p:sp>
      <p:sp>
        <p:nvSpPr>
          <p:cNvPr id="26" name="Shape 24"/>
          <p:cNvSpPr/>
          <p:nvPr/>
        </p:nvSpPr>
        <p:spPr>
          <a:xfrm>
            <a:off x="6172200" y="1024128"/>
            <a:ext cx="2743200" cy="475488"/>
          </a:xfrm>
          <a:prstGeom prst="rect">
            <a:avLst/>
          </a:prstGeom>
          <a:solidFill>
            <a:srgbClr val="FFFFFF"/>
          </a:solidFill>
          <a:ln w="3810">
            <a:solidFill>
              <a:srgbClr val="D0D8D0"/>
            </a:solidFill>
            <a:prstDash val="solid"/>
          </a:ln>
        </p:spPr>
        <p:txBody>
          <a:bodyPr/>
          <a:lstStyle/>
          <a:p>
            <a:endParaRPr lang="en-LK"/>
          </a:p>
        </p:txBody>
      </p:sp>
      <p:sp>
        <p:nvSpPr>
          <p:cNvPr id="27" name="Text 25"/>
          <p:cNvSpPr txBox="1"/>
          <p:nvPr/>
        </p:nvSpPr>
        <p:spPr>
          <a:xfrm>
            <a:off x="6208776" y="1024128"/>
            <a:ext cx="2670048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800" dirty="0">
                <a:solidFill>
                  <a:srgbClr val="111111"/>
                </a:solidFill>
              </a:rPr>
              <a:t>Phosphorus: 100% accuracy despite 20 images</a:t>
            </a:r>
            <a:endParaRPr lang="en-US" sz="800" dirty="0"/>
          </a:p>
        </p:txBody>
      </p:sp>
      <p:sp>
        <p:nvSpPr>
          <p:cNvPr id="28" name="Shape 26"/>
          <p:cNvSpPr/>
          <p:nvPr/>
        </p:nvSpPr>
        <p:spPr>
          <a:xfrm>
            <a:off x="274320" y="1499616"/>
            <a:ext cx="2377440" cy="475488"/>
          </a:xfrm>
          <a:prstGeom prst="rect">
            <a:avLst/>
          </a:prstGeom>
          <a:solidFill>
            <a:srgbClr val="E8EDE8"/>
          </a:solidFill>
          <a:ln w="3810">
            <a:solidFill>
              <a:srgbClr val="D0D8D0"/>
            </a:solidFill>
            <a:prstDash val="solid"/>
          </a:ln>
        </p:spPr>
        <p:txBody>
          <a:bodyPr/>
          <a:lstStyle/>
          <a:p>
            <a:endParaRPr lang="en-LK"/>
          </a:p>
        </p:txBody>
      </p:sp>
      <p:sp>
        <p:nvSpPr>
          <p:cNvPr id="29" name="Text 27"/>
          <p:cNvSpPr txBox="1"/>
          <p:nvPr/>
        </p:nvSpPr>
        <p:spPr>
          <a:xfrm>
            <a:off x="310896" y="1499616"/>
            <a:ext cx="2304288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800" dirty="0">
                <a:solidFill>
                  <a:srgbClr val="111111"/>
                </a:solidFill>
              </a:rPr>
              <a:t>Component 1 — Fruit Disease (MobileNetV2)</a:t>
            </a:r>
            <a:endParaRPr lang="en-US" sz="800" dirty="0"/>
          </a:p>
        </p:txBody>
      </p:sp>
      <p:sp>
        <p:nvSpPr>
          <p:cNvPr id="30" name="Shape 28"/>
          <p:cNvSpPr/>
          <p:nvPr/>
        </p:nvSpPr>
        <p:spPr>
          <a:xfrm>
            <a:off x="2651760" y="1499616"/>
            <a:ext cx="914400" cy="475488"/>
          </a:xfrm>
          <a:prstGeom prst="rect">
            <a:avLst/>
          </a:prstGeom>
          <a:solidFill>
            <a:srgbClr val="E8EDE8"/>
          </a:solidFill>
          <a:ln w="3810">
            <a:solidFill>
              <a:srgbClr val="D0D8D0"/>
            </a:solidFill>
            <a:prstDash val="solid"/>
          </a:ln>
        </p:spPr>
        <p:txBody>
          <a:bodyPr/>
          <a:lstStyle/>
          <a:p>
            <a:endParaRPr lang="en-LK"/>
          </a:p>
        </p:txBody>
      </p:sp>
      <p:sp>
        <p:nvSpPr>
          <p:cNvPr id="31" name="Text 29"/>
          <p:cNvSpPr txBox="1"/>
          <p:nvPr/>
        </p:nvSpPr>
        <p:spPr>
          <a:xfrm>
            <a:off x="2688336" y="1499616"/>
            <a:ext cx="841248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800" dirty="0">
                <a:solidFill>
                  <a:srgbClr val="111111"/>
                </a:solidFill>
              </a:rPr>
              <a:t>96.38%</a:t>
            </a:r>
            <a:endParaRPr lang="en-US" sz="800" dirty="0"/>
          </a:p>
        </p:txBody>
      </p:sp>
      <p:sp>
        <p:nvSpPr>
          <p:cNvPr id="32" name="Shape 30"/>
          <p:cNvSpPr/>
          <p:nvPr/>
        </p:nvSpPr>
        <p:spPr>
          <a:xfrm>
            <a:off x="3566160" y="1499616"/>
            <a:ext cx="914400" cy="475488"/>
          </a:xfrm>
          <a:prstGeom prst="rect">
            <a:avLst/>
          </a:prstGeom>
          <a:solidFill>
            <a:srgbClr val="E8EDE8"/>
          </a:solidFill>
          <a:ln w="3810">
            <a:solidFill>
              <a:srgbClr val="D0D8D0"/>
            </a:solidFill>
            <a:prstDash val="solid"/>
          </a:ln>
        </p:spPr>
        <p:txBody>
          <a:bodyPr/>
          <a:lstStyle/>
          <a:p>
            <a:endParaRPr lang="en-LK"/>
          </a:p>
        </p:txBody>
      </p:sp>
      <p:sp>
        <p:nvSpPr>
          <p:cNvPr id="33" name="Text 31"/>
          <p:cNvSpPr txBox="1"/>
          <p:nvPr/>
        </p:nvSpPr>
        <p:spPr>
          <a:xfrm>
            <a:off x="3602736" y="1499616"/>
            <a:ext cx="841248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800" dirty="0">
                <a:solidFill>
                  <a:srgbClr val="111111"/>
                </a:solidFill>
              </a:rPr>
              <a:t>93.42%</a:t>
            </a:r>
            <a:endParaRPr lang="en-US" sz="800" dirty="0"/>
          </a:p>
        </p:txBody>
      </p:sp>
      <p:sp>
        <p:nvSpPr>
          <p:cNvPr id="34" name="Shape 32"/>
          <p:cNvSpPr/>
          <p:nvPr/>
        </p:nvSpPr>
        <p:spPr>
          <a:xfrm>
            <a:off x="4480560" y="1499616"/>
            <a:ext cx="914400" cy="475488"/>
          </a:xfrm>
          <a:prstGeom prst="rect">
            <a:avLst/>
          </a:prstGeom>
          <a:solidFill>
            <a:srgbClr val="E8F5E9"/>
          </a:solidFill>
          <a:ln w="3810">
            <a:solidFill>
              <a:srgbClr val="D0D8D0"/>
            </a:solidFill>
            <a:prstDash val="solid"/>
          </a:ln>
        </p:spPr>
        <p:txBody>
          <a:bodyPr/>
          <a:lstStyle/>
          <a:p>
            <a:endParaRPr lang="en-LK"/>
          </a:p>
        </p:txBody>
      </p:sp>
      <p:sp>
        <p:nvSpPr>
          <p:cNvPr id="35" name="Text 33"/>
          <p:cNvSpPr txBox="1"/>
          <p:nvPr/>
        </p:nvSpPr>
        <p:spPr>
          <a:xfrm>
            <a:off x="4517136" y="1499616"/>
            <a:ext cx="841248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800" b="1" dirty="0">
                <a:solidFill>
                  <a:srgbClr val="1B5E20"/>
                </a:solidFill>
              </a:rPr>
              <a:t>93.14%</a:t>
            </a:r>
            <a:endParaRPr lang="en-US" sz="800" dirty="0"/>
          </a:p>
        </p:txBody>
      </p:sp>
      <p:sp>
        <p:nvSpPr>
          <p:cNvPr id="36" name="Shape 34"/>
          <p:cNvSpPr/>
          <p:nvPr/>
        </p:nvSpPr>
        <p:spPr>
          <a:xfrm>
            <a:off x="5394960" y="1499616"/>
            <a:ext cx="777240" cy="475488"/>
          </a:xfrm>
          <a:prstGeom prst="rect">
            <a:avLst/>
          </a:prstGeom>
          <a:solidFill>
            <a:srgbClr val="E8EDE8"/>
          </a:solidFill>
          <a:ln w="3810">
            <a:solidFill>
              <a:srgbClr val="D0D8D0"/>
            </a:solidFill>
            <a:prstDash val="solid"/>
          </a:ln>
        </p:spPr>
        <p:txBody>
          <a:bodyPr/>
          <a:lstStyle/>
          <a:p>
            <a:endParaRPr lang="en-LK"/>
          </a:p>
        </p:txBody>
      </p:sp>
      <p:sp>
        <p:nvSpPr>
          <p:cNvPr id="37" name="Text 35"/>
          <p:cNvSpPr txBox="1"/>
          <p:nvPr/>
        </p:nvSpPr>
        <p:spPr>
          <a:xfrm>
            <a:off x="5431536" y="1499616"/>
            <a:ext cx="704088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800" dirty="0">
                <a:solidFill>
                  <a:srgbClr val="111111"/>
                </a:solidFill>
              </a:rPr>
              <a:t>2.97%</a:t>
            </a:r>
            <a:endParaRPr lang="en-US" sz="800" dirty="0"/>
          </a:p>
        </p:txBody>
      </p:sp>
      <p:sp>
        <p:nvSpPr>
          <p:cNvPr id="38" name="Shape 36"/>
          <p:cNvSpPr/>
          <p:nvPr/>
        </p:nvSpPr>
        <p:spPr>
          <a:xfrm>
            <a:off x="6172200" y="1499616"/>
            <a:ext cx="2743200" cy="475488"/>
          </a:xfrm>
          <a:prstGeom prst="rect">
            <a:avLst/>
          </a:prstGeom>
          <a:solidFill>
            <a:srgbClr val="E8EDE8"/>
          </a:solidFill>
          <a:ln w="3810">
            <a:solidFill>
              <a:srgbClr val="D0D8D0"/>
            </a:solidFill>
            <a:prstDash val="solid"/>
          </a:ln>
        </p:spPr>
        <p:txBody>
          <a:bodyPr/>
          <a:lstStyle/>
          <a:p>
            <a:endParaRPr lang="en-LK"/>
          </a:p>
        </p:txBody>
      </p:sp>
      <p:sp>
        <p:nvSpPr>
          <p:cNvPr id="39" name="Text 37"/>
          <p:cNvSpPr txBox="1"/>
          <p:nvPr/>
        </p:nvSpPr>
        <p:spPr>
          <a:xfrm>
            <a:off x="6208776" y="1499616"/>
            <a:ext cx="2670048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800" dirty="0">
                <a:solidFill>
                  <a:srgbClr val="111111"/>
                </a:solidFill>
              </a:rPr>
              <a:t>Healthy Tomato: highest confidence class</a:t>
            </a:r>
            <a:endParaRPr lang="en-US" sz="800" dirty="0"/>
          </a:p>
        </p:txBody>
      </p:sp>
      <p:sp>
        <p:nvSpPr>
          <p:cNvPr id="40" name="Shape 38"/>
          <p:cNvSpPr/>
          <p:nvPr/>
        </p:nvSpPr>
        <p:spPr>
          <a:xfrm>
            <a:off x="274320" y="1975104"/>
            <a:ext cx="2377440" cy="475488"/>
          </a:xfrm>
          <a:prstGeom prst="rect">
            <a:avLst/>
          </a:prstGeom>
          <a:solidFill>
            <a:srgbClr val="FFFFFF"/>
          </a:solidFill>
          <a:ln w="3810">
            <a:solidFill>
              <a:srgbClr val="D0D8D0"/>
            </a:solidFill>
            <a:prstDash val="solid"/>
          </a:ln>
        </p:spPr>
        <p:txBody>
          <a:bodyPr/>
          <a:lstStyle/>
          <a:p>
            <a:endParaRPr lang="en-LK"/>
          </a:p>
        </p:txBody>
      </p:sp>
      <p:sp>
        <p:nvSpPr>
          <p:cNvPr id="41" name="Text 39"/>
          <p:cNvSpPr txBox="1"/>
          <p:nvPr/>
        </p:nvSpPr>
        <p:spPr>
          <a:xfrm>
            <a:off x="310896" y="1975104"/>
            <a:ext cx="2304288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800" dirty="0">
                <a:solidFill>
                  <a:srgbClr val="111111"/>
                </a:solidFill>
              </a:rPr>
              <a:t>Component 2 — Leaf Disease (YOLOv8m)</a:t>
            </a:r>
            <a:endParaRPr lang="en-US" sz="800" dirty="0"/>
          </a:p>
        </p:txBody>
      </p:sp>
      <p:sp>
        <p:nvSpPr>
          <p:cNvPr id="42" name="Shape 40"/>
          <p:cNvSpPr/>
          <p:nvPr/>
        </p:nvSpPr>
        <p:spPr>
          <a:xfrm>
            <a:off x="2651760" y="1975104"/>
            <a:ext cx="914400" cy="475488"/>
          </a:xfrm>
          <a:prstGeom prst="rect">
            <a:avLst/>
          </a:prstGeom>
          <a:solidFill>
            <a:srgbClr val="FFFFFF"/>
          </a:solidFill>
          <a:ln w="3810">
            <a:solidFill>
              <a:srgbClr val="D0D8D0"/>
            </a:solidFill>
            <a:prstDash val="solid"/>
          </a:ln>
        </p:spPr>
        <p:txBody>
          <a:bodyPr/>
          <a:lstStyle/>
          <a:p>
            <a:endParaRPr lang="en-LK"/>
          </a:p>
        </p:txBody>
      </p:sp>
      <p:sp>
        <p:nvSpPr>
          <p:cNvPr id="43" name="Text 41"/>
          <p:cNvSpPr txBox="1"/>
          <p:nvPr/>
        </p:nvSpPr>
        <p:spPr>
          <a:xfrm>
            <a:off x="2688336" y="1975104"/>
            <a:ext cx="841248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800" dirty="0">
                <a:solidFill>
                  <a:srgbClr val="111111"/>
                </a:solidFill>
              </a:rPr>
              <a:t>—</a:t>
            </a:r>
            <a:endParaRPr lang="en-US" sz="800" dirty="0"/>
          </a:p>
        </p:txBody>
      </p:sp>
      <p:sp>
        <p:nvSpPr>
          <p:cNvPr id="44" name="Shape 42"/>
          <p:cNvSpPr/>
          <p:nvPr/>
        </p:nvSpPr>
        <p:spPr>
          <a:xfrm>
            <a:off x="3566160" y="1975104"/>
            <a:ext cx="914400" cy="475488"/>
          </a:xfrm>
          <a:prstGeom prst="rect">
            <a:avLst/>
          </a:prstGeom>
          <a:solidFill>
            <a:srgbClr val="FFFFFF"/>
          </a:solidFill>
          <a:ln w="3810">
            <a:solidFill>
              <a:srgbClr val="D0D8D0"/>
            </a:solidFill>
            <a:prstDash val="solid"/>
          </a:ln>
        </p:spPr>
        <p:txBody>
          <a:bodyPr/>
          <a:lstStyle/>
          <a:p>
            <a:endParaRPr lang="en-LK"/>
          </a:p>
        </p:txBody>
      </p:sp>
      <p:sp>
        <p:nvSpPr>
          <p:cNvPr id="45" name="Text 43"/>
          <p:cNvSpPr txBox="1"/>
          <p:nvPr/>
        </p:nvSpPr>
        <p:spPr>
          <a:xfrm>
            <a:off x="3602736" y="1975104"/>
            <a:ext cx="841248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800" dirty="0">
                <a:solidFill>
                  <a:srgbClr val="111111"/>
                </a:solidFill>
              </a:rPr>
              <a:t>—</a:t>
            </a:r>
            <a:endParaRPr lang="en-US" sz="800" dirty="0"/>
          </a:p>
        </p:txBody>
      </p:sp>
      <p:sp>
        <p:nvSpPr>
          <p:cNvPr id="46" name="Shape 44"/>
          <p:cNvSpPr/>
          <p:nvPr/>
        </p:nvSpPr>
        <p:spPr>
          <a:xfrm>
            <a:off x="4480560" y="1975104"/>
            <a:ext cx="914400" cy="475488"/>
          </a:xfrm>
          <a:prstGeom prst="rect">
            <a:avLst/>
          </a:prstGeom>
          <a:solidFill>
            <a:srgbClr val="FFFFFF"/>
          </a:solidFill>
          <a:ln w="3810">
            <a:solidFill>
              <a:srgbClr val="D0D8D0"/>
            </a:solidFill>
            <a:prstDash val="solid"/>
          </a:ln>
        </p:spPr>
        <p:txBody>
          <a:bodyPr/>
          <a:lstStyle/>
          <a:p>
            <a:endParaRPr lang="en-LK"/>
          </a:p>
        </p:txBody>
      </p:sp>
      <p:sp>
        <p:nvSpPr>
          <p:cNvPr id="47" name="Text 45"/>
          <p:cNvSpPr txBox="1"/>
          <p:nvPr/>
        </p:nvSpPr>
        <p:spPr>
          <a:xfrm>
            <a:off x="4517136" y="1975104"/>
            <a:ext cx="841248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800" dirty="0">
                <a:solidFill>
                  <a:srgbClr val="111111"/>
                </a:solidFill>
              </a:rPr>
              <a:t>—</a:t>
            </a:r>
            <a:endParaRPr lang="en-US" sz="800" dirty="0"/>
          </a:p>
        </p:txBody>
      </p:sp>
      <p:sp>
        <p:nvSpPr>
          <p:cNvPr id="48" name="Shape 46"/>
          <p:cNvSpPr/>
          <p:nvPr/>
        </p:nvSpPr>
        <p:spPr>
          <a:xfrm>
            <a:off x="5394960" y="1975104"/>
            <a:ext cx="777240" cy="475488"/>
          </a:xfrm>
          <a:prstGeom prst="rect">
            <a:avLst/>
          </a:prstGeom>
          <a:solidFill>
            <a:srgbClr val="FFFFFF"/>
          </a:solidFill>
          <a:ln w="3810">
            <a:solidFill>
              <a:srgbClr val="D0D8D0"/>
            </a:solidFill>
            <a:prstDash val="solid"/>
          </a:ln>
        </p:spPr>
        <p:txBody>
          <a:bodyPr/>
          <a:lstStyle/>
          <a:p>
            <a:endParaRPr lang="en-LK"/>
          </a:p>
        </p:txBody>
      </p:sp>
      <p:sp>
        <p:nvSpPr>
          <p:cNvPr id="49" name="Text 47"/>
          <p:cNvSpPr txBox="1"/>
          <p:nvPr/>
        </p:nvSpPr>
        <p:spPr>
          <a:xfrm>
            <a:off x="5431536" y="1975104"/>
            <a:ext cx="704088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800" dirty="0">
                <a:solidFill>
                  <a:srgbClr val="111111"/>
                </a:solidFill>
              </a:rPr>
              <a:t>—</a:t>
            </a:r>
            <a:endParaRPr lang="en-US" sz="800" dirty="0"/>
          </a:p>
        </p:txBody>
      </p:sp>
      <p:sp>
        <p:nvSpPr>
          <p:cNvPr id="50" name="Shape 48"/>
          <p:cNvSpPr/>
          <p:nvPr/>
        </p:nvSpPr>
        <p:spPr>
          <a:xfrm>
            <a:off x="6172200" y="1975104"/>
            <a:ext cx="2743200" cy="475488"/>
          </a:xfrm>
          <a:prstGeom prst="rect">
            <a:avLst/>
          </a:prstGeom>
          <a:solidFill>
            <a:srgbClr val="FFFFFF"/>
          </a:solidFill>
          <a:ln w="3810">
            <a:solidFill>
              <a:srgbClr val="D0D8D0"/>
            </a:solidFill>
            <a:prstDash val="solid"/>
          </a:ln>
        </p:spPr>
        <p:txBody>
          <a:bodyPr/>
          <a:lstStyle/>
          <a:p>
            <a:endParaRPr lang="en-LK"/>
          </a:p>
        </p:txBody>
      </p:sp>
      <p:sp>
        <p:nvSpPr>
          <p:cNvPr id="51" name="Text 49"/>
          <p:cNvSpPr txBox="1"/>
          <p:nvPr/>
        </p:nvSpPr>
        <p:spPr>
          <a:xfrm>
            <a:off x="6208776" y="1975104"/>
            <a:ext cx="2670048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800" dirty="0">
                <a:solidFill>
                  <a:srgbClr val="111111"/>
                </a:solidFill>
              </a:rPr>
              <a:t>mAP@0.5: 0.734 | F1: 0.709 | Precision: 0.720</a:t>
            </a:r>
            <a:endParaRPr lang="en-US" sz="800" dirty="0"/>
          </a:p>
        </p:txBody>
      </p:sp>
      <p:sp>
        <p:nvSpPr>
          <p:cNvPr id="52" name="Shape 50"/>
          <p:cNvSpPr/>
          <p:nvPr/>
        </p:nvSpPr>
        <p:spPr>
          <a:xfrm>
            <a:off x="274320" y="2450592"/>
            <a:ext cx="2377440" cy="475488"/>
          </a:xfrm>
          <a:prstGeom prst="rect">
            <a:avLst/>
          </a:prstGeom>
          <a:solidFill>
            <a:srgbClr val="E8EDE8"/>
          </a:solidFill>
          <a:ln w="3810">
            <a:solidFill>
              <a:srgbClr val="D0D8D0"/>
            </a:solidFill>
            <a:prstDash val="solid"/>
          </a:ln>
        </p:spPr>
        <p:txBody>
          <a:bodyPr/>
          <a:lstStyle/>
          <a:p>
            <a:endParaRPr lang="en-LK"/>
          </a:p>
        </p:txBody>
      </p:sp>
      <p:sp>
        <p:nvSpPr>
          <p:cNvPr id="53" name="Text 51"/>
          <p:cNvSpPr txBox="1"/>
          <p:nvPr/>
        </p:nvSpPr>
        <p:spPr>
          <a:xfrm>
            <a:off x="310896" y="2450592"/>
            <a:ext cx="2304288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800" dirty="0">
                <a:solidFill>
                  <a:srgbClr val="111111"/>
                </a:solidFill>
              </a:rPr>
              <a:t>Component 3 — Quality Gate (MobileNetV2)</a:t>
            </a:r>
            <a:endParaRPr lang="en-US" sz="800" dirty="0"/>
          </a:p>
        </p:txBody>
      </p:sp>
      <p:sp>
        <p:nvSpPr>
          <p:cNvPr id="54" name="Shape 52"/>
          <p:cNvSpPr/>
          <p:nvPr/>
        </p:nvSpPr>
        <p:spPr>
          <a:xfrm>
            <a:off x="2651760" y="2450592"/>
            <a:ext cx="914400" cy="475488"/>
          </a:xfrm>
          <a:prstGeom prst="rect">
            <a:avLst/>
          </a:prstGeom>
          <a:solidFill>
            <a:srgbClr val="E8EDE8"/>
          </a:solidFill>
          <a:ln w="3810">
            <a:solidFill>
              <a:srgbClr val="D0D8D0"/>
            </a:solidFill>
            <a:prstDash val="solid"/>
          </a:ln>
        </p:spPr>
        <p:txBody>
          <a:bodyPr/>
          <a:lstStyle/>
          <a:p>
            <a:endParaRPr lang="en-LK"/>
          </a:p>
        </p:txBody>
      </p:sp>
      <p:sp>
        <p:nvSpPr>
          <p:cNvPr id="55" name="Text 53"/>
          <p:cNvSpPr txBox="1"/>
          <p:nvPr/>
        </p:nvSpPr>
        <p:spPr>
          <a:xfrm>
            <a:off x="2688336" y="2450592"/>
            <a:ext cx="841248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800" dirty="0">
                <a:solidFill>
                  <a:srgbClr val="111111"/>
                </a:solidFill>
              </a:rPr>
              <a:t>93.45%</a:t>
            </a:r>
            <a:endParaRPr lang="en-US" sz="800" dirty="0"/>
          </a:p>
        </p:txBody>
      </p:sp>
      <p:sp>
        <p:nvSpPr>
          <p:cNvPr id="56" name="Shape 54"/>
          <p:cNvSpPr/>
          <p:nvPr/>
        </p:nvSpPr>
        <p:spPr>
          <a:xfrm>
            <a:off x="3566160" y="2450592"/>
            <a:ext cx="914400" cy="475488"/>
          </a:xfrm>
          <a:prstGeom prst="rect">
            <a:avLst/>
          </a:prstGeom>
          <a:solidFill>
            <a:srgbClr val="E8EDE8"/>
          </a:solidFill>
          <a:ln w="3810">
            <a:solidFill>
              <a:srgbClr val="D0D8D0"/>
            </a:solidFill>
            <a:prstDash val="solid"/>
          </a:ln>
        </p:spPr>
        <p:txBody>
          <a:bodyPr/>
          <a:lstStyle/>
          <a:p>
            <a:endParaRPr lang="en-LK"/>
          </a:p>
        </p:txBody>
      </p:sp>
      <p:sp>
        <p:nvSpPr>
          <p:cNvPr id="57" name="Text 55"/>
          <p:cNvSpPr txBox="1"/>
          <p:nvPr/>
        </p:nvSpPr>
        <p:spPr>
          <a:xfrm>
            <a:off x="3602736" y="2450592"/>
            <a:ext cx="841248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800" dirty="0">
                <a:solidFill>
                  <a:srgbClr val="111111"/>
                </a:solidFill>
              </a:rPr>
              <a:t>92.75%</a:t>
            </a:r>
            <a:endParaRPr lang="en-US" sz="800" dirty="0"/>
          </a:p>
        </p:txBody>
      </p:sp>
      <p:sp>
        <p:nvSpPr>
          <p:cNvPr id="58" name="Shape 56"/>
          <p:cNvSpPr/>
          <p:nvPr/>
        </p:nvSpPr>
        <p:spPr>
          <a:xfrm>
            <a:off x="4480560" y="2450592"/>
            <a:ext cx="914400" cy="475488"/>
          </a:xfrm>
          <a:prstGeom prst="rect">
            <a:avLst/>
          </a:prstGeom>
          <a:solidFill>
            <a:srgbClr val="E8EDE8"/>
          </a:solidFill>
          <a:ln w="3810">
            <a:solidFill>
              <a:srgbClr val="D0D8D0"/>
            </a:solidFill>
            <a:prstDash val="solid"/>
          </a:ln>
        </p:spPr>
        <p:txBody>
          <a:bodyPr/>
          <a:lstStyle/>
          <a:p>
            <a:endParaRPr lang="en-LK"/>
          </a:p>
        </p:txBody>
      </p:sp>
      <p:sp>
        <p:nvSpPr>
          <p:cNvPr id="59" name="Text 57"/>
          <p:cNvSpPr txBox="1"/>
          <p:nvPr/>
        </p:nvSpPr>
        <p:spPr>
          <a:xfrm>
            <a:off x="4517136" y="2450592"/>
            <a:ext cx="841248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800" dirty="0">
                <a:solidFill>
                  <a:srgbClr val="111111"/>
                </a:solidFill>
              </a:rPr>
              <a:t>91.21%</a:t>
            </a:r>
            <a:endParaRPr lang="en-US" sz="800" dirty="0"/>
          </a:p>
        </p:txBody>
      </p:sp>
      <p:sp>
        <p:nvSpPr>
          <p:cNvPr id="60" name="Shape 58"/>
          <p:cNvSpPr/>
          <p:nvPr/>
        </p:nvSpPr>
        <p:spPr>
          <a:xfrm>
            <a:off x="5394960" y="2450592"/>
            <a:ext cx="777240" cy="475488"/>
          </a:xfrm>
          <a:prstGeom prst="rect">
            <a:avLst/>
          </a:prstGeom>
          <a:solidFill>
            <a:srgbClr val="E8EDE8"/>
          </a:solidFill>
          <a:ln w="3810">
            <a:solidFill>
              <a:srgbClr val="D0D8D0"/>
            </a:solidFill>
            <a:prstDash val="solid"/>
          </a:ln>
        </p:spPr>
        <p:txBody>
          <a:bodyPr/>
          <a:lstStyle/>
          <a:p>
            <a:endParaRPr lang="en-LK"/>
          </a:p>
        </p:txBody>
      </p:sp>
      <p:sp>
        <p:nvSpPr>
          <p:cNvPr id="61" name="Text 59"/>
          <p:cNvSpPr txBox="1"/>
          <p:nvPr/>
        </p:nvSpPr>
        <p:spPr>
          <a:xfrm>
            <a:off x="5431536" y="2450592"/>
            <a:ext cx="704088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800" dirty="0"/>
              <a:t>0.70%</a:t>
            </a:r>
          </a:p>
        </p:txBody>
      </p:sp>
      <p:sp>
        <p:nvSpPr>
          <p:cNvPr id="62" name="Shape 60"/>
          <p:cNvSpPr/>
          <p:nvPr/>
        </p:nvSpPr>
        <p:spPr>
          <a:xfrm>
            <a:off x="6172200" y="2450592"/>
            <a:ext cx="2743200" cy="475488"/>
          </a:xfrm>
          <a:prstGeom prst="rect">
            <a:avLst/>
          </a:prstGeom>
          <a:solidFill>
            <a:srgbClr val="E8EDE8"/>
          </a:solidFill>
          <a:ln w="3810">
            <a:solidFill>
              <a:srgbClr val="D0D8D0"/>
            </a:solidFill>
            <a:prstDash val="solid"/>
          </a:ln>
        </p:spPr>
        <p:txBody>
          <a:bodyPr/>
          <a:lstStyle/>
          <a:p>
            <a:endParaRPr lang="en-LK"/>
          </a:p>
        </p:txBody>
      </p:sp>
      <p:sp>
        <p:nvSpPr>
          <p:cNvPr id="63" name="Text 61"/>
          <p:cNvSpPr txBox="1"/>
          <p:nvPr/>
        </p:nvSpPr>
        <p:spPr>
          <a:xfrm>
            <a:off x="6208776" y="2450592"/>
            <a:ext cx="2670048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800" dirty="0">
                <a:solidFill>
                  <a:srgbClr val="111111"/>
                </a:solidFill>
              </a:rPr>
              <a:t>PASS/REJECT gating </a:t>
            </a:r>
            <a:endParaRPr lang="en-US" sz="800" dirty="0"/>
          </a:p>
        </p:txBody>
      </p:sp>
      <p:sp>
        <p:nvSpPr>
          <p:cNvPr id="64" name="Shape 62"/>
          <p:cNvSpPr/>
          <p:nvPr/>
        </p:nvSpPr>
        <p:spPr>
          <a:xfrm>
            <a:off x="274320" y="2926080"/>
            <a:ext cx="2377440" cy="475488"/>
          </a:xfrm>
          <a:prstGeom prst="rect">
            <a:avLst/>
          </a:prstGeom>
          <a:solidFill>
            <a:srgbClr val="FFFFFF"/>
          </a:solidFill>
          <a:ln w="3810">
            <a:solidFill>
              <a:srgbClr val="D0D8D0"/>
            </a:solidFill>
            <a:prstDash val="solid"/>
          </a:ln>
        </p:spPr>
        <p:txBody>
          <a:bodyPr/>
          <a:lstStyle/>
          <a:p>
            <a:endParaRPr lang="en-LK"/>
          </a:p>
        </p:txBody>
      </p:sp>
      <p:sp>
        <p:nvSpPr>
          <p:cNvPr id="65" name="Text 63"/>
          <p:cNvSpPr txBox="1"/>
          <p:nvPr/>
        </p:nvSpPr>
        <p:spPr>
          <a:xfrm>
            <a:off x="310896" y="2926080"/>
            <a:ext cx="2304288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800" dirty="0">
                <a:solidFill>
                  <a:srgbClr val="111111"/>
                </a:solidFill>
              </a:rPr>
              <a:t>Component 3 — U-Net Severity Seg.</a:t>
            </a:r>
            <a:endParaRPr lang="en-US" sz="800" dirty="0"/>
          </a:p>
        </p:txBody>
      </p:sp>
      <p:sp>
        <p:nvSpPr>
          <p:cNvPr id="66" name="Shape 64"/>
          <p:cNvSpPr/>
          <p:nvPr/>
        </p:nvSpPr>
        <p:spPr>
          <a:xfrm>
            <a:off x="2651760" y="2926080"/>
            <a:ext cx="914400" cy="475488"/>
          </a:xfrm>
          <a:prstGeom prst="rect">
            <a:avLst/>
          </a:prstGeom>
          <a:solidFill>
            <a:srgbClr val="FFFFFF"/>
          </a:solidFill>
          <a:ln w="3810">
            <a:solidFill>
              <a:srgbClr val="D0D8D0"/>
            </a:solidFill>
            <a:prstDash val="solid"/>
          </a:ln>
        </p:spPr>
        <p:txBody>
          <a:bodyPr/>
          <a:lstStyle/>
          <a:p>
            <a:endParaRPr lang="en-LK"/>
          </a:p>
        </p:txBody>
      </p:sp>
      <p:sp>
        <p:nvSpPr>
          <p:cNvPr id="67" name="Text 65"/>
          <p:cNvSpPr txBox="1"/>
          <p:nvPr/>
        </p:nvSpPr>
        <p:spPr>
          <a:xfrm>
            <a:off x="2724912" y="2926080"/>
            <a:ext cx="841248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800" dirty="0">
                <a:solidFill>
                  <a:srgbClr val="111111"/>
                </a:solidFill>
              </a:rPr>
              <a:t>92.12%</a:t>
            </a:r>
            <a:endParaRPr lang="en-US" sz="800" dirty="0"/>
          </a:p>
        </p:txBody>
      </p:sp>
      <p:sp>
        <p:nvSpPr>
          <p:cNvPr id="68" name="Shape 66"/>
          <p:cNvSpPr/>
          <p:nvPr/>
        </p:nvSpPr>
        <p:spPr>
          <a:xfrm>
            <a:off x="3566160" y="2926080"/>
            <a:ext cx="914400" cy="475488"/>
          </a:xfrm>
          <a:prstGeom prst="rect">
            <a:avLst/>
          </a:prstGeom>
          <a:solidFill>
            <a:srgbClr val="FFFFFF"/>
          </a:solidFill>
          <a:ln w="3810">
            <a:solidFill>
              <a:srgbClr val="D0D8D0"/>
            </a:solidFill>
            <a:prstDash val="solid"/>
          </a:ln>
        </p:spPr>
        <p:txBody>
          <a:bodyPr/>
          <a:lstStyle/>
          <a:p>
            <a:endParaRPr lang="en-LK"/>
          </a:p>
        </p:txBody>
      </p:sp>
      <p:sp>
        <p:nvSpPr>
          <p:cNvPr id="69" name="Text 67"/>
          <p:cNvSpPr txBox="1"/>
          <p:nvPr/>
        </p:nvSpPr>
        <p:spPr>
          <a:xfrm>
            <a:off x="3602736" y="2926080"/>
            <a:ext cx="841248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800" dirty="0">
                <a:solidFill>
                  <a:srgbClr val="111111"/>
                </a:solidFill>
              </a:rPr>
              <a:t>89.89%</a:t>
            </a:r>
            <a:endParaRPr lang="en-US" sz="800" dirty="0"/>
          </a:p>
        </p:txBody>
      </p:sp>
      <p:sp>
        <p:nvSpPr>
          <p:cNvPr id="70" name="Shape 68"/>
          <p:cNvSpPr/>
          <p:nvPr/>
        </p:nvSpPr>
        <p:spPr>
          <a:xfrm>
            <a:off x="4480560" y="2926080"/>
            <a:ext cx="914400" cy="475488"/>
          </a:xfrm>
          <a:prstGeom prst="rect">
            <a:avLst/>
          </a:prstGeom>
          <a:solidFill>
            <a:srgbClr val="FFFFFF"/>
          </a:solidFill>
          <a:ln w="3810">
            <a:solidFill>
              <a:srgbClr val="D0D8D0"/>
            </a:solidFill>
            <a:prstDash val="solid"/>
          </a:ln>
        </p:spPr>
        <p:txBody>
          <a:bodyPr/>
          <a:lstStyle/>
          <a:p>
            <a:endParaRPr lang="en-LK"/>
          </a:p>
        </p:txBody>
      </p:sp>
      <p:sp>
        <p:nvSpPr>
          <p:cNvPr id="71" name="Text 69"/>
          <p:cNvSpPr txBox="1"/>
          <p:nvPr/>
        </p:nvSpPr>
        <p:spPr>
          <a:xfrm>
            <a:off x="4517136" y="2926080"/>
            <a:ext cx="841248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800" dirty="0">
                <a:solidFill>
                  <a:srgbClr val="111111"/>
                </a:solidFill>
              </a:rPr>
              <a:t>89.02%</a:t>
            </a:r>
            <a:endParaRPr lang="en-US" sz="800" dirty="0"/>
          </a:p>
        </p:txBody>
      </p:sp>
      <p:sp>
        <p:nvSpPr>
          <p:cNvPr id="72" name="Shape 70"/>
          <p:cNvSpPr/>
          <p:nvPr/>
        </p:nvSpPr>
        <p:spPr>
          <a:xfrm>
            <a:off x="5394960" y="2926080"/>
            <a:ext cx="777240" cy="475488"/>
          </a:xfrm>
          <a:prstGeom prst="rect">
            <a:avLst/>
          </a:prstGeom>
          <a:solidFill>
            <a:srgbClr val="FFFFFF"/>
          </a:solidFill>
          <a:ln w="3810">
            <a:solidFill>
              <a:srgbClr val="D0D8D0"/>
            </a:solidFill>
            <a:prstDash val="solid"/>
          </a:ln>
        </p:spPr>
        <p:txBody>
          <a:bodyPr/>
          <a:lstStyle/>
          <a:p>
            <a:endParaRPr lang="en-LK"/>
          </a:p>
        </p:txBody>
      </p:sp>
      <p:sp>
        <p:nvSpPr>
          <p:cNvPr id="73" name="Text 71"/>
          <p:cNvSpPr txBox="1"/>
          <p:nvPr/>
        </p:nvSpPr>
        <p:spPr>
          <a:xfrm>
            <a:off x="5431536" y="2926080"/>
            <a:ext cx="704088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800" dirty="0"/>
              <a:t>2.23%</a:t>
            </a:r>
          </a:p>
        </p:txBody>
      </p:sp>
      <p:sp>
        <p:nvSpPr>
          <p:cNvPr id="74" name="Shape 72"/>
          <p:cNvSpPr/>
          <p:nvPr/>
        </p:nvSpPr>
        <p:spPr>
          <a:xfrm>
            <a:off x="6172200" y="2926080"/>
            <a:ext cx="2743200" cy="475488"/>
          </a:xfrm>
          <a:prstGeom prst="rect">
            <a:avLst/>
          </a:prstGeom>
          <a:solidFill>
            <a:srgbClr val="FFFFFF"/>
          </a:solidFill>
          <a:ln w="3810">
            <a:solidFill>
              <a:srgbClr val="D0D8D0"/>
            </a:solidFill>
            <a:prstDash val="solid"/>
          </a:ln>
        </p:spPr>
        <p:txBody>
          <a:bodyPr/>
          <a:lstStyle/>
          <a:p>
            <a:endParaRPr lang="en-LK"/>
          </a:p>
        </p:txBody>
      </p:sp>
      <p:sp>
        <p:nvSpPr>
          <p:cNvPr id="75" name="Text 73"/>
          <p:cNvSpPr txBox="1"/>
          <p:nvPr/>
        </p:nvSpPr>
        <p:spPr>
          <a:xfrm>
            <a:off x="6208776" y="2926080"/>
            <a:ext cx="2670048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800" dirty="0">
                <a:solidFill>
                  <a:srgbClr val="111111"/>
                </a:solidFill>
              </a:rPr>
              <a:t>Pixel-level IoU / Dice — validation ongoing</a:t>
            </a:r>
            <a:endParaRPr lang="en-US" sz="800" dirty="0"/>
          </a:p>
        </p:txBody>
      </p:sp>
      <p:sp>
        <p:nvSpPr>
          <p:cNvPr id="76" name="Shape 74"/>
          <p:cNvSpPr/>
          <p:nvPr/>
        </p:nvSpPr>
        <p:spPr>
          <a:xfrm>
            <a:off x="274320" y="3401568"/>
            <a:ext cx="2377440" cy="475488"/>
          </a:xfrm>
          <a:prstGeom prst="rect">
            <a:avLst/>
          </a:prstGeom>
          <a:solidFill>
            <a:srgbClr val="E8EDE8"/>
          </a:solidFill>
          <a:ln w="3810">
            <a:solidFill>
              <a:srgbClr val="D0D8D0"/>
            </a:solidFill>
            <a:prstDash val="solid"/>
          </a:ln>
        </p:spPr>
        <p:txBody>
          <a:bodyPr/>
          <a:lstStyle/>
          <a:p>
            <a:endParaRPr lang="en-LK"/>
          </a:p>
        </p:txBody>
      </p:sp>
      <p:sp>
        <p:nvSpPr>
          <p:cNvPr id="77" name="Text 75"/>
          <p:cNvSpPr txBox="1"/>
          <p:nvPr/>
        </p:nvSpPr>
        <p:spPr>
          <a:xfrm>
            <a:off x="310896" y="3401568"/>
            <a:ext cx="2304288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800" dirty="0">
                <a:solidFill>
                  <a:srgbClr val="111111"/>
                </a:solidFill>
              </a:rPr>
              <a:t>Component 4 — Price Forecasting</a:t>
            </a:r>
            <a:endParaRPr lang="en-US" sz="800" dirty="0"/>
          </a:p>
        </p:txBody>
      </p:sp>
      <p:sp>
        <p:nvSpPr>
          <p:cNvPr id="78" name="Shape 76"/>
          <p:cNvSpPr/>
          <p:nvPr/>
        </p:nvSpPr>
        <p:spPr>
          <a:xfrm>
            <a:off x="2651760" y="3401568"/>
            <a:ext cx="914400" cy="475488"/>
          </a:xfrm>
          <a:prstGeom prst="rect">
            <a:avLst/>
          </a:prstGeom>
          <a:solidFill>
            <a:srgbClr val="E8EDE8"/>
          </a:solidFill>
          <a:ln w="3810">
            <a:solidFill>
              <a:srgbClr val="D0D8D0"/>
            </a:solidFill>
            <a:prstDash val="solid"/>
          </a:ln>
        </p:spPr>
        <p:txBody>
          <a:bodyPr/>
          <a:lstStyle/>
          <a:p>
            <a:endParaRPr lang="en-LK"/>
          </a:p>
        </p:txBody>
      </p:sp>
      <p:sp>
        <p:nvSpPr>
          <p:cNvPr id="79" name="Text 77"/>
          <p:cNvSpPr txBox="1"/>
          <p:nvPr/>
        </p:nvSpPr>
        <p:spPr>
          <a:xfrm>
            <a:off x="2688336" y="3401568"/>
            <a:ext cx="841248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800" dirty="0">
                <a:solidFill>
                  <a:srgbClr val="111111"/>
                </a:solidFill>
              </a:rPr>
              <a:t>—</a:t>
            </a:r>
            <a:endParaRPr lang="en-US" sz="800" dirty="0"/>
          </a:p>
        </p:txBody>
      </p:sp>
      <p:sp>
        <p:nvSpPr>
          <p:cNvPr id="80" name="Shape 78"/>
          <p:cNvSpPr/>
          <p:nvPr/>
        </p:nvSpPr>
        <p:spPr>
          <a:xfrm>
            <a:off x="3566160" y="3401568"/>
            <a:ext cx="914400" cy="475488"/>
          </a:xfrm>
          <a:prstGeom prst="rect">
            <a:avLst/>
          </a:prstGeom>
          <a:solidFill>
            <a:srgbClr val="E8EDE8"/>
          </a:solidFill>
          <a:ln w="3810">
            <a:solidFill>
              <a:srgbClr val="D0D8D0"/>
            </a:solidFill>
            <a:prstDash val="solid"/>
          </a:ln>
        </p:spPr>
        <p:txBody>
          <a:bodyPr/>
          <a:lstStyle/>
          <a:p>
            <a:endParaRPr lang="en-LK"/>
          </a:p>
        </p:txBody>
      </p:sp>
      <p:sp>
        <p:nvSpPr>
          <p:cNvPr id="81" name="Text 79"/>
          <p:cNvSpPr txBox="1"/>
          <p:nvPr/>
        </p:nvSpPr>
        <p:spPr>
          <a:xfrm>
            <a:off x="3602736" y="3401568"/>
            <a:ext cx="841248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800" dirty="0">
                <a:solidFill>
                  <a:srgbClr val="111111"/>
                </a:solidFill>
              </a:rPr>
              <a:t>—</a:t>
            </a:r>
            <a:endParaRPr lang="en-US" sz="800" dirty="0"/>
          </a:p>
        </p:txBody>
      </p:sp>
      <p:sp>
        <p:nvSpPr>
          <p:cNvPr id="82" name="Shape 80"/>
          <p:cNvSpPr/>
          <p:nvPr/>
        </p:nvSpPr>
        <p:spPr>
          <a:xfrm>
            <a:off x="4480560" y="3401568"/>
            <a:ext cx="914400" cy="475488"/>
          </a:xfrm>
          <a:prstGeom prst="rect">
            <a:avLst/>
          </a:prstGeom>
          <a:solidFill>
            <a:srgbClr val="E8EDE8"/>
          </a:solidFill>
          <a:ln w="3810">
            <a:solidFill>
              <a:srgbClr val="D0D8D0"/>
            </a:solidFill>
            <a:prstDash val="solid"/>
          </a:ln>
        </p:spPr>
        <p:txBody>
          <a:bodyPr/>
          <a:lstStyle/>
          <a:p>
            <a:endParaRPr lang="en-LK"/>
          </a:p>
        </p:txBody>
      </p:sp>
      <p:sp>
        <p:nvSpPr>
          <p:cNvPr id="83" name="Text 81"/>
          <p:cNvSpPr txBox="1"/>
          <p:nvPr/>
        </p:nvSpPr>
        <p:spPr>
          <a:xfrm>
            <a:off x="4517136" y="3401568"/>
            <a:ext cx="841248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800" dirty="0">
                <a:solidFill>
                  <a:srgbClr val="111111"/>
                </a:solidFill>
              </a:rPr>
              <a:t>—</a:t>
            </a:r>
            <a:endParaRPr lang="en-US" sz="800" dirty="0"/>
          </a:p>
        </p:txBody>
      </p:sp>
      <p:sp>
        <p:nvSpPr>
          <p:cNvPr id="84" name="Shape 82"/>
          <p:cNvSpPr/>
          <p:nvPr/>
        </p:nvSpPr>
        <p:spPr>
          <a:xfrm>
            <a:off x="5394960" y="3401568"/>
            <a:ext cx="777240" cy="475488"/>
          </a:xfrm>
          <a:prstGeom prst="rect">
            <a:avLst/>
          </a:prstGeom>
          <a:solidFill>
            <a:srgbClr val="E8EDE8"/>
          </a:solidFill>
          <a:ln w="3810">
            <a:solidFill>
              <a:srgbClr val="D0D8D0"/>
            </a:solidFill>
            <a:prstDash val="solid"/>
          </a:ln>
        </p:spPr>
        <p:txBody>
          <a:bodyPr/>
          <a:lstStyle/>
          <a:p>
            <a:endParaRPr lang="en-LK"/>
          </a:p>
        </p:txBody>
      </p:sp>
      <p:sp>
        <p:nvSpPr>
          <p:cNvPr id="85" name="Text 83"/>
          <p:cNvSpPr txBox="1"/>
          <p:nvPr/>
        </p:nvSpPr>
        <p:spPr>
          <a:xfrm>
            <a:off x="5431536" y="3401568"/>
            <a:ext cx="704088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800" dirty="0">
                <a:solidFill>
                  <a:srgbClr val="111111"/>
                </a:solidFill>
              </a:rPr>
              <a:t>—</a:t>
            </a:r>
            <a:endParaRPr lang="en-US" sz="800" dirty="0"/>
          </a:p>
        </p:txBody>
      </p:sp>
      <p:sp>
        <p:nvSpPr>
          <p:cNvPr id="86" name="Shape 84"/>
          <p:cNvSpPr/>
          <p:nvPr/>
        </p:nvSpPr>
        <p:spPr>
          <a:xfrm>
            <a:off x="6172200" y="3401568"/>
            <a:ext cx="2743200" cy="475488"/>
          </a:xfrm>
          <a:prstGeom prst="rect">
            <a:avLst/>
          </a:prstGeom>
          <a:solidFill>
            <a:srgbClr val="E8EDE8"/>
          </a:solidFill>
          <a:ln w="3810">
            <a:solidFill>
              <a:srgbClr val="D0D8D0"/>
            </a:solidFill>
            <a:prstDash val="solid"/>
          </a:ln>
        </p:spPr>
        <p:txBody>
          <a:bodyPr/>
          <a:lstStyle/>
          <a:p>
            <a:endParaRPr lang="en-LK"/>
          </a:p>
        </p:txBody>
      </p:sp>
      <p:sp>
        <p:nvSpPr>
          <p:cNvPr id="87" name="Text 85"/>
          <p:cNvSpPr txBox="1"/>
          <p:nvPr/>
        </p:nvSpPr>
        <p:spPr>
          <a:xfrm>
            <a:off x="6208776" y="3401568"/>
            <a:ext cx="2670048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800" dirty="0">
                <a:solidFill>
                  <a:srgbClr val="111111"/>
                </a:solidFill>
              </a:rPr>
              <a:t>LSTM/GRU vs ARIMA baseline — MAE/RMSE/MAPE</a:t>
            </a:r>
            <a:endParaRPr lang="en-US" sz="800" dirty="0"/>
          </a:p>
        </p:txBody>
      </p:sp>
      <p:sp>
        <p:nvSpPr>
          <p:cNvPr id="100" name="Shape 98"/>
          <p:cNvSpPr/>
          <p:nvPr/>
        </p:nvSpPr>
        <p:spPr>
          <a:xfrm>
            <a:off x="0" y="4892040"/>
            <a:ext cx="9144000" cy="256032"/>
          </a:xfrm>
          <a:prstGeom prst="rect">
            <a:avLst/>
          </a:prstGeom>
          <a:solidFill>
            <a:srgbClr val="1B5E20"/>
          </a:solidFill>
          <a:ln w="12700">
            <a:solidFill>
              <a:srgbClr val="1B5E20"/>
            </a:solidFill>
            <a:prstDash val="solid"/>
          </a:ln>
        </p:spPr>
        <p:txBody>
          <a:bodyPr/>
          <a:lstStyle/>
          <a:p>
            <a:endParaRPr lang="en-LK"/>
          </a:p>
        </p:txBody>
      </p:sp>
      <p:sp>
        <p:nvSpPr>
          <p:cNvPr id="101" name="Text 99"/>
          <p:cNvSpPr txBox="1"/>
          <p:nvPr/>
        </p:nvSpPr>
        <p:spPr>
          <a:xfrm>
            <a:off x="274320" y="4892040"/>
            <a:ext cx="6400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800" dirty="0">
                <a:solidFill>
                  <a:srgbClr val="C8E6C9"/>
                </a:solidFill>
              </a:rPr>
              <a:t>TomatoDoc  |  R26-SE-032  |  SLIIT Faculty of Computing</a:t>
            </a:r>
            <a:endParaRPr lang="en-US" sz="800" dirty="0"/>
          </a:p>
        </p:txBody>
      </p:sp>
      <p:sp>
        <p:nvSpPr>
          <p:cNvPr id="102" name="Text 100"/>
          <p:cNvSpPr txBox="1"/>
          <p:nvPr/>
        </p:nvSpPr>
        <p:spPr>
          <a:xfrm>
            <a:off x="8229600" y="4892040"/>
            <a:ext cx="6400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C8E6C9"/>
                </a:solidFill>
              </a:rPr>
              <a:t>9</a:t>
            </a:r>
            <a:endParaRPr lang="en-US" sz="8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4F6F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1B5E20"/>
          </a:solidFill>
          <a:ln w="12700">
            <a:solidFill>
              <a:srgbClr val="1B5E20"/>
            </a:solidFill>
            <a:prstDash val="solid"/>
          </a:ln>
        </p:spPr>
        <p:txBody>
          <a:bodyPr/>
          <a:lstStyle/>
          <a:p>
            <a:endParaRPr lang="en-LK"/>
          </a:p>
        </p:txBody>
      </p:sp>
      <p:sp>
        <p:nvSpPr>
          <p:cNvPr id="3" name="Text 1"/>
          <p:cNvSpPr txBox="1"/>
          <p:nvPr/>
        </p:nvSpPr>
        <p:spPr>
          <a:xfrm>
            <a:off x="365760" y="164592"/>
            <a:ext cx="84124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2200" b="1" dirty="0">
                <a:solidFill>
                  <a:srgbClr val="FFFFFF"/>
                </a:solidFill>
              </a:rPr>
              <a:t>Non-Functional Requirements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274320" y="804672"/>
            <a:ext cx="2724912" cy="1847088"/>
          </a:xfrm>
          <a:prstGeom prst="rect">
            <a:avLst/>
          </a:prstGeom>
          <a:solidFill>
            <a:srgbClr val="FFFFFF"/>
          </a:solidFill>
          <a:ln w="6350">
            <a:solidFill>
              <a:srgbClr val="D4DDD4"/>
            </a:solidFill>
            <a:prstDash val="solid"/>
          </a:ln>
          <a:effectLst>
            <a:outerShdw blurRad="101600" dist="38100" dir="8100000" algn="bl" rotWithShape="0">
              <a:srgbClr val="000000">
                <a:alpha val="13000"/>
              </a:srgbClr>
            </a:outerShdw>
          </a:effectLst>
        </p:spPr>
        <p:txBody>
          <a:bodyPr/>
          <a:lstStyle/>
          <a:p>
            <a:endParaRPr lang="en-LK"/>
          </a:p>
        </p:txBody>
      </p:sp>
      <p:sp>
        <p:nvSpPr>
          <p:cNvPr id="5" name="Shape 3"/>
          <p:cNvSpPr/>
          <p:nvPr/>
        </p:nvSpPr>
        <p:spPr>
          <a:xfrm>
            <a:off x="274320" y="804672"/>
            <a:ext cx="2724912" cy="347472"/>
          </a:xfrm>
          <a:prstGeom prst="rect">
            <a:avLst/>
          </a:prstGeom>
          <a:solidFill>
            <a:srgbClr val="E65100"/>
          </a:solidFill>
          <a:ln w="12700">
            <a:solidFill>
              <a:srgbClr val="E65100"/>
            </a:solidFill>
            <a:prstDash val="solid"/>
          </a:ln>
        </p:spPr>
        <p:txBody>
          <a:bodyPr/>
          <a:lstStyle/>
          <a:p>
            <a:endParaRPr lang="en-LK"/>
          </a:p>
        </p:txBody>
      </p:sp>
      <p:sp>
        <p:nvSpPr>
          <p:cNvPr id="6" name="Text 4"/>
          <p:cNvSpPr txBox="1"/>
          <p:nvPr/>
        </p:nvSpPr>
        <p:spPr>
          <a:xfrm>
            <a:off x="365760" y="804672"/>
            <a:ext cx="254203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FFFFFF"/>
                </a:solidFill>
              </a:rPr>
              <a:t>  Performance</a:t>
            </a:r>
            <a:endParaRPr lang="en-US" sz="1100" dirty="0"/>
          </a:p>
        </p:txBody>
      </p:sp>
      <p:sp>
        <p:nvSpPr>
          <p:cNvPr id="7" name="Text 5"/>
          <p:cNvSpPr txBox="1"/>
          <p:nvPr/>
        </p:nvSpPr>
        <p:spPr>
          <a:xfrm>
            <a:off x="365760" y="1225296"/>
            <a:ext cx="2542032" cy="40233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buNone/>
            </a:pPr>
            <a:r>
              <a:rPr lang="en-US" sz="900" dirty="0">
                <a:solidFill>
                  <a:srgbClr val="111111"/>
                </a:solidFill>
              </a:rPr>
              <a:t>•  &lt; 3 sec end-to-end response time</a:t>
            </a:r>
            <a:endParaRPr lang="en-US" sz="900" dirty="0"/>
          </a:p>
        </p:txBody>
      </p:sp>
      <p:sp>
        <p:nvSpPr>
          <p:cNvPr id="8" name="Text 6"/>
          <p:cNvSpPr txBox="1"/>
          <p:nvPr/>
        </p:nvSpPr>
        <p:spPr>
          <a:xfrm>
            <a:off x="365760" y="1664208"/>
            <a:ext cx="2542032" cy="40233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buNone/>
            </a:pPr>
            <a:r>
              <a:rPr lang="en-US" sz="900" dirty="0">
                <a:solidFill>
                  <a:srgbClr val="111111"/>
                </a:solidFill>
              </a:rPr>
              <a:t>•  MobileNetV2: 0.8s inference</a:t>
            </a:r>
            <a:endParaRPr lang="en-US" sz="900" dirty="0"/>
          </a:p>
        </p:txBody>
      </p:sp>
      <p:sp>
        <p:nvSpPr>
          <p:cNvPr id="9" name="Text 7"/>
          <p:cNvSpPr txBox="1"/>
          <p:nvPr/>
        </p:nvSpPr>
        <p:spPr>
          <a:xfrm>
            <a:off x="365760" y="2103120"/>
            <a:ext cx="2542032" cy="40233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buNone/>
            </a:pPr>
            <a:r>
              <a:rPr lang="en-US" sz="900" dirty="0">
                <a:solidFill>
                  <a:srgbClr val="111111"/>
                </a:solidFill>
              </a:rPr>
              <a:t>•  YOLOv8m: real-time at 640×640</a:t>
            </a:r>
            <a:endParaRPr lang="en-US" sz="900" dirty="0"/>
          </a:p>
        </p:txBody>
      </p:sp>
      <p:sp>
        <p:nvSpPr>
          <p:cNvPr id="10" name="Shape 8"/>
          <p:cNvSpPr/>
          <p:nvPr/>
        </p:nvSpPr>
        <p:spPr>
          <a:xfrm>
            <a:off x="3172968" y="804672"/>
            <a:ext cx="2724912" cy="1847088"/>
          </a:xfrm>
          <a:prstGeom prst="rect">
            <a:avLst/>
          </a:prstGeom>
          <a:solidFill>
            <a:srgbClr val="FFFFFF"/>
          </a:solidFill>
          <a:ln w="6350">
            <a:solidFill>
              <a:srgbClr val="D4DDD4"/>
            </a:solidFill>
            <a:prstDash val="solid"/>
          </a:ln>
          <a:effectLst>
            <a:outerShdw blurRad="101600" dist="38100" dir="8100000" algn="bl" rotWithShape="0">
              <a:srgbClr val="000000">
                <a:alpha val="13000"/>
              </a:srgbClr>
            </a:outerShdw>
          </a:effectLst>
        </p:spPr>
        <p:txBody>
          <a:bodyPr/>
          <a:lstStyle/>
          <a:p>
            <a:endParaRPr lang="en-LK"/>
          </a:p>
        </p:txBody>
      </p:sp>
      <p:sp>
        <p:nvSpPr>
          <p:cNvPr id="11" name="Shape 9"/>
          <p:cNvSpPr/>
          <p:nvPr/>
        </p:nvSpPr>
        <p:spPr>
          <a:xfrm>
            <a:off x="3172968" y="804672"/>
            <a:ext cx="2724912" cy="347472"/>
          </a:xfrm>
          <a:prstGeom prst="rect">
            <a:avLst/>
          </a:prstGeom>
          <a:solidFill>
            <a:srgbClr val="1565C0"/>
          </a:solidFill>
          <a:ln w="12700">
            <a:solidFill>
              <a:srgbClr val="1565C0"/>
            </a:solidFill>
            <a:prstDash val="solid"/>
          </a:ln>
        </p:spPr>
        <p:txBody>
          <a:bodyPr/>
          <a:lstStyle/>
          <a:p>
            <a:endParaRPr lang="en-LK"/>
          </a:p>
        </p:txBody>
      </p:sp>
      <p:sp>
        <p:nvSpPr>
          <p:cNvPr id="12" name="Text 10"/>
          <p:cNvSpPr txBox="1"/>
          <p:nvPr/>
        </p:nvSpPr>
        <p:spPr>
          <a:xfrm>
            <a:off x="3264408" y="804672"/>
            <a:ext cx="254203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FFFFFF"/>
                </a:solidFill>
              </a:rPr>
              <a:t>  Scalability</a:t>
            </a:r>
            <a:endParaRPr lang="en-US" sz="1100" dirty="0"/>
          </a:p>
        </p:txBody>
      </p:sp>
      <p:sp>
        <p:nvSpPr>
          <p:cNvPr id="13" name="Text 11"/>
          <p:cNvSpPr txBox="1"/>
          <p:nvPr/>
        </p:nvSpPr>
        <p:spPr>
          <a:xfrm>
            <a:off x="3264408" y="1225296"/>
            <a:ext cx="2542032" cy="40233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buNone/>
            </a:pPr>
            <a:r>
              <a:rPr lang="en-US" sz="900" dirty="0">
                <a:solidFill>
                  <a:srgbClr val="111111"/>
                </a:solidFill>
              </a:rPr>
              <a:t>•  Microservice — each component scales independently</a:t>
            </a:r>
            <a:endParaRPr lang="en-US" sz="900" dirty="0"/>
          </a:p>
        </p:txBody>
      </p:sp>
      <p:sp>
        <p:nvSpPr>
          <p:cNvPr id="14" name="Text 12"/>
          <p:cNvSpPr txBox="1"/>
          <p:nvPr/>
        </p:nvSpPr>
        <p:spPr>
          <a:xfrm>
            <a:off x="3264408" y="1664208"/>
            <a:ext cx="2542032" cy="40233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buNone/>
            </a:pPr>
            <a:r>
              <a:rPr lang="en-US" sz="900" dirty="0">
                <a:solidFill>
                  <a:srgbClr val="111111"/>
                </a:solidFill>
              </a:rPr>
              <a:t>•  Render.com cloud deployment</a:t>
            </a:r>
            <a:endParaRPr lang="en-US" sz="900" dirty="0"/>
          </a:p>
        </p:txBody>
      </p:sp>
      <p:sp>
        <p:nvSpPr>
          <p:cNvPr id="15" name="Text 13"/>
          <p:cNvSpPr txBox="1"/>
          <p:nvPr/>
        </p:nvSpPr>
        <p:spPr>
          <a:xfrm>
            <a:off x="3264408" y="2103120"/>
            <a:ext cx="2542032" cy="40233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buNone/>
            </a:pPr>
            <a:r>
              <a:rPr lang="en-US" sz="900" dirty="0">
                <a:solidFill>
                  <a:srgbClr val="111111"/>
                </a:solidFill>
              </a:rPr>
              <a:t>•  MongoDB Atlas auto-scaling</a:t>
            </a:r>
            <a:endParaRPr lang="en-US" sz="900" dirty="0"/>
          </a:p>
        </p:txBody>
      </p:sp>
      <p:sp>
        <p:nvSpPr>
          <p:cNvPr id="16" name="Shape 14"/>
          <p:cNvSpPr/>
          <p:nvPr/>
        </p:nvSpPr>
        <p:spPr>
          <a:xfrm>
            <a:off x="6071616" y="804672"/>
            <a:ext cx="2724912" cy="1847088"/>
          </a:xfrm>
          <a:prstGeom prst="rect">
            <a:avLst/>
          </a:prstGeom>
          <a:solidFill>
            <a:srgbClr val="FFFFFF"/>
          </a:solidFill>
          <a:ln w="6350">
            <a:solidFill>
              <a:srgbClr val="D4DDD4"/>
            </a:solidFill>
            <a:prstDash val="solid"/>
          </a:ln>
          <a:effectLst>
            <a:outerShdw blurRad="101600" dist="38100" dir="8100000" algn="bl" rotWithShape="0">
              <a:srgbClr val="000000">
                <a:alpha val="13000"/>
              </a:srgbClr>
            </a:outerShdw>
          </a:effectLst>
        </p:spPr>
        <p:txBody>
          <a:bodyPr/>
          <a:lstStyle/>
          <a:p>
            <a:endParaRPr lang="en-LK"/>
          </a:p>
        </p:txBody>
      </p:sp>
      <p:sp>
        <p:nvSpPr>
          <p:cNvPr id="17" name="Shape 15"/>
          <p:cNvSpPr/>
          <p:nvPr/>
        </p:nvSpPr>
        <p:spPr>
          <a:xfrm>
            <a:off x="6071616" y="804672"/>
            <a:ext cx="2724912" cy="347472"/>
          </a:xfrm>
          <a:prstGeom prst="rect">
            <a:avLst/>
          </a:prstGeom>
          <a:solidFill>
            <a:srgbClr val="2E7D32"/>
          </a:solidFill>
          <a:ln w="12700">
            <a:solidFill>
              <a:srgbClr val="2E7D32"/>
            </a:solidFill>
            <a:prstDash val="solid"/>
          </a:ln>
        </p:spPr>
        <p:txBody>
          <a:bodyPr/>
          <a:lstStyle/>
          <a:p>
            <a:endParaRPr lang="en-LK"/>
          </a:p>
        </p:txBody>
      </p:sp>
      <p:sp>
        <p:nvSpPr>
          <p:cNvPr id="18" name="Text 16"/>
          <p:cNvSpPr txBox="1"/>
          <p:nvPr/>
        </p:nvSpPr>
        <p:spPr>
          <a:xfrm>
            <a:off x="6163056" y="804672"/>
            <a:ext cx="254203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FFFFFF"/>
                </a:solidFill>
              </a:rPr>
              <a:t>  Security &amp; Privacy</a:t>
            </a:r>
            <a:endParaRPr lang="en-US" sz="1100" dirty="0"/>
          </a:p>
        </p:txBody>
      </p:sp>
      <p:sp>
        <p:nvSpPr>
          <p:cNvPr id="19" name="Text 17"/>
          <p:cNvSpPr txBox="1"/>
          <p:nvPr/>
        </p:nvSpPr>
        <p:spPr>
          <a:xfrm>
            <a:off x="6163056" y="1225296"/>
            <a:ext cx="2542032" cy="40233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buNone/>
            </a:pPr>
            <a:r>
              <a:rPr lang="en-US" sz="900" dirty="0">
                <a:solidFill>
                  <a:srgbClr val="111111"/>
                </a:solidFill>
              </a:rPr>
              <a:t>•  JWT token authentication</a:t>
            </a:r>
            <a:endParaRPr lang="en-US" sz="900" dirty="0"/>
          </a:p>
        </p:txBody>
      </p:sp>
      <p:sp>
        <p:nvSpPr>
          <p:cNvPr id="20" name="Text 18"/>
          <p:cNvSpPr txBox="1"/>
          <p:nvPr/>
        </p:nvSpPr>
        <p:spPr>
          <a:xfrm>
            <a:off x="6163056" y="1664208"/>
            <a:ext cx="2542032" cy="40233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buNone/>
            </a:pPr>
            <a:r>
              <a:rPr lang="en-US" sz="900" dirty="0">
                <a:solidFill>
                  <a:srgbClr val="111111"/>
                </a:solidFill>
              </a:rPr>
              <a:t>•  bcrypt password hashing</a:t>
            </a:r>
            <a:endParaRPr lang="en-US" sz="900" dirty="0"/>
          </a:p>
        </p:txBody>
      </p:sp>
      <p:sp>
        <p:nvSpPr>
          <p:cNvPr id="21" name="Text 19"/>
          <p:cNvSpPr txBox="1"/>
          <p:nvPr/>
        </p:nvSpPr>
        <p:spPr>
          <a:xfrm>
            <a:off x="6163056" y="2103120"/>
            <a:ext cx="2542032" cy="40233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buNone/>
            </a:pPr>
            <a:r>
              <a:rPr lang="en-US" sz="900" dirty="0">
                <a:solidFill>
                  <a:srgbClr val="111111"/>
                </a:solidFill>
              </a:rPr>
              <a:t>•  Field-level GPS precision for weather only</a:t>
            </a:r>
            <a:endParaRPr lang="en-US" sz="900" dirty="0"/>
          </a:p>
        </p:txBody>
      </p:sp>
      <p:sp>
        <p:nvSpPr>
          <p:cNvPr id="22" name="Shape 20"/>
          <p:cNvSpPr/>
          <p:nvPr/>
        </p:nvSpPr>
        <p:spPr>
          <a:xfrm>
            <a:off x="274320" y="2816352"/>
            <a:ext cx="2724912" cy="1847088"/>
          </a:xfrm>
          <a:prstGeom prst="rect">
            <a:avLst/>
          </a:prstGeom>
          <a:solidFill>
            <a:srgbClr val="FFFFFF"/>
          </a:solidFill>
          <a:ln w="6350">
            <a:solidFill>
              <a:srgbClr val="D4DDD4"/>
            </a:solidFill>
            <a:prstDash val="solid"/>
          </a:ln>
          <a:effectLst>
            <a:outerShdw blurRad="101600" dist="38100" dir="8100000" algn="bl" rotWithShape="0">
              <a:srgbClr val="000000">
                <a:alpha val="13000"/>
              </a:srgbClr>
            </a:outerShdw>
          </a:effectLst>
        </p:spPr>
        <p:txBody>
          <a:bodyPr/>
          <a:lstStyle/>
          <a:p>
            <a:endParaRPr lang="en-LK"/>
          </a:p>
        </p:txBody>
      </p:sp>
      <p:sp>
        <p:nvSpPr>
          <p:cNvPr id="23" name="Shape 21"/>
          <p:cNvSpPr/>
          <p:nvPr/>
        </p:nvSpPr>
        <p:spPr>
          <a:xfrm>
            <a:off x="274320" y="2816352"/>
            <a:ext cx="2724912" cy="347472"/>
          </a:xfrm>
          <a:prstGeom prst="rect">
            <a:avLst/>
          </a:prstGeom>
          <a:solidFill>
            <a:srgbClr val="00695C"/>
          </a:solidFill>
          <a:ln w="12700">
            <a:solidFill>
              <a:srgbClr val="00695C"/>
            </a:solidFill>
            <a:prstDash val="solid"/>
          </a:ln>
        </p:spPr>
        <p:txBody>
          <a:bodyPr/>
          <a:lstStyle/>
          <a:p>
            <a:endParaRPr lang="en-LK"/>
          </a:p>
        </p:txBody>
      </p:sp>
      <p:sp>
        <p:nvSpPr>
          <p:cNvPr id="24" name="Text 22"/>
          <p:cNvSpPr txBox="1"/>
          <p:nvPr/>
        </p:nvSpPr>
        <p:spPr>
          <a:xfrm>
            <a:off x="365760" y="2816352"/>
            <a:ext cx="254203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FFFFFF"/>
                </a:solidFill>
              </a:rPr>
              <a:t>  Maintainability</a:t>
            </a:r>
            <a:endParaRPr lang="en-US" sz="1100" dirty="0"/>
          </a:p>
        </p:txBody>
      </p:sp>
      <p:sp>
        <p:nvSpPr>
          <p:cNvPr id="25" name="Text 23"/>
          <p:cNvSpPr txBox="1"/>
          <p:nvPr/>
        </p:nvSpPr>
        <p:spPr>
          <a:xfrm>
            <a:off x="365760" y="3236976"/>
            <a:ext cx="2542032" cy="40233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buNone/>
            </a:pPr>
            <a:r>
              <a:rPr lang="en-US" sz="900" dirty="0">
                <a:solidFill>
                  <a:srgbClr val="111111"/>
                </a:solidFill>
              </a:rPr>
              <a:t>•  Modular codebase — 4 independent backends</a:t>
            </a:r>
            <a:endParaRPr lang="en-US" sz="900" dirty="0"/>
          </a:p>
        </p:txBody>
      </p:sp>
      <p:sp>
        <p:nvSpPr>
          <p:cNvPr id="26" name="Text 24"/>
          <p:cNvSpPr txBox="1"/>
          <p:nvPr/>
        </p:nvSpPr>
        <p:spPr>
          <a:xfrm>
            <a:off x="365760" y="3675888"/>
            <a:ext cx="2542032" cy="40233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buNone/>
            </a:pPr>
            <a:r>
              <a:rPr lang="en-US" sz="900" dirty="0">
                <a:solidFill>
                  <a:srgbClr val="111111"/>
                </a:solidFill>
              </a:rPr>
              <a:t>•  RAG knowledge base updatable without retraining</a:t>
            </a:r>
            <a:endParaRPr lang="en-US" sz="900" dirty="0"/>
          </a:p>
        </p:txBody>
      </p:sp>
      <p:sp>
        <p:nvSpPr>
          <p:cNvPr id="27" name="Text 25"/>
          <p:cNvSpPr txBox="1"/>
          <p:nvPr/>
        </p:nvSpPr>
        <p:spPr>
          <a:xfrm>
            <a:off x="365760" y="4114800"/>
            <a:ext cx="2542032" cy="40233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buNone/>
            </a:pPr>
            <a:r>
              <a:rPr lang="en-US" sz="900" dirty="0">
                <a:solidFill>
                  <a:srgbClr val="111111"/>
                </a:solidFill>
              </a:rPr>
              <a:t>•  Early stopping prevents model drift</a:t>
            </a:r>
            <a:endParaRPr lang="en-US" sz="900" dirty="0"/>
          </a:p>
        </p:txBody>
      </p:sp>
      <p:sp>
        <p:nvSpPr>
          <p:cNvPr id="28" name="Shape 26"/>
          <p:cNvSpPr/>
          <p:nvPr/>
        </p:nvSpPr>
        <p:spPr>
          <a:xfrm>
            <a:off x="3172968" y="2816352"/>
            <a:ext cx="2724912" cy="1847088"/>
          </a:xfrm>
          <a:prstGeom prst="rect">
            <a:avLst/>
          </a:prstGeom>
          <a:solidFill>
            <a:srgbClr val="FFFFFF"/>
          </a:solidFill>
          <a:ln w="6350">
            <a:solidFill>
              <a:srgbClr val="D4DDD4"/>
            </a:solidFill>
            <a:prstDash val="solid"/>
          </a:ln>
          <a:effectLst>
            <a:outerShdw blurRad="101600" dist="38100" dir="8100000" algn="bl" rotWithShape="0">
              <a:srgbClr val="000000">
                <a:alpha val="13000"/>
              </a:srgbClr>
            </a:outerShdw>
          </a:effectLst>
        </p:spPr>
        <p:txBody>
          <a:bodyPr/>
          <a:lstStyle/>
          <a:p>
            <a:endParaRPr lang="en-LK"/>
          </a:p>
        </p:txBody>
      </p:sp>
      <p:sp>
        <p:nvSpPr>
          <p:cNvPr id="29" name="Shape 27"/>
          <p:cNvSpPr/>
          <p:nvPr/>
        </p:nvSpPr>
        <p:spPr>
          <a:xfrm>
            <a:off x="3172968" y="2816352"/>
            <a:ext cx="2724912" cy="347472"/>
          </a:xfrm>
          <a:prstGeom prst="rect">
            <a:avLst/>
          </a:prstGeom>
          <a:solidFill>
            <a:srgbClr val="7B1FA2"/>
          </a:solidFill>
          <a:ln w="12700">
            <a:solidFill>
              <a:srgbClr val="7B1FA2"/>
            </a:solidFill>
            <a:prstDash val="solid"/>
          </a:ln>
        </p:spPr>
        <p:txBody>
          <a:bodyPr/>
          <a:lstStyle/>
          <a:p>
            <a:endParaRPr lang="en-LK"/>
          </a:p>
        </p:txBody>
      </p:sp>
      <p:sp>
        <p:nvSpPr>
          <p:cNvPr id="30" name="Text 28"/>
          <p:cNvSpPr txBox="1"/>
          <p:nvPr/>
        </p:nvSpPr>
        <p:spPr>
          <a:xfrm>
            <a:off x="3264408" y="2816352"/>
            <a:ext cx="254203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FFFFFF"/>
                </a:solidFill>
              </a:rPr>
              <a:t>  Availability</a:t>
            </a:r>
            <a:endParaRPr lang="en-US" sz="1100" dirty="0"/>
          </a:p>
        </p:txBody>
      </p:sp>
      <p:sp>
        <p:nvSpPr>
          <p:cNvPr id="31" name="Text 29"/>
          <p:cNvSpPr txBox="1"/>
          <p:nvPr/>
        </p:nvSpPr>
        <p:spPr>
          <a:xfrm>
            <a:off x="3264408" y="3236976"/>
            <a:ext cx="2542032" cy="40233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buNone/>
            </a:pPr>
            <a:r>
              <a:rPr lang="en-US" sz="900" dirty="0">
                <a:solidFill>
                  <a:srgbClr val="111111"/>
                </a:solidFill>
              </a:rPr>
              <a:t>•  24/7 via Render.com deployment</a:t>
            </a:r>
            <a:endParaRPr lang="en-US" sz="900" dirty="0"/>
          </a:p>
        </p:txBody>
      </p:sp>
      <p:sp>
        <p:nvSpPr>
          <p:cNvPr id="32" name="Text 30"/>
          <p:cNvSpPr txBox="1"/>
          <p:nvPr/>
        </p:nvSpPr>
        <p:spPr>
          <a:xfrm>
            <a:off x="3264408" y="3675888"/>
            <a:ext cx="2542032" cy="40233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buNone/>
            </a:pPr>
            <a:r>
              <a:rPr lang="en-US" sz="900" dirty="0">
                <a:solidFill>
                  <a:srgbClr val="111111"/>
                </a:solidFill>
              </a:rPr>
              <a:t>•  MongoDB Atlas 99.9% uptime SLA</a:t>
            </a:r>
            <a:endParaRPr lang="en-US" sz="900" dirty="0"/>
          </a:p>
        </p:txBody>
      </p:sp>
      <p:sp>
        <p:nvSpPr>
          <p:cNvPr id="33" name="Text 31"/>
          <p:cNvSpPr txBox="1"/>
          <p:nvPr/>
        </p:nvSpPr>
        <p:spPr>
          <a:xfrm>
            <a:off x="3264408" y="4114800"/>
            <a:ext cx="2542032" cy="40233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buNone/>
            </a:pPr>
            <a:r>
              <a:rPr lang="en-US" sz="900" dirty="0">
                <a:solidFill>
                  <a:srgbClr val="111111"/>
                </a:solidFill>
              </a:rPr>
              <a:t>•  Future: offline TFLite mode planned</a:t>
            </a:r>
            <a:endParaRPr lang="en-US" sz="900" dirty="0"/>
          </a:p>
        </p:txBody>
      </p:sp>
      <p:sp>
        <p:nvSpPr>
          <p:cNvPr id="34" name="Shape 32"/>
          <p:cNvSpPr/>
          <p:nvPr/>
        </p:nvSpPr>
        <p:spPr>
          <a:xfrm>
            <a:off x="6071616" y="2816352"/>
            <a:ext cx="2724912" cy="1847088"/>
          </a:xfrm>
          <a:prstGeom prst="rect">
            <a:avLst/>
          </a:prstGeom>
          <a:solidFill>
            <a:srgbClr val="FFFFFF"/>
          </a:solidFill>
          <a:ln w="6350">
            <a:solidFill>
              <a:srgbClr val="D4DDD4"/>
            </a:solidFill>
            <a:prstDash val="solid"/>
          </a:ln>
          <a:effectLst>
            <a:outerShdw blurRad="101600" dist="38100" dir="8100000" algn="bl" rotWithShape="0">
              <a:srgbClr val="000000">
                <a:alpha val="13000"/>
              </a:srgbClr>
            </a:outerShdw>
          </a:effectLst>
        </p:spPr>
        <p:txBody>
          <a:bodyPr/>
          <a:lstStyle/>
          <a:p>
            <a:endParaRPr lang="en-LK"/>
          </a:p>
        </p:txBody>
      </p:sp>
      <p:sp>
        <p:nvSpPr>
          <p:cNvPr id="35" name="Shape 33"/>
          <p:cNvSpPr/>
          <p:nvPr/>
        </p:nvSpPr>
        <p:spPr>
          <a:xfrm>
            <a:off x="6071616" y="2816352"/>
            <a:ext cx="2724912" cy="347472"/>
          </a:xfrm>
          <a:prstGeom prst="rect">
            <a:avLst/>
          </a:prstGeom>
          <a:solidFill>
            <a:srgbClr val="C62828"/>
          </a:solidFill>
          <a:ln w="12700">
            <a:solidFill>
              <a:srgbClr val="C62828"/>
            </a:solidFill>
            <a:prstDash val="solid"/>
          </a:ln>
        </p:spPr>
        <p:txBody>
          <a:bodyPr/>
          <a:lstStyle/>
          <a:p>
            <a:endParaRPr lang="en-LK"/>
          </a:p>
        </p:txBody>
      </p:sp>
      <p:sp>
        <p:nvSpPr>
          <p:cNvPr id="36" name="Text 34"/>
          <p:cNvSpPr txBox="1"/>
          <p:nvPr/>
        </p:nvSpPr>
        <p:spPr>
          <a:xfrm>
            <a:off x="6163056" y="2816352"/>
            <a:ext cx="254203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FFFFFF"/>
                </a:solidFill>
              </a:rPr>
              <a:t>  Usability</a:t>
            </a:r>
            <a:endParaRPr lang="en-US" sz="1100" dirty="0"/>
          </a:p>
        </p:txBody>
      </p:sp>
      <p:sp>
        <p:nvSpPr>
          <p:cNvPr id="37" name="Text 35"/>
          <p:cNvSpPr txBox="1"/>
          <p:nvPr/>
        </p:nvSpPr>
        <p:spPr>
          <a:xfrm>
            <a:off x="6163056" y="3236976"/>
            <a:ext cx="2542032" cy="40233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buNone/>
            </a:pPr>
            <a:r>
              <a:rPr lang="en-US" sz="900" dirty="0">
                <a:solidFill>
                  <a:srgbClr val="111111"/>
                </a:solidFill>
              </a:rPr>
              <a:t>•  React Native — Android &amp; iOS</a:t>
            </a:r>
            <a:endParaRPr lang="en-US" sz="900" dirty="0"/>
          </a:p>
        </p:txBody>
      </p:sp>
      <p:sp>
        <p:nvSpPr>
          <p:cNvPr id="38" name="Text 36"/>
          <p:cNvSpPr txBox="1"/>
          <p:nvPr/>
        </p:nvSpPr>
        <p:spPr>
          <a:xfrm>
            <a:off x="6163056" y="3675888"/>
            <a:ext cx="2542032" cy="40233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buNone/>
            </a:pPr>
            <a:r>
              <a:rPr lang="en-US" sz="900" dirty="0">
                <a:solidFill>
                  <a:srgbClr val="111111"/>
                </a:solidFill>
              </a:rPr>
              <a:t>•  Single tap to scan workflow</a:t>
            </a:r>
            <a:endParaRPr lang="en-US" sz="900" dirty="0"/>
          </a:p>
        </p:txBody>
      </p:sp>
      <p:sp>
        <p:nvSpPr>
          <p:cNvPr id="39" name="Text 37"/>
          <p:cNvSpPr txBox="1"/>
          <p:nvPr/>
        </p:nvSpPr>
        <p:spPr>
          <a:xfrm>
            <a:off x="6163056" y="4114800"/>
            <a:ext cx="2542032" cy="40233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buNone/>
            </a:pPr>
            <a:r>
              <a:rPr lang="en-US" sz="900" dirty="0">
                <a:solidFill>
                  <a:srgbClr val="111111"/>
                </a:solidFill>
              </a:rPr>
              <a:t>•  Sinhala language support planned</a:t>
            </a:r>
            <a:endParaRPr lang="en-US" sz="900" dirty="0"/>
          </a:p>
        </p:txBody>
      </p:sp>
      <p:sp>
        <p:nvSpPr>
          <p:cNvPr id="40" name="Shape 38"/>
          <p:cNvSpPr/>
          <p:nvPr/>
        </p:nvSpPr>
        <p:spPr>
          <a:xfrm>
            <a:off x="0" y="4892040"/>
            <a:ext cx="9144000" cy="256032"/>
          </a:xfrm>
          <a:prstGeom prst="rect">
            <a:avLst/>
          </a:prstGeom>
          <a:solidFill>
            <a:srgbClr val="1B5E20"/>
          </a:solidFill>
          <a:ln w="12700">
            <a:solidFill>
              <a:srgbClr val="1B5E20"/>
            </a:solidFill>
            <a:prstDash val="solid"/>
          </a:ln>
        </p:spPr>
        <p:txBody>
          <a:bodyPr/>
          <a:lstStyle/>
          <a:p>
            <a:endParaRPr lang="en-LK"/>
          </a:p>
        </p:txBody>
      </p:sp>
      <p:sp>
        <p:nvSpPr>
          <p:cNvPr id="41" name="Text 39"/>
          <p:cNvSpPr txBox="1"/>
          <p:nvPr/>
        </p:nvSpPr>
        <p:spPr>
          <a:xfrm>
            <a:off x="274320" y="4892040"/>
            <a:ext cx="6400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800" dirty="0">
                <a:solidFill>
                  <a:srgbClr val="C8E6C9"/>
                </a:solidFill>
              </a:rPr>
              <a:t>TomatoDoc  |  R26-SE-032  |  SLIIT Faculty of Computing</a:t>
            </a:r>
            <a:endParaRPr lang="en-US" sz="800" dirty="0"/>
          </a:p>
        </p:txBody>
      </p:sp>
      <p:sp>
        <p:nvSpPr>
          <p:cNvPr id="42" name="Text 40"/>
          <p:cNvSpPr txBox="1"/>
          <p:nvPr/>
        </p:nvSpPr>
        <p:spPr>
          <a:xfrm>
            <a:off x="8229600" y="4892040"/>
            <a:ext cx="6400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C8E6C9"/>
                </a:solidFill>
              </a:rPr>
              <a:t>10</a:t>
            </a:r>
            <a:endParaRPr lang="en-US" sz="8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4F6F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1B5E20"/>
          </a:solidFill>
          <a:ln w="12700">
            <a:solidFill>
              <a:srgbClr val="1B5E20"/>
            </a:solidFill>
            <a:prstDash val="solid"/>
          </a:ln>
        </p:spPr>
        <p:txBody>
          <a:bodyPr/>
          <a:lstStyle/>
          <a:p>
            <a:endParaRPr lang="en-LK"/>
          </a:p>
        </p:txBody>
      </p:sp>
      <p:sp>
        <p:nvSpPr>
          <p:cNvPr id="3" name="Text 1"/>
          <p:cNvSpPr txBox="1"/>
          <p:nvPr/>
        </p:nvSpPr>
        <p:spPr>
          <a:xfrm>
            <a:off x="365760" y="164592"/>
            <a:ext cx="84124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2200" b="1" dirty="0">
                <a:solidFill>
                  <a:srgbClr val="FFFFFF"/>
                </a:solidFill>
              </a:rPr>
              <a:t>Commercialization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274320" y="804672"/>
            <a:ext cx="4206240" cy="1920240"/>
          </a:xfrm>
          <a:prstGeom prst="rect">
            <a:avLst/>
          </a:prstGeom>
          <a:solidFill>
            <a:srgbClr val="FFFFFF"/>
          </a:solidFill>
          <a:ln w="6350">
            <a:solidFill>
              <a:srgbClr val="D4DDD4"/>
            </a:solidFill>
            <a:prstDash val="solid"/>
          </a:ln>
          <a:effectLst>
            <a:outerShdw blurRad="101600" dist="38100" dir="8100000" algn="bl" rotWithShape="0">
              <a:srgbClr val="000000">
                <a:alpha val="13000"/>
              </a:srgbClr>
            </a:outerShdw>
          </a:effectLst>
        </p:spPr>
        <p:txBody>
          <a:bodyPr/>
          <a:lstStyle/>
          <a:p>
            <a:endParaRPr lang="en-LK"/>
          </a:p>
        </p:txBody>
      </p:sp>
      <p:sp>
        <p:nvSpPr>
          <p:cNvPr id="5" name="Shape 3"/>
          <p:cNvSpPr/>
          <p:nvPr/>
        </p:nvSpPr>
        <p:spPr>
          <a:xfrm>
            <a:off x="274320" y="804672"/>
            <a:ext cx="4206240" cy="347472"/>
          </a:xfrm>
          <a:prstGeom prst="rect">
            <a:avLst/>
          </a:prstGeom>
          <a:solidFill>
            <a:srgbClr val="2E7D32"/>
          </a:solidFill>
          <a:ln w="12700">
            <a:solidFill>
              <a:srgbClr val="2E7D32"/>
            </a:solidFill>
            <a:prstDash val="solid"/>
          </a:ln>
        </p:spPr>
        <p:txBody>
          <a:bodyPr/>
          <a:lstStyle/>
          <a:p>
            <a:endParaRPr lang="en-LK"/>
          </a:p>
        </p:txBody>
      </p:sp>
      <p:sp>
        <p:nvSpPr>
          <p:cNvPr id="6" name="Text 4"/>
          <p:cNvSpPr txBox="1"/>
          <p:nvPr/>
        </p:nvSpPr>
        <p:spPr>
          <a:xfrm>
            <a:off x="365760" y="804672"/>
            <a:ext cx="40233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FFFFFF"/>
                </a:solidFill>
              </a:rPr>
              <a:t>  Target Market</a:t>
            </a:r>
            <a:endParaRPr lang="en-US" sz="1200" dirty="0"/>
          </a:p>
        </p:txBody>
      </p:sp>
      <p:sp>
        <p:nvSpPr>
          <p:cNvPr id="7" name="Text 5"/>
          <p:cNvSpPr txBox="1"/>
          <p:nvPr/>
        </p:nvSpPr>
        <p:spPr>
          <a:xfrm>
            <a:off x="384048" y="1225296"/>
            <a:ext cx="3931920" cy="43891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buNone/>
            </a:pPr>
            <a:r>
              <a:rPr lang="en-US" sz="950" dirty="0">
                <a:solidFill>
                  <a:srgbClr val="111111"/>
                </a:solidFill>
              </a:rPr>
              <a:t>•  Primary: Sri Lankan tomato farmers &amp; smallholder growers</a:t>
            </a:r>
            <a:endParaRPr lang="en-US" sz="950" dirty="0"/>
          </a:p>
        </p:txBody>
      </p:sp>
      <p:sp>
        <p:nvSpPr>
          <p:cNvPr id="8" name="Text 6"/>
          <p:cNvSpPr txBox="1"/>
          <p:nvPr/>
        </p:nvSpPr>
        <p:spPr>
          <a:xfrm>
            <a:off x="384048" y="1700784"/>
            <a:ext cx="3931920" cy="43891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buNone/>
            </a:pPr>
            <a:r>
              <a:rPr lang="en-US" sz="950" dirty="0">
                <a:solidFill>
                  <a:srgbClr val="111111"/>
                </a:solidFill>
              </a:rPr>
              <a:t>•  Secondary: Agricultural extension officers &amp; agri-tech platforms</a:t>
            </a:r>
            <a:endParaRPr lang="en-US" sz="950" dirty="0"/>
          </a:p>
        </p:txBody>
      </p:sp>
      <p:sp>
        <p:nvSpPr>
          <p:cNvPr id="9" name="Text 7"/>
          <p:cNvSpPr txBox="1"/>
          <p:nvPr/>
        </p:nvSpPr>
        <p:spPr>
          <a:xfrm>
            <a:off x="384048" y="2176272"/>
            <a:ext cx="3931920" cy="43891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buNone/>
            </a:pPr>
            <a:r>
              <a:rPr lang="en-US" sz="950" dirty="0">
                <a:solidFill>
                  <a:srgbClr val="111111"/>
                </a:solidFill>
              </a:rPr>
              <a:t>•  Future: Other crops &amp; South Asian emerging markets</a:t>
            </a:r>
            <a:endParaRPr lang="en-US" sz="950" dirty="0"/>
          </a:p>
        </p:txBody>
      </p:sp>
      <p:sp>
        <p:nvSpPr>
          <p:cNvPr id="10" name="Shape 8"/>
          <p:cNvSpPr/>
          <p:nvPr/>
        </p:nvSpPr>
        <p:spPr>
          <a:xfrm>
            <a:off x="4709160" y="804672"/>
            <a:ext cx="4206240" cy="1920240"/>
          </a:xfrm>
          <a:prstGeom prst="rect">
            <a:avLst/>
          </a:prstGeom>
          <a:solidFill>
            <a:srgbClr val="FFFFFF"/>
          </a:solidFill>
          <a:ln w="6350">
            <a:solidFill>
              <a:srgbClr val="D4DDD4"/>
            </a:solidFill>
            <a:prstDash val="solid"/>
          </a:ln>
          <a:effectLst>
            <a:outerShdw blurRad="101600" dist="38100" dir="8100000" algn="bl" rotWithShape="0">
              <a:srgbClr val="000000">
                <a:alpha val="13000"/>
              </a:srgbClr>
            </a:outerShdw>
          </a:effectLst>
        </p:spPr>
        <p:txBody>
          <a:bodyPr/>
          <a:lstStyle/>
          <a:p>
            <a:endParaRPr lang="en-LK"/>
          </a:p>
        </p:txBody>
      </p:sp>
      <p:sp>
        <p:nvSpPr>
          <p:cNvPr id="11" name="Shape 9"/>
          <p:cNvSpPr/>
          <p:nvPr/>
        </p:nvSpPr>
        <p:spPr>
          <a:xfrm>
            <a:off x="4709160" y="804672"/>
            <a:ext cx="4206240" cy="347472"/>
          </a:xfrm>
          <a:prstGeom prst="rect">
            <a:avLst/>
          </a:prstGeom>
          <a:solidFill>
            <a:srgbClr val="1565C0"/>
          </a:solidFill>
          <a:ln w="12700">
            <a:solidFill>
              <a:srgbClr val="1565C0"/>
            </a:solidFill>
            <a:prstDash val="solid"/>
          </a:ln>
        </p:spPr>
        <p:txBody>
          <a:bodyPr/>
          <a:lstStyle/>
          <a:p>
            <a:endParaRPr lang="en-LK"/>
          </a:p>
        </p:txBody>
      </p:sp>
      <p:sp>
        <p:nvSpPr>
          <p:cNvPr id="12" name="Text 10"/>
          <p:cNvSpPr txBox="1"/>
          <p:nvPr/>
        </p:nvSpPr>
        <p:spPr>
          <a:xfrm>
            <a:off x="4800600" y="804672"/>
            <a:ext cx="40233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FFFFFF"/>
                </a:solidFill>
              </a:rPr>
              <a:t>  Value Proposition</a:t>
            </a:r>
            <a:endParaRPr lang="en-US" sz="1200" dirty="0"/>
          </a:p>
        </p:txBody>
      </p:sp>
      <p:sp>
        <p:nvSpPr>
          <p:cNvPr id="13" name="Text 11"/>
          <p:cNvSpPr txBox="1"/>
          <p:nvPr/>
        </p:nvSpPr>
        <p:spPr>
          <a:xfrm>
            <a:off x="4818888" y="1225296"/>
            <a:ext cx="3931920" cy="43891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buNone/>
            </a:pPr>
            <a:r>
              <a:rPr lang="en-US" sz="950" dirty="0">
                <a:solidFill>
                  <a:srgbClr val="111111"/>
                </a:solidFill>
              </a:rPr>
              <a:t>•  All-in-one: deficiency + disease + monitoring + pricing</a:t>
            </a:r>
            <a:endParaRPr lang="en-US" sz="950" dirty="0"/>
          </a:p>
        </p:txBody>
      </p:sp>
      <p:sp>
        <p:nvSpPr>
          <p:cNvPr id="14" name="Text 12"/>
          <p:cNvSpPr txBox="1"/>
          <p:nvPr/>
        </p:nvSpPr>
        <p:spPr>
          <a:xfrm>
            <a:off x="4818888" y="1700784"/>
            <a:ext cx="3931920" cy="43891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buNone/>
            </a:pPr>
            <a:r>
              <a:rPr lang="en-US" sz="950" dirty="0">
                <a:solidFill>
                  <a:srgbClr val="111111"/>
                </a:solidFill>
              </a:rPr>
              <a:t>•  AI-powered, specific dosage &amp; treatment — not generic advice</a:t>
            </a:r>
            <a:endParaRPr lang="en-US" sz="950" dirty="0"/>
          </a:p>
        </p:txBody>
      </p:sp>
      <p:sp>
        <p:nvSpPr>
          <p:cNvPr id="15" name="Text 13"/>
          <p:cNvSpPr txBox="1"/>
          <p:nvPr/>
        </p:nvSpPr>
        <p:spPr>
          <a:xfrm>
            <a:off x="4818888" y="2176272"/>
            <a:ext cx="3931920" cy="43891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buNone/>
            </a:pPr>
            <a:r>
              <a:rPr lang="en-US" sz="950" dirty="0">
                <a:solidFill>
                  <a:srgbClr val="111111"/>
                </a:solidFill>
              </a:rPr>
              <a:t>•  First mobile app combining all 4 for Sri Lankan conditions</a:t>
            </a:r>
            <a:endParaRPr lang="en-US" sz="950" dirty="0"/>
          </a:p>
        </p:txBody>
      </p:sp>
      <p:sp>
        <p:nvSpPr>
          <p:cNvPr id="16" name="Shape 14"/>
          <p:cNvSpPr/>
          <p:nvPr/>
        </p:nvSpPr>
        <p:spPr>
          <a:xfrm>
            <a:off x="274320" y="2862072"/>
            <a:ext cx="4206240" cy="1920240"/>
          </a:xfrm>
          <a:prstGeom prst="rect">
            <a:avLst/>
          </a:prstGeom>
          <a:solidFill>
            <a:srgbClr val="FFFFFF"/>
          </a:solidFill>
          <a:ln w="6350">
            <a:solidFill>
              <a:srgbClr val="D4DDD4"/>
            </a:solidFill>
            <a:prstDash val="solid"/>
          </a:ln>
          <a:effectLst>
            <a:outerShdw blurRad="101600" dist="38100" dir="8100000" algn="bl" rotWithShape="0">
              <a:srgbClr val="000000">
                <a:alpha val="13000"/>
              </a:srgbClr>
            </a:outerShdw>
          </a:effectLst>
        </p:spPr>
        <p:txBody>
          <a:bodyPr/>
          <a:lstStyle/>
          <a:p>
            <a:endParaRPr lang="en-LK"/>
          </a:p>
        </p:txBody>
      </p:sp>
      <p:sp>
        <p:nvSpPr>
          <p:cNvPr id="17" name="Shape 15"/>
          <p:cNvSpPr/>
          <p:nvPr/>
        </p:nvSpPr>
        <p:spPr>
          <a:xfrm>
            <a:off x="274320" y="2862072"/>
            <a:ext cx="4206240" cy="347472"/>
          </a:xfrm>
          <a:prstGeom prst="rect">
            <a:avLst/>
          </a:prstGeom>
          <a:solidFill>
            <a:srgbClr val="E65100"/>
          </a:solidFill>
          <a:ln w="12700">
            <a:solidFill>
              <a:srgbClr val="E65100"/>
            </a:solidFill>
            <a:prstDash val="solid"/>
          </a:ln>
        </p:spPr>
        <p:txBody>
          <a:bodyPr/>
          <a:lstStyle/>
          <a:p>
            <a:endParaRPr lang="en-LK"/>
          </a:p>
        </p:txBody>
      </p:sp>
      <p:sp>
        <p:nvSpPr>
          <p:cNvPr id="18" name="Text 16"/>
          <p:cNvSpPr txBox="1"/>
          <p:nvPr/>
        </p:nvSpPr>
        <p:spPr>
          <a:xfrm>
            <a:off x="365760" y="2862072"/>
            <a:ext cx="40233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FFFFFF"/>
                </a:solidFill>
              </a:rPr>
              <a:t>  Revenue Model</a:t>
            </a:r>
            <a:endParaRPr lang="en-US" sz="1200" dirty="0"/>
          </a:p>
        </p:txBody>
      </p:sp>
      <p:sp>
        <p:nvSpPr>
          <p:cNvPr id="19" name="Text 17"/>
          <p:cNvSpPr txBox="1"/>
          <p:nvPr/>
        </p:nvSpPr>
        <p:spPr>
          <a:xfrm>
            <a:off x="384048" y="3282696"/>
            <a:ext cx="3931920" cy="43891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buNone/>
            </a:pPr>
            <a:r>
              <a:rPr lang="en-US" sz="950" dirty="0">
                <a:solidFill>
                  <a:srgbClr val="111111"/>
                </a:solidFill>
              </a:rPr>
              <a:t>•  Free: 10 scans/month — farmer onboarding</a:t>
            </a:r>
            <a:endParaRPr lang="en-US" sz="950" dirty="0"/>
          </a:p>
        </p:txBody>
      </p:sp>
      <p:sp>
        <p:nvSpPr>
          <p:cNvPr id="20" name="Text 18"/>
          <p:cNvSpPr txBox="1"/>
          <p:nvPr/>
        </p:nvSpPr>
        <p:spPr>
          <a:xfrm>
            <a:off x="384048" y="3758184"/>
            <a:ext cx="3931920" cy="43891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buNone/>
            </a:pPr>
            <a:r>
              <a:rPr lang="en-US" sz="950" dirty="0">
                <a:solidFill>
                  <a:srgbClr val="111111"/>
                </a:solidFill>
              </a:rPr>
              <a:t>•  Premium: Unlimited scans + history + trends</a:t>
            </a:r>
            <a:endParaRPr lang="en-US" sz="950" dirty="0"/>
          </a:p>
        </p:txBody>
      </p:sp>
      <p:sp>
        <p:nvSpPr>
          <p:cNvPr id="21" name="Text 19"/>
          <p:cNvSpPr txBox="1"/>
          <p:nvPr/>
        </p:nvSpPr>
        <p:spPr>
          <a:xfrm>
            <a:off x="384048" y="4233672"/>
            <a:ext cx="3931920" cy="43891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buNone/>
            </a:pPr>
            <a:r>
              <a:rPr lang="en-US" sz="950" dirty="0">
                <a:solidFill>
                  <a:srgbClr val="111111"/>
                </a:solidFill>
              </a:rPr>
              <a:t>•  Enterprise: API access for agri-platforms &amp; cooperatives</a:t>
            </a:r>
            <a:endParaRPr lang="en-US" sz="950" dirty="0"/>
          </a:p>
        </p:txBody>
      </p:sp>
      <p:sp>
        <p:nvSpPr>
          <p:cNvPr id="22" name="Shape 20"/>
          <p:cNvSpPr/>
          <p:nvPr/>
        </p:nvSpPr>
        <p:spPr>
          <a:xfrm>
            <a:off x="4709160" y="2862072"/>
            <a:ext cx="4206240" cy="1920240"/>
          </a:xfrm>
          <a:prstGeom prst="rect">
            <a:avLst/>
          </a:prstGeom>
          <a:solidFill>
            <a:srgbClr val="FFFFFF"/>
          </a:solidFill>
          <a:ln w="6350">
            <a:solidFill>
              <a:srgbClr val="D4DDD4"/>
            </a:solidFill>
            <a:prstDash val="solid"/>
          </a:ln>
          <a:effectLst>
            <a:outerShdw blurRad="101600" dist="38100" dir="8100000" algn="bl" rotWithShape="0">
              <a:srgbClr val="000000">
                <a:alpha val="13000"/>
              </a:srgbClr>
            </a:outerShdw>
          </a:effectLst>
        </p:spPr>
        <p:txBody>
          <a:bodyPr/>
          <a:lstStyle/>
          <a:p>
            <a:endParaRPr lang="en-LK"/>
          </a:p>
        </p:txBody>
      </p:sp>
      <p:sp>
        <p:nvSpPr>
          <p:cNvPr id="23" name="Shape 21"/>
          <p:cNvSpPr/>
          <p:nvPr/>
        </p:nvSpPr>
        <p:spPr>
          <a:xfrm>
            <a:off x="4709160" y="2862072"/>
            <a:ext cx="4206240" cy="347472"/>
          </a:xfrm>
          <a:prstGeom prst="rect">
            <a:avLst/>
          </a:prstGeom>
          <a:solidFill>
            <a:srgbClr val="00695C"/>
          </a:solidFill>
          <a:ln w="12700">
            <a:solidFill>
              <a:srgbClr val="00695C"/>
            </a:solidFill>
            <a:prstDash val="solid"/>
          </a:ln>
        </p:spPr>
        <p:txBody>
          <a:bodyPr/>
          <a:lstStyle/>
          <a:p>
            <a:endParaRPr lang="en-LK"/>
          </a:p>
        </p:txBody>
      </p:sp>
      <p:sp>
        <p:nvSpPr>
          <p:cNvPr id="24" name="Text 22"/>
          <p:cNvSpPr txBox="1"/>
          <p:nvPr/>
        </p:nvSpPr>
        <p:spPr>
          <a:xfrm>
            <a:off x="4800600" y="2862072"/>
            <a:ext cx="40233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FFFFFF"/>
                </a:solidFill>
              </a:rPr>
              <a:t>  IP &amp; Partnerships</a:t>
            </a:r>
            <a:endParaRPr lang="en-US" sz="1200" dirty="0"/>
          </a:p>
        </p:txBody>
      </p:sp>
      <p:sp>
        <p:nvSpPr>
          <p:cNvPr id="25" name="Text 23"/>
          <p:cNvSpPr txBox="1"/>
          <p:nvPr/>
        </p:nvSpPr>
        <p:spPr>
          <a:xfrm>
            <a:off x="4818888" y="3282696"/>
            <a:ext cx="3931920" cy="43891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buNone/>
            </a:pPr>
            <a:r>
              <a:rPr lang="en-US" sz="950" dirty="0">
                <a:solidFill>
                  <a:srgbClr val="111111"/>
                </a:solidFill>
              </a:rPr>
              <a:t>•  DOA Sri Lanka — agrochemical approval &amp; field data</a:t>
            </a:r>
            <a:endParaRPr lang="en-US" sz="950" dirty="0"/>
          </a:p>
        </p:txBody>
      </p:sp>
      <p:sp>
        <p:nvSpPr>
          <p:cNvPr id="26" name="Text 24"/>
          <p:cNvSpPr txBox="1"/>
          <p:nvPr/>
        </p:nvSpPr>
        <p:spPr>
          <a:xfrm>
            <a:off x="4818888" y="3758184"/>
            <a:ext cx="3931920" cy="43891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buNone/>
            </a:pPr>
            <a:r>
              <a:rPr lang="en-US" sz="950" dirty="0">
                <a:solidFill>
                  <a:srgbClr val="111111"/>
                </a:solidFill>
              </a:rPr>
              <a:t>•  HORDI — horticultural research validation</a:t>
            </a:r>
            <a:endParaRPr lang="en-US" sz="950" dirty="0"/>
          </a:p>
        </p:txBody>
      </p:sp>
      <p:sp>
        <p:nvSpPr>
          <p:cNvPr id="27" name="Text 25"/>
          <p:cNvSpPr txBox="1"/>
          <p:nvPr/>
        </p:nvSpPr>
        <p:spPr>
          <a:xfrm>
            <a:off x="4818888" y="4233672"/>
            <a:ext cx="3931920" cy="43891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buNone/>
            </a:pPr>
            <a:r>
              <a:rPr lang="en-US" sz="950" dirty="0">
                <a:solidFill>
                  <a:srgbClr val="111111"/>
                </a:solidFill>
              </a:rPr>
              <a:t>•  First documented Phosphorus dataset gap — research IP</a:t>
            </a:r>
            <a:endParaRPr lang="en-US" sz="950" dirty="0"/>
          </a:p>
        </p:txBody>
      </p:sp>
      <p:sp>
        <p:nvSpPr>
          <p:cNvPr id="28" name="Shape 26"/>
          <p:cNvSpPr/>
          <p:nvPr/>
        </p:nvSpPr>
        <p:spPr>
          <a:xfrm>
            <a:off x="0" y="4892040"/>
            <a:ext cx="9144000" cy="256032"/>
          </a:xfrm>
          <a:prstGeom prst="rect">
            <a:avLst/>
          </a:prstGeom>
          <a:solidFill>
            <a:srgbClr val="1B5E20"/>
          </a:solidFill>
          <a:ln w="12700">
            <a:solidFill>
              <a:srgbClr val="1B5E20"/>
            </a:solidFill>
            <a:prstDash val="solid"/>
          </a:ln>
        </p:spPr>
        <p:txBody>
          <a:bodyPr/>
          <a:lstStyle/>
          <a:p>
            <a:endParaRPr lang="en-LK"/>
          </a:p>
        </p:txBody>
      </p:sp>
      <p:sp>
        <p:nvSpPr>
          <p:cNvPr id="29" name="Text 27"/>
          <p:cNvSpPr txBox="1"/>
          <p:nvPr/>
        </p:nvSpPr>
        <p:spPr>
          <a:xfrm>
            <a:off x="274320" y="4892040"/>
            <a:ext cx="6400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800" dirty="0">
                <a:solidFill>
                  <a:srgbClr val="C8E6C9"/>
                </a:solidFill>
              </a:rPr>
              <a:t>TomatoDoc  |  R26-SE-032  |  SLIIT Faculty of Computing</a:t>
            </a:r>
            <a:endParaRPr lang="en-US" sz="800" dirty="0"/>
          </a:p>
        </p:txBody>
      </p:sp>
      <p:sp>
        <p:nvSpPr>
          <p:cNvPr id="30" name="Text 28"/>
          <p:cNvSpPr txBox="1"/>
          <p:nvPr/>
        </p:nvSpPr>
        <p:spPr>
          <a:xfrm>
            <a:off x="8229600" y="4892040"/>
            <a:ext cx="6400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C8E6C9"/>
                </a:solidFill>
              </a:rPr>
              <a:t>11</a:t>
            </a:r>
            <a:endParaRPr lang="en-US" sz="8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4F6F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1B5E20"/>
          </a:solidFill>
          <a:ln w="12700">
            <a:solidFill>
              <a:srgbClr val="1B5E20"/>
            </a:solidFill>
            <a:prstDash val="solid"/>
          </a:ln>
        </p:spPr>
        <p:txBody>
          <a:bodyPr/>
          <a:lstStyle/>
          <a:p>
            <a:endParaRPr lang="en-LK"/>
          </a:p>
        </p:txBody>
      </p:sp>
      <p:sp>
        <p:nvSpPr>
          <p:cNvPr id="3" name="Text 1"/>
          <p:cNvSpPr txBox="1"/>
          <p:nvPr/>
        </p:nvSpPr>
        <p:spPr>
          <a:xfrm>
            <a:off x="365760" y="164592"/>
            <a:ext cx="84124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2200" b="1" dirty="0">
                <a:solidFill>
                  <a:srgbClr val="FFFFFF"/>
                </a:solidFill>
              </a:rPr>
              <a:t>Demo Roadmap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274320" y="804672"/>
            <a:ext cx="2724912" cy="1901952"/>
          </a:xfrm>
          <a:prstGeom prst="rect">
            <a:avLst/>
          </a:prstGeom>
          <a:solidFill>
            <a:srgbClr val="FFFFFF"/>
          </a:solidFill>
          <a:ln w="6350">
            <a:solidFill>
              <a:srgbClr val="D4DDD4"/>
            </a:solidFill>
            <a:prstDash val="solid"/>
          </a:ln>
          <a:effectLst>
            <a:outerShdw blurRad="101600" dist="38100" dir="8100000" algn="bl" rotWithShape="0">
              <a:srgbClr val="000000">
                <a:alpha val="13000"/>
              </a:srgbClr>
            </a:outerShdw>
          </a:effectLst>
        </p:spPr>
        <p:txBody>
          <a:bodyPr/>
          <a:lstStyle/>
          <a:p>
            <a:endParaRPr lang="en-LK"/>
          </a:p>
        </p:txBody>
      </p:sp>
      <p:sp>
        <p:nvSpPr>
          <p:cNvPr id="5" name="Shape 3"/>
          <p:cNvSpPr/>
          <p:nvPr/>
        </p:nvSpPr>
        <p:spPr>
          <a:xfrm>
            <a:off x="384048" y="941832"/>
            <a:ext cx="548640" cy="548640"/>
          </a:xfrm>
          <a:prstGeom prst="roundRect">
            <a:avLst>
              <a:gd name="adj" fmla="val 13333"/>
            </a:avLst>
          </a:prstGeom>
          <a:solidFill>
            <a:srgbClr val="2E7D32"/>
          </a:solidFill>
          <a:ln w="12700">
            <a:solidFill>
              <a:srgbClr val="2E7D32"/>
            </a:solidFill>
            <a:prstDash val="solid"/>
          </a:ln>
        </p:spPr>
        <p:txBody>
          <a:bodyPr/>
          <a:lstStyle/>
          <a:p>
            <a:endParaRPr lang="en-LK"/>
          </a:p>
        </p:txBody>
      </p:sp>
      <p:sp>
        <p:nvSpPr>
          <p:cNvPr id="6" name="Text 4"/>
          <p:cNvSpPr txBox="1"/>
          <p:nvPr/>
        </p:nvSpPr>
        <p:spPr>
          <a:xfrm>
            <a:off x="384048" y="941832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</a:rPr>
              <a:t>01</a:t>
            </a:r>
            <a:endParaRPr lang="en-US" sz="1600" dirty="0"/>
          </a:p>
        </p:txBody>
      </p:sp>
      <p:sp>
        <p:nvSpPr>
          <p:cNvPr id="7" name="Text 5"/>
          <p:cNvSpPr txBox="1"/>
          <p:nvPr/>
        </p:nvSpPr>
        <p:spPr>
          <a:xfrm>
            <a:off x="1024128" y="987552"/>
            <a:ext cx="1865376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1B5E20"/>
                </a:solidFill>
              </a:rPr>
              <a:t>Login &amp; Registration</a:t>
            </a:r>
            <a:endParaRPr lang="en-US" sz="1000" dirty="0"/>
          </a:p>
        </p:txBody>
      </p:sp>
      <p:sp>
        <p:nvSpPr>
          <p:cNvPr id="8" name="Text 6"/>
          <p:cNvSpPr txBox="1"/>
          <p:nvPr/>
        </p:nvSpPr>
        <p:spPr>
          <a:xfrm>
            <a:off x="384048" y="1581912"/>
            <a:ext cx="2505456" cy="1005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850" dirty="0">
                <a:solidFill>
                  <a:srgbClr val="111111"/>
                </a:solidFill>
              </a:rPr>
              <a:t>User creates account, JWT token stored, navigates to home screen with 4 component cards.</a:t>
            </a:r>
            <a:endParaRPr lang="en-US" sz="850" dirty="0"/>
          </a:p>
        </p:txBody>
      </p:sp>
      <p:sp>
        <p:nvSpPr>
          <p:cNvPr id="9" name="Shape 7"/>
          <p:cNvSpPr/>
          <p:nvPr/>
        </p:nvSpPr>
        <p:spPr>
          <a:xfrm>
            <a:off x="3172968" y="804672"/>
            <a:ext cx="2724912" cy="1901952"/>
          </a:xfrm>
          <a:prstGeom prst="rect">
            <a:avLst/>
          </a:prstGeom>
          <a:solidFill>
            <a:srgbClr val="FFFFFF"/>
          </a:solidFill>
          <a:ln w="6350">
            <a:solidFill>
              <a:srgbClr val="D4DDD4"/>
            </a:solidFill>
            <a:prstDash val="solid"/>
          </a:ln>
          <a:effectLst>
            <a:outerShdw blurRad="101600" dist="38100" dir="8100000" algn="bl" rotWithShape="0">
              <a:srgbClr val="000000">
                <a:alpha val="13000"/>
              </a:srgbClr>
            </a:outerShdw>
          </a:effectLst>
        </p:spPr>
        <p:txBody>
          <a:bodyPr/>
          <a:lstStyle/>
          <a:p>
            <a:endParaRPr lang="en-LK"/>
          </a:p>
        </p:txBody>
      </p:sp>
      <p:sp>
        <p:nvSpPr>
          <p:cNvPr id="10" name="Shape 8"/>
          <p:cNvSpPr/>
          <p:nvPr/>
        </p:nvSpPr>
        <p:spPr>
          <a:xfrm>
            <a:off x="3282696" y="941832"/>
            <a:ext cx="548640" cy="548640"/>
          </a:xfrm>
          <a:prstGeom prst="roundRect">
            <a:avLst>
              <a:gd name="adj" fmla="val 13333"/>
            </a:avLst>
          </a:prstGeom>
          <a:solidFill>
            <a:srgbClr val="00695C"/>
          </a:solidFill>
          <a:ln w="12700">
            <a:solidFill>
              <a:srgbClr val="00695C"/>
            </a:solidFill>
            <a:prstDash val="solid"/>
          </a:ln>
        </p:spPr>
        <p:txBody>
          <a:bodyPr/>
          <a:lstStyle/>
          <a:p>
            <a:endParaRPr lang="en-LK"/>
          </a:p>
        </p:txBody>
      </p:sp>
      <p:sp>
        <p:nvSpPr>
          <p:cNvPr id="11" name="Text 9"/>
          <p:cNvSpPr txBox="1"/>
          <p:nvPr/>
        </p:nvSpPr>
        <p:spPr>
          <a:xfrm>
            <a:off x="3282696" y="941832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</a:rPr>
              <a:t>02</a:t>
            </a:r>
            <a:endParaRPr lang="en-US" sz="1600" dirty="0"/>
          </a:p>
        </p:txBody>
      </p:sp>
      <p:sp>
        <p:nvSpPr>
          <p:cNvPr id="12" name="Text 10"/>
          <p:cNvSpPr txBox="1"/>
          <p:nvPr/>
        </p:nvSpPr>
        <p:spPr>
          <a:xfrm>
            <a:off x="3922776" y="987552"/>
            <a:ext cx="1865376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1B5E20"/>
                </a:solidFill>
              </a:rPr>
              <a:t>Nutrient Deficiency Scan</a:t>
            </a:r>
            <a:endParaRPr lang="en-US" sz="1000" dirty="0"/>
          </a:p>
        </p:txBody>
      </p:sp>
      <p:sp>
        <p:nvSpPr>
          <p:cNvPr id="13" name="Text 11"/>
          <p:cNvSpPr txBox="1"/>
          <p:nvPr/>
        </p:nvSpPr>
        <p:spPr>
          <a:xfrm>
            <a:off x="3282696" y="1581912"/>
            <a:ext cx="2505456" cy="1005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850" dirty="0">
                <a:solidFill>
                  <a:srgbClr val="111111"/>
                </a:solidFill>
              </a:rPr>
              <a:t>Upload leaf photo → MobileNetV2 predicts class → confidence score → fertilizer recommendation via RAG.</a:t>
            </a:r>
            <a:endParaRPr lang="en-US" sz="850" dirty="0"/>
          </a:p>
        </p:txBody>
      </p:sp>
      <p:sp>
        <p:nvSpPr>
          <p:cNvPr id="14" name="Shape 12"/>
          <p:cNvSpPr/>
          <p:nvPr/>
        </p:nvSpPr>
        <p:spPr>
          <a:xfrm>
            <a:off x="6071616" y="804672"/>
            <a:ext cx="2724912" cy="1901952"/>
          </a:xfrm>
          <a:prstGeom prst="rect">
            <a:avLst/>
          </a:prstGeom>
          <a:solidFill>
            <a:srgbClr val="FFFFFF"/>
          </a:solidFill>
          <a:ln w="6350">
            <a:solidFill>
              <a:srgbClr val="D4DDD4"/>
            </a:solidFill>
            <a:prstDash val="solid"/>
          </a:ln>
          <a:effectLst>
            <a:outerShdw blurRad="101600" dist="38100" dir="8100000" algn="bl" rotWithShape="0">
              <a:srgbClr val="000000">
                <a:alpha val="13000"/>
              </a:srgbClr>
            </a:outerShdw>
          </a:effectLst>
        </p:spPr>
        <p:txBody>
          <a:bodyPr/>
          <a:lstStyle/>
          <a:p>
            <a:endParaRPr lang="en-LK"/>
          </a:p>
        </p:txBody>
      </p:sp>
      <p:sp>
        <p:nvSpPr>
          <p:cNvPr id="15" name="Shape 13"/>
          <p:cNvSpPr/>
          <p:nvPr/>
        </p:nvSpPr>
        <p:spPr>
          <a:xfrm>
            <a:off x="6181344" y="941832"/>
            <a:ext cx="548640" cy="548640"/>
          </a:xfrm>
          <a:prstGeom prst="roundRect">
            <a:avLst>
              <a:gd name="adj" fmla="val 13333"/>
            </a:avLst>
          </a:prstGeom>
          <a:solidFill>
            <a:srgbClr val="1565C0"/>
          </a:solidFill>
          <a:ln w="12700">
            <a:solidFill>
              <a:srgbClr val="1565C0"/>
            </a:solidFill>
            <a:prstDash val="solid"/>
          </a:ln>
        </p:spPr>
        <p:txBody>
          <a:bodyPr/>
          <a:lstStyle/>
          <a:p>
            <a:endParaRPr lang="en-LK"/>
          </a:p>
        </p:txBody>
      </p:sp>
      <p:sp>
        <p:nvSpPr>
          <p:cNvPr id="16" name="Text 14"/>
          <p:cNvSpPr txBox="1"/>
          <p:nvPr/>
        </p:nvSpPr>
        <p:spPr>
          <a:xfrm>
            <a:off x="6181344" y="941832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</a:rPr>
              <a:t>03</a:t>
            </a:r>
            <a:endParaRPr lang="en-US" sz="1600" dirty="0"/>
          </a:p>
        </p:txBody>
      </p:sp>
      <p:sp>
        <p:nvSpPr>
          <p:cNvPr id="17" name="Text 15"/>
          <p:cNvSpPr txBox="1"/>
          <p:nvPr/>
        </p:nvSpPr>
        <p:spPr>
          <a:xfrm>
            <a:off x="6821424" y="987552"/>
            <a:ext cx="1865376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1B5E20"/>
                </a:solidFill>
              </a:rPr>
              <a:t>Fruit Disease Scan</a:t>
            </a:r>
            <a:endParaRPr lang="en-US" sz="1000" dirty="0"/>
          </a:p>
        </p:txBody>
      </p:sp>
      <p:sp>
        <p:nvSpPr>
          <p:cNvPr id="18" name="Text 16"/>
          <p:cNvSpPr txBox="1"/>
          <p:nvPr/>
        </p:nvSpPr>
        <p:spPr>
          <a:xfrm>
            <a:off x="6181344" y="1581912"/>
            <a:ext cx="2505456" cy="1005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850" dirty="0">
                <a:solidFill>
                  <a:srgbClr val="111111"/>
                </a:solidFill>
              </a:rPr>
              <a:t>Upload fruit photo → Model 2 detects disease class → treatment plan → save to history.</a:t>
            </a:r>
            <a:endParaRPr lang="en-US" sz="850" dirty="0"/>
          </a:p>
        </p:txBody>
      </p:sp>
      <p:sp>
        <p:nvSpPr>
          <p:cNvPr id="19" name="Shape 17"/>
          <p:cNvSpPr/>
          <p:nvPr/>
        </p:nvSpPr>
        <p:spPr>
          <a:xfrm>
            <a:off x="274320" y="2834640"/>
            <a:ext cx="2724912" cy="1901952"/>
          </a:xfrm>
          <a:prstGeom prst="rect">
            <a:avLst/>
          </a:prstGeom>
          <a:solidFill>
            <a:srgbClr val="FFFFFF"/>
          </a:solidFill>
          <a:ln w="6350">
            <a:solidFill>
              <a:srgbClr val="D4DDD4"/>
            </a:solidFill>
            <a:prstDash val="solid"/>
          </a:ln>
          <a:effectLst>
            <a:outerShdw blurRad="101600" dist="38100" dir="8100000" algn="bl" rotWithShape="0">
              <a:srgbClr val="000000">
                <a:alpha val="13000"/>
              </a:srgbClr>
            </a:outerShdw>
          </a:effectLst>
        </p:spPr>
        <p:txBody>
          <a:bodyPr/>
          <a:lstStyle/>
          <a:p>
            <a:endParaRPr lang="en-LK"/>
          </a:p>
        </p:txBody>
      </p:sp>
      <p:sp>
        <p:nvSpPr>
          <p:cNvPr id="20" name="Shape 18"/>
          <p:cNvSpPr/>
          <p:nvPr/>
        </p:nvSpPr>
        <p:spPr>
          <a:xfrm>
            <a:off x="384048" y="2971800"/>
            <a:ext cx="548640" cy="548640"/>
          </a:xfrm>
          <a:prstGeom prst="roundRect">
            <a:avLst>
              <a:gd name="adj" fmla="val 13333"/>
            </a:avLst>
          </a:prstGeom>
          <a:solidFill>
            <a:srgbClr val="E65100"/>
          </a:solidFill>
          <a:ln w="12700">
            <a:solidFill>
              <a:srgbClr val="E65100"/>
            </a:solidFill>
            <a:prstDash val="solid"/>
          </a:ln>
        </p:spPr>
        <p:txBody>
          <a:bodyPr/>
          <a:lstStyle/>
          <a:p>
            <a:endParaRPr lang="en-LK"/>
          </a:p>
        </p:txBody>
      </p:sp>
      <p:sp>
        <p:nvSpPr>
          <p:cNvPr id="21" name="Text 19"/>
          <p:cNvSpPr txBox="1"/>
          <p:nvPr/>
        </p:nvSpPr>
        <p:spPr>
          <a:xfrm>
            <a:off x="384048" y="2971800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</a:rPr>
              <a:t>04</a:t>
            </a:r>
            <a:endParaRPr lang="en-US" sz="1600" dirty="0"/>
          </a:p>
        </p:txBody>
      </p:sp>
      <p:sp>
        <p:nvSpPr>
          <p:cNvPr id="22" name="Text 20"/>
          <p:cNvSpPr txBox="1"/>
          <p:nvPr/>
        </p:nvSpPr>
        <p:spPr>
          <a:xfrm>
            <a:off x="1024128" y="3017520"/>
            <a:ext cx="1865376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1B5E20"/>
                </a:solidFill>
              </a:rPr>
              <a:t>Leaf Disease Detection</a:t>
            </a:r>
            <a:endParaRPr lang="en-US" sz="1000" dirty="0"/>
          </a:p>
        </p:txBody>
      </p:sp>
      <p:sp>
        <p:nvSpPr>
          <p:cNvPr id="23" name="Text 21"/>
          <p:cNvSpPr txBox="1"/>
          <p:nvPr/>
        </p:nvSpPr>
        <p:spPr>
          <a:xfrm>
            <a:off x="384048" y="3611880"/>
            <a:ext cx="2505456" cy="1005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850" dirty="0">
                <a:solidFill>
                  <a:srgbClr val="111111"/>
                </a:solidFill>
              </a:rPr>
              <a:t>YOLOv8m detects Early Blight + Late Blight co-occurrence with bounding boxes → RAG treatment advice.</a:t>
            </a:r>
            <a:endParaRPr lang="en-US" sz="850" dirty="0"/>
          </a:p>
        </p:txBody>
      </p:sp>
      <p:sp>
        <p:nvSpPr>
          <p:cNvPr id="24" name="Shape 22"/>
          <p:cNvSpPr/>
          <p:nvPr/>
        </p:nvSpPr>
        <p:spPr>
          <a:xfrm>
            <a:off x="3172968" y="2834640"/>
            <a:ext cx="2724912" cy="1901952"/>
          </a:xfrm>
          <a:prstGeom prst="rect">
            <a:avLst/>
          </a:prstGeom>
          <a:solidFill>
            <a:srgbClr val="FFFFFF"/>
          </a:solidFill>
          <a:ln w="6350">
            <a:solidFill>
              <a:srgbClr val="D4DDD4"/>
            </a:solidFill>
            <a:prstDash val="solid"/>
          </a:ln>
          <a:effectLst>
            <a:outerShdw blurRad="101600" dist="38100" dir="8100000" algn="bl" rotWithShape="0">
              <a:srgbClr val="000000">
                <a:alpha val="13000"/>
              </a:srgbClr>
            </a:outerShdw>
          </a:effectLst>
        </p:spPr>
        <p:txBody>
          <a:bodyPr/>
          <a:lstStyle/>
          <a:p>
            <a:endParaRPr lang="en-LK"/>
          </a:p>
        </p:txBody>
      </p:sp>
      <p:sp>
        <p:nvSpPr>
          <p:cNvPr id="25" name="Shape 23"/>
          <p:cNvSpPr/>
          <p:nvPr/>
        </p:nvSpPr>
        <p:spPr>
          <a:xfrm>
            <a:off x="3282696" y="2971800"/>
            <a:ext cx="548640" cy="548640"/>
          </a:xfrm>
          <a:prstGeom prst="roundRect">
            <a:avLst>
              <a:gd name="adj" fmla="val 13333"/>
            </a:avLst>
          </a:prstGeom>
          <a:solidFill>
            <a:srgbClr val="7B1FA2"/>
          </a:solidFill>
          <a:ln w="12700">
            <a:solidFill>
              <a:srgbClr val="7B1FA2"/>
            </a:solidFill>
            <a:prstDash val="solid"/>
          </a:ln>
        </p:spPr>
        <p:txBody>
          <a:bodyPr/>
          <a:lstStyle/>
          <a:p>
            <a:endParaRPr lang="en-LK"/>
          </a:p>
        </p:txBody>
      </p:sp>
      <p:sp>
        <p:nvSpPr>
          <p:cNvPr id="26" name="Text 24"/>
          <p:cNvSpPr txBox="1"/>
          <p:nvPr/>
        </p:nvSpPr>
        <p:spPr>
          <a:xfrm>
            <a:off x="3282696" y="2971800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</a:rPr>
              <a:t>05</a:t>
            </a:r>
            <a:endParaRPr lang="en-US" sz="1600" dirty="0"/>
          </a:p>
        </p:txBody>
      </p:sp>
      <p:sp>
        <p:nvSpPr>
          <p:cNvPr id="27" name="Text 25"/>
          <p:cNvSpPr txBox="1"/>
          <p:nvPr/>
        </p:nvSpPr>
        <p:spPr>
          <a:xfrm>
            <a:off x="3922776" y="3017520"/>
            <a:ext cx="1865376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1B5E20"/>
                </a:solidFill>
              </a:rPr>
              <a:t>Treatment Monitoring</a:t>
            </a:r>
            <a:endParaRPr lang="en-US" sz="1000" dirty="0"/>
          </a:p>
        </p:txBody>
      </p:sp>
      <p:sp>
        <p:nvSpPr>
          <p:cNvPr id="28" name="Text 26"/>
          <p:cNvSpPr txBox="1"/>
          <p:nvPr/>
        </p:nvSpPr>
        <p:spPr>
          <a:xfrm>
            <a:off x="3282696" y="3611880"/>
            <a:ext cx="2505456" cy="1005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850" dirty="0">
                <a:solidFill>
                  <a:srgbClr val="111111"/>
                </a:solidFill>
              </a:rPr>
              <a:t>Day 1/3/7 photo uploads → U-Net severity % → TRR engine → Success/Partial/Failure + alt medication.</a:t>
            </a:r>
            <a:endParaRPr lang="en-US" sz="850" dirty="0"/>
          </a:p>
        </p:txBody>
      </p:sp>
      <p:sp>
        <p:nvSpPr>
          <p:cNvPr id="29" name="Shape 27"/>
          <p:cNvSpPr/>
          <p:nvPr/>
        </p:nvSpPr>
        <p:spPr>
          <a:xfrm>
            <a:off x="6071616" y="2834640"/>
            <a:ext cx="2724912" cy="1901952"/>
          </a:xfrm>
          <a:prstGeom prst="rect">
            <a:avLst/>
          </a:prstGeom>
          <a:solidFill>
            <a:srgbClr val="FFFFFF"/>
          </a:solidFill>
          <a:ln w="6350">
            <a:solidFill>
              <a:srgbClr val="D4DDD4"/>
            </a:solidFill>
            <a:prstDash val="solid"/>
          </a:ln>
          <a:effectLst>
            <a:outerShdw blurRad="101600" dist="38100" dir="8100000" algn="bl" rotWithShape="0">
              <a:srgbClr val="000000">
                <a:alpha val="13000"/>
              </a:srgbClr>
            </a:outerShdw>
          </a:effectLst>
        </p:spPr>
        <p:txBody>
          <a:bodyPr/>
          <a:lstStyle/>
          <a:p>
            <a:endParaRPr lang="en-LK"/>
          </a:p>
        </p:txBody>
      </p:sp>
      <p:sp>
        <p:nvSpPr>
          <p:cNvPr id="30" name="Shape 28"/>
          <p:cNvSpPr/>
          <p:nvPr/>
        </p:nvSpPr>
        <p:spPr>
          <a:xfrm>
            <a:off x="6181344" y="2971800"/>
            <a:ext cx="548640" cy="548640"/>
          </a:xfrm>
          <a:prstGeom prst="roundRect">
            <a:avLst>
              <a:gd name="adj" fmla="val 13333"/>
            </a:avLst>
          </a:prstGeom>
          <a:solidFill>
            <a:srgbClr val="C62828"/>
          </a:solidFill>
          <a:ln w="12700">
            <a:solidFill>
              <a:srgbClr val="C62828"/>
            </a:solidFill>
            <a:prstDash val="solid"/>
          </a:ln>
        </p:spPr>
        <p:txBody>
          <a:bodyPr/>
          <a:lstStyle/>
          <a:p>
            <a:endParaRPr lang="en-LK"/>
          </a:p>
        </p:txBody>
      </p:sp>
      <p:sp>
        <p:nvSpPr>
          <p:cNvPr id="31" name="Text 29"/>
          <p:cNvSpPr txBox="1"/>
          <p:nvPr/>
        </p:nvSpPr>
        <p:spPr>
          <a:xfrm>
            <a:off x="6181344" y="2971800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</a:rPr>
              <a:t>06</a:t>
            </a:r>
            <a:endParaRPr lang="en-US" sz="1600" dirty="0"/>
          </a:p>
        </p:txBody>
      </p:sp>
      <p:sp>
        <p:nvSpPr>
          <p:cNvPr id="32" name="Text 30"/>
          <p:cNvSpPr txBox="1"/>
          <p:nvPr/>
        </p:nvSpPr>
        <p:spPr>
          <a:xfrm>
            <a:off x="6821424" y="3017520"/>
            <a:ext cx="1865376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1B5E20"/>
                </a:solidFill>
              </a:rPr>
              <a:t>Price Forecast Dashboard</a:t>
            </a:r>
            <a:endParaRPr lang="en-US" sz="1000" dirty="0"/>
          </a:p>
        </p:txBody>
      </p:sp>
      <p:sp>
        <p:nvSpPr>
          <p:cNvPr id="33" name="Text 31"/>
          <p:cNvSpPr txBox="1"/>
          <p:nvPr/>
        </p:nvSpPr>
        <p:spPr>
          <a:xfrm>
            <a:off x="6181344" y="3611880"/>
            <a:ext cx="2505456" cy="1005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850" dirty="0">
                <a:solidFill>
                  <a:srgbClr val="111111"/>
                </a:solidFill>
              </a:rPr>
              <a:t>Historical price trends → LSTM forecast → anomaly flag → sell/hold recommendation + SHAP chart.</a:t>
            </a:r>
            <a:endParaRPr lang="en-US" sz="850" dirty="0"/>
          </a:p>
        </p:txBody>
      </p:sp>
      <p:sp>
        <p:nvSpPr>
          <p:cNvPr id="34" name="Shape 32"/>
          <p:cNvSpPr/>
          <p:nvPr/>
        </p:nvSpPr>
        <p:spPr>
          <a:xfrm>
            <a:off x="0" y="4892040"/>
            <a:ext cx="9144000" cy="256032"/>
          </a:xfrm>
          <a:prstGeom prst="rect">
            <a:avLst/>
          </a:prstGeom>
          <a:solidFill>
            <a:srgbClr val="1B5E20"/>
          </a:solidFill>
          <a:ln w="12700">
            <a:solidFill>
              <a:srgbClr val="1B5E20"/>
            </a:solidFill>
            <a:prstDash val="solid"/>
          </a:ln>
        </p:spPr>
        <p:txBody>
          <a:bodyPr/>
          <a:lstStyle/>
          <a:p>
            <a:endParaRPr lang="en-LK"/>
          </a:p>
        </p:txBody>
      </p:sp>
      <p:sp>
        <p:nvSpPr>
          <p:cNvPr id="35" name="Text 33"/>
          <p:cNvSpPr txBox="1"/>
          <p:nvPr/>
        </p:nvSpPr>
        <p:spPr>
          <a:xfrm>
            <a:off x="274320" y="4892040"/>
            <a:ext cx="6400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800" dirty="0">
                <a:solidFill>
                  <a:srgbClr val="C8E6C9"/>
                </a:solidFill>
              </a:rPr>
              <a:t>TomatoDoc  |  R26-SE-032  |  SLIIT Faculty of Computing</a:t>
            </a:r>
            <a:endParaRPr lang="en-US" sz="800" dirty="0"/>
          </a:p>
        </p:txBody>
      </p:sp>
      <p:sp>
        <p:nvSpPr>
          <p:cNvPr id="36" name="Text 34"/>
          <p:cNvSpPr txBox="1"/>
          <p:nvPr/>
        </p:nvSpPr>
        <p:spPr>
          <a:xfrm>
            <a:off x="8229600" y="4892040"/>
            <a:ext cx="6400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C8E6C9"/>
                </a:solidFill>
              </a:rPr>
              <a:t>12</a:t>
            </a:r>
            <a:endParaRPr lang="en-US" sz="8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1B5E2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3886200" y="457200"/>
            <a:ext cx="137160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5200" dirty="0">
                <a:solidFill>
                  <a:srgbClr val="000000"/>
                </a:solidFill>
              </a:rPr>
              <a:t>🍅</a:t>
            </a:r>
            <a:endParaRPr lang="en-US" sz="5200" dirty="0"/>
          </a:p>
        </p:txBody>
      </p:sp>
      <p:sp>
        <p:nvSpPr>
          <p:cNvPr id="3" name="Text 1"/>
          <p:cNvSpPr txBox="1"/>
          <p:nvPr/>
        </p:nvSpPr>
        <p:spPr>
          <a:xfrm>
            <a:off x="914400" y="1828800"/>
            <a:ext cx="731520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4000" b="1" dirty="0">
                <a:solidFill>
                  <a:srgbClr val="FFFFFF"/>
                </a:solidFill>
              </a:rPr>
              <a:t>TomatoDoc</a:t>
            </a:r>
            <a:endParaRPr lang="en-US" sz="4000" dirty="0"/>
          </a:p>
        </p:txBody>
      </p:sp>
      <p:sp>
        <p:nvSpPr>
          <p:cNvPr id="4" name="Text 2"/>
          <p:cNvSpPr txBox="1"/>
          <p:nvPr/>
        </p:nvSpPr>
        <p:spPr>
          <a:xfrm>
            <a:off x="914400" y="2542032"/>
            <a:ext cx="73152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C8E6C9"/>
                </a:solidFill>
              </a:rPr>
              <a:t>R26-SE-032  |  SLIIT Faculty of Computing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1371600" y="2999232"/>
            <a:ext cx="6400800" cy="347472"/>
          </a:xfrm>
          <a:prstGeom prst="roundRect">
            <a:avLst>
              <a:gd name="adj" fmla="val 15789"/>
            </a:avLst>
          </a:prstGeom>
          <a:solidFill>
            <a:srgbClr val="1B5E20"/>
          </a:solidFill>
          <a:ln w="5080">
            <a:solidFill>
              <a:srgbClr val="43A047"/>
            </a:solidFill>
            <a:prstDash val="solid"/>
          </a:ln>
        </p:spPr>
        <p:txBody>
          <a:bodyPr/>
          <a:lstStyle/>
          <a:p>
            <a:endParaRPr lang="en-LK"/>
          </a:p>
        </p:txBody>
      </p:sp>
      <p:sp>
        <p:nvSpPr>
          <p:cNvPr id="6" name="Text 4"/>
          <p:cNvSpPr txBox="1"/>
          <p:nvPr/>
        </p:nvSpPr>
        <p:spPr>
          <a:xfrm>
            <a:off x="1463040" y="2999232"/>
            <a:ext cx="11887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b="1" dirty="0">
                <a:solidFill>
                  <a:srgbClr val="C8E6C9"/>
                </a:solidFill>
              </a:rPr>
              <a:t>IT22060426</a:t>
            </a:r>
            <a:endParaRPr lang="en-US" sz="900" dirty="0"/>
          </a:p>
        </p:txBody>
      </p:sp>
      <p:sp>
        <p:nvSpPr>
          <p:cNvPr id="7" name="Text 5"/>
          <p:cNvSpPr txBox="1"/>
          <p:nvPr/>
        </p:nvSpPr>
        <p:spPr>
          <a:xfrm>
            <a:off x="2743200" y="2999232"/>
            <a:ext cx="21945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FFFFFF"/>
                </a:solidFill>
              </a:rPr>
              <a:t>Sivanesangabilan Gabilan</a:t>
            </a:r>
            <a:endParaRPr lang="en-US" sz="900" dirty="0"/>
          </a:p>
        </p:txBody>
      </p:sp>
      <p:sp>
        <p:nvSpPr>
          <p:cNvPr id="8" name="Text 6"/>
          <p:cNvSpPr txBox="1"/>
          <p:nvPr/>
        </p:nvSpPr>
        <p:spPr>
          <a:xfrm>
            <a:off x="5029200" y="2999232"/>
            <a:ext cx="26060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850" dirty="0">
                <a:solidFill>
                  <a:srgbClr val="C8E6C9"/>
                </a:solidFill>
              </a:rPr>
              <a:t>Nutrient Deficiency + Fruit Disease + RAG</a:t>
            </a:r>
            <a:endParaRPr lang="en-US" sz="850" dirty="0"/>
          </a:p>
        </p:txBody>
      </p:sp>
      <p:sp>
        <p:nvSpPr>
          <p:cNvPr id="9" name="Shape 7"/>
          <p:cNvSpPr/>
          <p:nvPr/>
        </p:nvSpPr>
        <p:spPr>
          <a:xfrm>
            <a:off x="1371600" y="3419856"/>
            <a:ext cx="6400800" cy="347472"/>
          </a:xfrm>
          <a:prstGeom prst="roundRect">
            <a:avLst>
              <a:gd name="adj" fmla="val 15789"/>
            </a:avLst>
          </a:prstGeom>
          <a:solidFill>
            <a:srgbClr val="1B5E20"/>
          </a:solidFill>
          <a:ln w="5080">
            <a:solidFill>
              <a:srgbClr val="43A047"/>
            </a:solidFill>
            <a:prstDash val="solid"/>
          </a:ln>
        </p:spPr>
        <p:txBody>
          <a:bodyPr/>
          <a:lstStyle/>
          <a:p>
            <a:endParaRPr lang="en-LK"/>
          </a:p>
        </p:txBody>
      </p:sp>
      <p:sp>
        <p:nvSpPr>
          <p:cNvPr id="10" name="Text 8"/>
          <p:cNvSpPr txBox="1"/>
          <p:nvPr/>
        </p:nvSpPr>
        <p:spPr>
          <a:xfrm>
            <a:off x="1463040" y="3419856"/>
            <a:ext cx="11887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b="1" dirty="0">
                <a:solidFill>
                  <a:srgbClr val="C8E6C9"/>
                </a:solidFill>
              </a:rPr>
              <a:t>IT22190734</a:t>
            </a:r>
            <a:endParaRPr lang="en-US" sz="900" dirty="0"/>
          </a:p>
        </p:txBody>
      </p:sp>
      <p:sp>
        <p:nvSpPr>
          <p:cNvPr id="11" name="Text 9"/>
          <p:cNvSpPr txBox="1"/>
          <p:nvPr/>
        </p:nvSpPr>
        <p:spPr>
          <a:xfrm>
            <a:off x="2743200" y="3419856"/>
            <a:ext cx="21945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FFFFFF"/>
                </a:solidFill>
              </a:rPr>
              <a:t>A.L.M. Farthas</a:t>
            </a:r>
            <a:endParaRPr lang="en-US" sz="900" dirty="0"/>
          </a:p>
        </p:txBody>
      </p:sp>
      <p:sp>
        <p:nvSpPr>
          <p:cNvPr id="12" name="Text 10"/>
          <p:cNvSpPr txBox="1"/>
          <p:nvPr/>
        </p:nvSpPr>
        <p:spPr>
          <a:xfrm>
            <a:off x="5029200" y="3419856"/>
            <a:ext cx="26060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850" dirty="0">
                <a:solidFill>
                  <a:srgbClr val="C8E6C9"/>
                </a:solidFill>
              </a:rPr>
              <a:t>Leaf Disease Detection + RAG</a:t>
            </a:r>
            <a:endParaRPr lang="en-US" sz="850" dirty="0"/>
          </a:p>
        </p:txBody>
      </p:sp>
      <p:sp>
        <p:nvSpPr>
          <p:cNvPr id="13" name="Shape 11"/>
          <p:cNvSpPr/>
          <p:nvPr/>
        </p:nvSpPr>
        <p:spPr>
          <a:xfrm>
            <a:off x="1371600" y="3840480"/>
            <a:ext cx="6400800" cy="347472"/>
          </a:xfrm>
          <a:prstGeom prst="roundRect">
            <a:avLst>
              <a:gd name="adj" fmla="val 15789"/>
            </a:avLst>
          </a:prstGeom>
          <a:solidFill>
            <a:srgbClr val="1B5E20"/>
          </a:solidFill>
          <a:ln w="5080">
            <a:solidFill>
              <a:srgbClr val="43A047"/>
            </a:solidFill>
            <a:prstDash val="solid"/>
          </a:ln>
        </p:spPr>
        <p:txBody>
          <a:bodyPr/>
          <a:lstStyle/>
          <a:p>
            <a:endParaRPr lang="en-LK"/>
          </a:p>
        </p:txBody>
      </p:sp>
      <p:sp>
        <p:nvSpPr>
          <p:cNvPr id="14" name="Text 12"/>
          <p:cNvSpPr txBox="1"/>
          <p:nvPr/>
        </p:nvSpPr>
        <p:spPr>
          <a:xfrm>
            <a:off x="1463040" y="3840480"/>
            <a:ext cx="11887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b="1" dirty="0">
                <a:solidFill>
                  <a:srgbClr val="C8E6C9"/>
                </a:solidFill>
              </a:rPr>
              <a:t>IT22208262</a:t>
            </a:r>
            <a:endParaRPr lang="en-US" sz="900" dirty="0"/>
          </a:p>
        </p:txBody>
      </p:sp>
      <p:sp>
        <p:nvSpPr>
          <p:cNvPr id="15" name="Text 13"/>
          <p:cNvSpPr txBox="1"/>
          <p:nvPr/>
        </p:nvSpPr>
        <p:spPr>
          <a:xfrm>
            <a:off x="2743200" y="3840480"/>
            <a:ext cx="21945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FFFFFF"/>
                </a:solidFill>
              </a:rPr>
              <a:t>Vithusha Pathmanathan</a:t>
            </a:r>
            <a:endParaRPr lang="en-US" sz="900" dirty="0"/>
          </a:p>
        </p:txBody>
      </p:sp>
      <p:sp>
        <p:nvSpPr>
          <p:cNvPr id="16" name="Text 14"/>
          <p:cNvSpPr txBox="1"/>
          <p:nvPr/>
        </p:nvSpPr>
        <p:spPr>
          <a:xfrm>
            <a:off x="5029200" y="3840480"/>
            <a:ext cx="26060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850" dirty="0">
                <a:solidFill>
                  <a:srgbClr val="C8E6C9"/>
                </a:solidFill>
              </a:rPr>
              <a:t>Treatment Efficacy Monitoring</a:t>
            </a:r>
            <a:endParaRPr lang="en-US" sz="850" dirty="0"/>
          </a:p>
        </p:txBody>
      </p:sp>
      <p:sp>
        <p:nvSpPr>
          <p:cNvPr id="17" name="Shape 15"/>
          <p:cNvSpPr/>
          <p:nvPr/>
        </p:nvSpPr>
        <p:spPr>
          <a:xfrm>
            <a:off x="1371600" y="4261104"/>
            <a:ext cx="6400800" cy="347472"/>
          </a:xfrm>
          <a:prstGeom prst="roundRect">
            <a:avLst>
              <a:gd name="adj" fmla="val 15789"/>
            </a:avLst>
          </a:prstGeom>
          <a:solidFill>
            <a:srgbClr val="1B5E20"/>
          </a:solidFill>
          <a:ln w="5080">
            <a:solidFill>
              <a:srgbClr val="43A047"/>
            </a:solidFill>
            <a:prstDash val="solid"/>
          </a:ln>
        </p:spPr>
        <p:txBody>
          <a:bodyPr/>
          <a:lstStyle/>
          <a:p>
            <a:endParaRPr lang="en-LK"/>
          </a:p>
        </p:txBody>
      </p:sp>
      <p:sp>
        <p:nvSpPr>
          <p:cNvPr id="18" name="Text 16"/>
          <p:cNvSpPr txBox="1"/>
          <p:nvPr/>
        </p:nvSpPr>
        <p:spPr>
          <a:xfrm>
            <a:off x="1463040" y="4261104"/>
            <a:ext cx="11887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b="1" dirty="0">
                <a:solidFill>
                  <a:srgbClr val="C8E6C9"/>
                </a:solidFill>
              </a:rPr>
              <a:t>IT22295842</a:t>
            </a:r>
            <a:endParaRPr lang="en-US" sz="900" dirty="0"/>
          </a:p>
        </p:txBody>
      </p:sp>
      <p:sp>
        <p:nvSpPr>
          <p:cNvPr id="19" name="Text 17"/>
          <p:cNvSpPr txBox="1"/>
          <p:nvPr/>
        </p:nvSpPr>
        <p:spPr>
          <a:xfrm>
            <a:off x="2743200" y="4261104"/>
            <a:ext cx="21945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FFFFFF"/>
                </a:solidFill>
              </a:rPr>
              <a:t>Rashad M.P.M</a:t>
            </a:r>
            <a:endParaRPr lang="en-US" sz="900" dirty="0"/>
          </a:p>
        </p:txBody>
      </p:sp>
      <p:sp>
        <p:nvSpPr>
          <p:cNvPr id="20" name="Text 18"/>
          <p:cNvSpPr txBox="1"/>
          <p:nvPr/>
        </p:nvSpPr>
        <p:spPr>
          <a:xfrm>
            <a:off x="5029200" y="4261104"/>
            <a:ext cx="26060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850" dirty="0">
                <a:solidFill>
                  <a:srgbClr val="C8E6C9"/>
                </a:solidFill>
              </a:rPr>
              <a:t>Market Price Forecasting</a:t>
            </a:r>
            <a:endParaRPr lang="en-US" sz="850" dirty="0"/>
          </a:p>
        </p:txBody>
      </p:sp>
      <p:sp>
        <p:nvSpPr>
          <p:cNvPr id="21" name="Text 19"/>
          <p:cNvSpPr txBox="1"/>
          <p:nvPr/>
        </p:nvSpPr>
        <p:spPr>
          <a:xfrm>
            <a:off x="914400" y="4800600"/>
            <a:ext cx="73152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C8E6C9"/>
                </a:solidFill>
              </a:rPr>
              <a:t>Thank you for your attention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37</TotalTime>
  <Words>1669</Words>
  <Application>Microsoft Macintosh PowerPoint</Application>
  <PresentationFormat>On-screen Show (16:9)</PresentationFormat>
  <Paragraphs>341</Paragraphs>
  <Slides>13</Slides>
  <Notes>13</Notes>
  <HiddenSlides>0</HiddenSlides>
  <MMClips>0</MMClips>
  <ScaleCrop>false</ScaleCrop>
  <HeadingPairs>
    <vt:vector size="6" baseType="variant">
      <vt:variant>
        <vt:lpstr>Fonts Used</vt:lpstr>
      </vt:variant>
      <vt:variant>
        <vt:i4>1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5" baseType="lpstr">
      <vt:lpstr>Arial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GABILAN S it22060426</cp:lastModifiedBy>
  <cp:revision>7</cp:revision>
  <dcterms:created xsi:type="dcterms:W3CDTF">2026-08-31T07:07:26Z</dcterms:created>
  <dcterms:modified xsi:type="dcterms:W3CDTF">2026-09-01T05:56:11Z</dcterms:modified>
</cp:coreProperties>
</file>