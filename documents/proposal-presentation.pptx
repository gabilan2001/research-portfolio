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34"/>
  </p:notesMasterIdLst>
  <p:sldIdLst>
    <p:sldId id="256" r:id="rId5"/>
    <p:sldId id="310" r:id="rId6"/>
    <p:sldId id="311" r:id="rId7"/>
    <p:sldId id="312" r:id="rId8"/>
    <p:sldId id="313" r:id="rId9"/>
    <p:sldId id="314" r:id="rId10"/>
    <p:sldId id="315" r:id="rId11"/>
    <p:sldId id="264" r:id="rId12"/>
    <p:sldId id="296" r:id="rId13"/>
    <p:sldId id="297" r:id="rId14"/>
    <p:sldId id="298" r:id="rId15"/>
    <p:sldId id="299" r:id="rId16"/>
    <p:sldId id="305" r:id="rId17"/>
    <p:sldId id="306" r:id="rId18"/>
    <p:sldId id="307" r:id="rId19"/>
    <p:sldId id="308" r:id="rId20"/>
    <p:sldId id="316" r:id="rId21"/>
    <p:sldId id="285" r:id="rId22"/>
    <p:sldId id="286" r:id="rId23"/>
    <p:sldId id="287" r:id="rId24"/>
    <p:sldId id="288" r:id="rId25"/>
    <p:sldId id="309" r:id="rId26"/>
    <p:sldId id="289" r:id="rId27"/>
    <p:sldId id="290" r:id="rId28"/>
    <p:sldId id="291" r:id="rId29"/>
    <p:sldId id="292" r:id="rId30"/>
    <p:sldId id="294" r:id="rId31"/>
    <p:sldId id="317" r:id="rId32"/>
    <p:sldId id="293" r:id="rId33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man" id="{A8D497E1-5468-9F48-8255-459EC6B5139E}">
          <p14:sldIdLst>
            <p14:sldId id="256"/>
            <p14:sldId id="310"/>
            <p14:sldId id="311"/>
            <p14:sldId id="312"/>
            <p14:sldId id="313"/>
            <p14:sldId id="314"/>
            <p14:sldId id="315"/>
          </p14:sldIdLst>
        </p14:section>
        <p14:section name="gabilan" id="{E8E06DBF-CACF-264D-96CB-EFB2314A7955}">
          <p14:sldIdLst>
            <p14:sldId id="264"/>
            <p14:sldId id="296"/>
            <p14:sldId id="297"/>
            <p14:sldId id="298"/>
            <p14:sldId id="299"/>
          </p14:sldIdLst>
        </p14:section>
        <p14:section name="FARTHAS A L M" id="{FE94E57E-6D9B-754E-A6BC-06DE93EAF63C}">
          <p14:sldIdLst>
            <p14:sldId id="305"/>
            <p14:sldId id="306"/>
            <p14:sldId id="307"/>
            <p14:sldId id="308"/>
            <p14:sldId id="316"/>
          </p14:sldIdLst>
        </p14:section>
        <p14:section name="Vithusha Pathmanathan" id="{13CBF93E-421F-8044-BC26-45BECC760B32}">
          <p14:sldIdLst>
            <p14:sldId id="285"/>
            <p14:sldId id="286"/>
            <p14:sldId id="287"/>
            <p14:sldId id="288"/>
            <p14:sldId id="309"/>
          </p14:sldIdLst>
        </p14:section>
        <p14:section name="Rashad M. P. M" id="{94828E02-4B14-D143-8A00-EE0A72EED759}">
          <p14:sldIdLst>
            <p14:sldId id="289"/>
            <p14:sldId id="290"/>
            <p14:sldId id="291"/>
            <p14:sldId id="292"/>
            <p14:sldId id="294"/>
          </p14:sldIdLst>
        </p14:section>
        <p14:section name="LAST" id="{07B866FA-3AFD-5643-8F74-FEFC5DB62EF5}">
          <p14:sldIdLst>
            <p14:sldId id="317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FC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5" d="100"/>
          <a:sy n="95" d="100"/>
        </p:scale>
        <p:origin x="208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D0B21-0634-714B-8BBF-C0E4EFD77688}" type="datetimeFigureOut">
              <a:rPr lang="en-LK" smtClean="0"/>
              <a:t>08/02/2026</a:t>
            </a:fld>
            <a:endParaRPr lang="en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7F840-1D85-0248-A9FB-F7E14CD8ADEC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1057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7F840-1D85-0248-A9FB-F7E14CD8ADEC}" type="slidenum">
              <a:rPr lang="en-LK" smtClean="0"/>
              <a:t>9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81642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737C-856F-D664-FD1F-E7DE5F7DF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D7D14-87E6-11F5-C407-FABFE4F92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F477-340C-C0F4-76FC-47C753FC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B6FBBA40-A42B-0948-AF99-919249903781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AA50E-1BE9-FFCD-3B0F-243D7118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C46A5-FC4C-348F-FBDE-114AAC01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LK"/>
              <a:t>1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40EE55-B0D2-FA5F-2CFE-EDCA95F08AA2}"/>
              </a:ext>
            </a:extLst>
          </p:cNvPr>
          <p:cNvSpPr txBox="1">
            <a:spLocks/>
          </p:cNvSpPr>
          <p:nvPr userDrawn="1"/>
        </p:nvSpPr>
        <p:spPr>
          <a:xfrm>
            <a:off x="599662" y="6361593"/>
            <a:ext cx="27481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LK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182150A7-B074-39A2-8622-990E2C8388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99001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5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B3E7-DB07-56E5-9178-16C02A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66677-5540-7158-AA19-A99EC43D9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D293A-1AC5-CDB8-5CB0-B26419E4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B93B2-701E-7C28-D28C-B96D8BA0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F2D16-9887-A50B-2B67-6C076123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641919F-5FDF-346A-545E-5788276359F7}"/>
              </a:ext>
            </a:extLst>
          </p:cNvPr>
          <p:cNvSpPr txBox="1">
            <a:spLocks/>
          </p:cNvSpPr>
          <p:nvPr userDrawn="1"/>
        </p:nvSpPr>
        <p:spPr>
          <a:xfrm>
            <a:off x="6306322" y="6356349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RP-R26-SE-032</a:t>
            </a:r>
            <a:endParaRPr lang="en-LK"/>
          </a:p>
        </p:txBody>
      </p:sp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1F4DD3FC-FF3B-C0EC-5D41-0D726AEFCD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99001"/>
            <a:ext cx="2608824" cy="490308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D8F6FB4-EF37-6C8E-8D0F-2E7CC4EFD6D5}"/>
              </a:ext>
            </a:extLst>
          </p:cNvPr>
          <p:cNvSpPr txBox="1">
            <a:spLocks/>
          </p:cNvSpPr>
          <p:nvPr userDrawn="1"/>
        </p:nvSpPr>
        <p:spPr>
          <a:xfrm>
            <a:off x="4956370" y="6356349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LK"/>
              <a:t>GABILAN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16177D7-E541-B0E7-78DF-83351090BE8C}"/>
              </a:ext>
            </a:extLst>
          </p:cNvPr>
          <p:cNvSpPr txBox="1">
            <a:spLocks/>
          </p:cNvSpPr>
          <p:nvPr userDrawn="1"/>
        </p:nvSpPr>
        <p:spPr>
          <a:xfrm>
            <a:off x="3684904" y="6356349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LK"/>
              <a:t>IT22060426</a:t>
            </a:r>
          </a:p>
        </p:txBody>
      </p:sp>
    </p:spTree>
    <p:extLst>
      <p:ext uri="{BB962C8B-B14F-4D97-AF65-F5344CB8AC3E}">
        <p14:creationId xmlns:p14="http://schemas.microsoft.com/office/powerpoint/2010/main" val="143871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6587-1FDC-5B8C-AB0D-3D07FF4F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B002A-4365-65B9-04D7-D88FC4849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77BFD-2481-46E3-52BF-717E34664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B6FBBA40-A42B-0948-AF99-919249903781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C3AC8-6CCE-334A-B1CB-9F2BCB3E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135D1-29A2-A912-39BC-44C0E430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LK"/>
              <a:t>1</a:t>
            </a:r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DFCF09E3-2C78-71F6-BA58-8AEAE9CECC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99001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2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64E9-6343-1351-7394-7A1853CB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104EC-5E11-1A5C-9E8F-7A93F53D05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F924B-C7E2-A581-4AA0-9E9E240F9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9286A-DBE5-3526-8369-2C8EED9E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8F91-1F71-3F4A-95AF-89DB4D22CF83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B7507-77ED-B6D5-CCA2-97881A85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34F60-BD25-D947-8325-5BC8F448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96192575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67D7-E324-3315-2046-3B1087CD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94443-149A-8859-39EF-FC9124377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F09D7-709E-71D0-A5AA-588ED499A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C6B78-D8D6-2139-BF36-043757BA8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1F9E7-DD20-F1CD-208D-250B38DBB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B8C613-2ED2-A8EC-E2F1-A7E4899E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018F0-CCC3-9E16-55BF-230A776C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9F95A8-FE50-7146-D0E3-D66E6CD54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D84B257-6345-41AC-3B86-358837E1FD14}"/>
              </a:ext>
            </a:extLst>
          </p:cNvPr>
          <p:cNvSpPr txBox="1">
            <a:spLocks/>
          </p:cNvSpPr>
          <p:nvPr userDrawn="1"/>
        </p:nvSpPr>
        <p:spPr>
          <a:xfrm>
            <a:off x="6306322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RP-R26-SE-032</a:t>
            </a:r>
            <a:endParaRPr lang="en-LK"/>
          </a:p>
        </p:txBody>
      </p:sp>
      <p:pic>
        <p:nvPicPr>
          <p:cNvPr id="11" name="Picture 10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7C640104-0404-BEC1-FBA5-638DA001D3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52963"/>
            <a:ext cx="2608824" cy="490308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9B591C1-EEC5-54AD-D37A-0369C4DD2028}"/>
              </a:ext>
            </a:extLst>
          </p:cNvPr>
          <p:cNvSpPr txBox="1">
            <a:spLocks/>
          </p:cNvSpPr>
          <p:nvPr userDrawn="1"/>
        </p:nvSpPr>
        <p:spPr>
          <a:xfrm>
            <a:off x="4956370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FARTHAS A L M</a:t>
            </a:r>
            <a:endParaRPr lang="en-LK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BBF0179-5207-FA6C-D74D-7F2BD6A67D19}"/>
              </a:ext>
            </a:extLst>
          </p:cNvPr>
          <p:cNvSpPr txBox="1">
            <a:spLocks/>
          </p:cNvSpPr>
          <p:nvPr userDrawn="1"/>
        </p:nvSpPr>
        <p:spPr>
          <a:xfrm>
            <a:off x="3684904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IT22190734</a:t>
            </a:r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64965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60902-6D97-57E7-CCC3-DFA40D26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0B017-7E4D-9149-5F9D-FA9E7865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73E05-59BF-9296-BD5F-F6A6058B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E2FE0-88D8-5870-D461-5A5E246C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DC3961F-6D65-E714-B446-6E8BEEE5C4BD}"/>
              </a:ext>
            </a:extLst>
          </p:cNvPr>
          <p:cNvSpPr txBox="1">
            <a:spLocks/>
          </p:cNvSpPr>
          <p:nvPr userDrawn="1"/>
        </p:nvSpPr>
        <p:spPr>
          <a:xfrm>
            <a:off x="9723783" y="6310312"/>
            <a:ext cx="911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D7B118-E577-5144-933D-79401630E0F9}" type="datetime1">
              <a:rPr lang="en-US" smtClean="0"/>
              <a:pPr/>
              <a:t>8/2/2026</a:t>
            </a:fld>
            <a:endParaRPr lang="en-LK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1E6B38A-5ECF-935F-A223-C0E49CA97D46}"/>
              </a:ext>
            </a:extLst>
          </p:cNvPr>
          <p:cNvSpPr txBox="1">
            <a:spLocks/>
          </p:cNvSpPr>
          <p:nvPr userDrawn="1"/>
        </p:nvSpPr>
        <p:spPr>
          <a:xfrm>
            <a:off x="11153361" y="6310312"/>
            <a:ext cx="4008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319F46-185A-A649-83B1-01A4802BC987}" type="slidenum">
              <a:rPr lang="en-LK" smtClean="0"/>
              <a:pPr/>
              <a:t>‹#›</a:t>
            </a:fld>
            <a:endParaRPr lang="en-LK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A176DF-4E04-9799-C4AD-FC18176032A5}"/>
              </a:ext>
            </a:extLst>
          </p:cNvPr>
          <p:cNvSpPr txBox="1">
            <a:spLocks/>
          </p:cNvSpPr>
          <p:nvPr userDrawn="1"/>
        </p:nvSpPr>
        <p:spPr>
          <a:xfrm>
            <a:off x="6523664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RP-R26-SE-032</a:t>
            </a:r>
            <a:endParaRPr lang="en-LK"/>
          </a:p>
        </p:txBody>
      </p:sp>
      <p:pic>
        <p:nvPicPr>
          <p:cNvPr id="9" name="Picture 8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3A71A568-581B-863C-4526-B49334F61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52963"/>
            <a:ext cx="2608824" cy="490308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FD3A431-BB10-A075-7B05-B6636A7D320E}"/>
              </a:ext>
            </a:extLst>
          </p:cNvPr>
          <p:cNvSpPr txBox="1">
            <a:spLocks/>
          </p:cNvSpPr>
          <p:nvPr userDrawn="1"/>
        </p:nvSpPr>
        <p:spPr>
          <a:xfrm>
            <a:off x="4956370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Rashad M. P. M</a:t>
            </a:r>
            <a:endParaRPr lang="en-LK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4F8C4EF-9D96-7D5F-6B95-1ADA030EFAB7}"/>
              </a:ext>
            </a:extLst>
          </p:cNvPr>
          <p:cNvSpPr txBox="1">
            <a:spLocks/>
          </p:cNvSpPr>
          <p:nvPr userDrawn="1"/>
        </p:nvSpPr>
        <p:spPr>
          <a:xfrm>
            <a:off x="3614868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IT22295842</a:t>
            </a:r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15509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A0BD4A-71FC-685E-E10B-5A76C9FB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B16BF-ED70-7066-547E-B41CA142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05CC6-B117-0126-47D3-BD9A94EA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  <p:pic>
        <p:nvPicPr>
          <p:cNvPr id="5" name="Picture 4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D88298E9-A7DE-4DCE-1B7F-FD1E14109C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101600" y="6293757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3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BB0E9-C484-DD57-D97D-494847AE6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BAC6-8F78-CE9D-6944-4351A3321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AEC0D-9614-B2CB-EE18-C045F571B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0D2C9-F890-CC73-D6E7-A55D0635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605E-A764-004F-A86B-4BDEA1D949AD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93BB4-810B-24E1-D05C-9F3A6340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2A8AD-B39F-82FF-C0A6-45200791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08647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593C-F480-6051-B627-F9D0DF0DF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ED2-9E4C-8C33-B6CD-14662AFEF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4E6F5-1699-3344-98B7-91FBFCA83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0AA98-DD85-518C-96D7-42BA88CB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AFCD4-1024-FE40-A5F9-0080725B9731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176EE-16E6-E19C-985B-25ABEC06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2E8B6-57A2-6E9C-7DA3-7FA87A1E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16011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1B74-5D1F-9348-77F9-01A5E9618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058B7-D244-124B-0AA5-C112547F0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7E74-4D5F-4E06-F128-BAAF7798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A3EBE-0620-D246-BA50-9753CDF04F74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1A81F-179F-665B-81E2-26219056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9EADF-2FB4-DFB6-EDF2-634BC6FED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675919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3DCF5-FC1B-087A-3FCA-F9788E5EC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8E3D5-7DB9-01FB-FDFC-393367B8E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9569A-3D8E-27B2-83F0-FACCF9AE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6326-C3F8-AB45-ABC4-D37B8053A9AC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D948F-7130-6D2E-3921-433CE976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11021-FF38-785C-27EC-75C9E37D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14538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37B8-905B-CEFF-1E4D-EEE967AD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FCF9-6E2C-1687-8788-162D895F1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D5FD6FE-037E-AB1F-2FF9-26ABDBE1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783" y="6356350"/>
            <a:ext cx="911087" cy="365125"/>
          </a:xfrm>
        </p:spPr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3E4CE7D-6567-D480-1F37-0017999C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361" y="6356350"/>
            <a:ext cx="400878" cy="365125"/>
          </a:xfrm>
        </p:spPr>
        <p:txBody>
          <a:bodyPr/>
          <a:lstStyle/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7A1DADC-BAA6-F7F4-E7E5-8C1B133A16C2}"/>
              </a:ext>
            </a:extLst>
          </p:cNvPr>
          <p:cNvSpPr txBox="1">
            <a:spLocks/>
          </p:cNvSpPr>
          <p:nvPr userDrawn="1"/>
        </p:nvSpPr>
        <p:spPr>
          <a:xfrm>
            <a:off x="6306322" y="6356349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RP-R26-SE-032</a:t>
            </a:r>
            <a:endParaRPr lang="en-LK"/>
          </a:p>
        </p:txBody>
      </p:sp>
      <p:pic>
        <p:nvPicPr>
          <p:cNvPr id="11" name="Picture 10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AC5845A8-2AC4-4EED-127C-43DA4B51F3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99001"/>
            <a:ext cx="2608824" cy="490308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9E00ACE-0FE2-102A-CD2D-B185D930016D}"/>
              </a:ext>
            </a:extLst>
          </p:cNvPr>
          <p:cNvSpPr txBox="1">
            <a:spLocks/>
          </p:cNvSpPr>
          <p:nvPr userDrawn="1"/>
        </p:nvSpPr>
        <p:spPr>
          <a:xfrm>
            <a:off x="4956370" y="6356349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FARTHAS A L M</a:t>
            </a:r>
            <a:endParaRPr lang="en-LK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117A42B-8C24-0608-23A9-24FAAF923738}"/>
              </a:ext>
            </a:extLst>
          </p:cNvPr>
          <p:cNvSpPr txBox="1">
            <a:spLocks/>
          </p:cNvSpPr>
          <p:nvPr userDrawn="1"/>
        </p:nvSpPr>
        <p:spPr>
          <a:xfrm>
            <a:off x="3684904" y="6356349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IT22190734</a:t>
            </a:r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989317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4DB4-A3F2-6358-AD1B-73010968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C3BF912-A92A-010A-9CDF-03572526E46F}"/>
              </a:ext>
            </a:extLst>
          </p:cNvPr>
          <p:cNvSpPr txBox="1">
            <a:spLocks/>
          </p:cNvSpPr>
          <p:nvPr userDrawn="1"/>
        </p:nvSpPr>
        <p:spPr>
          <a:xfrm>
            <a:off x="9723783" y="6310312"/>
            <a:ext cx="911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D7B118-E577-5144-933D-79401630E0F9}" type="datetime1">
              <a:rPr lang="en-US" smtClean="0"/>
              <a:pPr/>
              <a:t>8/2/2026</a:t>
            </a:fld>
            <a:endParaRPr lang="en-LK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DFD04B-1708-08E4-6F05-5AF3B1315F07}"/>
              </a:ext>
            </a:extLst>
          </p:cNvPr>
          <p:cNvSpPr txBox="1">
            <a:spLocks/>
          </p:cNvSpPr>
          <p:nvPr userDrawn="1"/>
        </p:nvSpPr>
        <p:spPr>
          <a:xfrm>
            <a:off x="11153361" y="6310312"/>
            <a:ext cx="4008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319F46-185A-A649-83B1-01A4802BC987}" type="slidenum">
              <a:rPr lang="en-LK" smtClean="0"/>
              <a:pPr/>
              <a:t>‹#›</a:t>
            </a:fld>
            <a:endParaRPr lang="en-LK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5A252F-4039-A58F-7D0D-542C1C35250F}"/>
              </a:ext>
            </a:extLst>
          </p:cNvPr>
          <p:cNvSpPr txBox="1">
            <a:spLocks/>
          </p:cNvSpPr>
          <p:nvPr userDrawn="1"/>
        </p:nvSpPr>
        <p:spPr>
          <a:xfrm>
            <a:off x="6523664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RP-R26-SE-032</a:t>
            </a:r>
            <a:endParaRPr lang="en-LK"/>
          </a:p>
        </p:txBody>
      </p:sp>
      <p:pic>
        <p:nvPicPr>
          <p:cNvPr id="15" name="Picture 14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25A790B1-56BC-990F-47DC-F0292D70C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313280" y="6252963"/>
            <a:ext cx="2608824" cy="490308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E24033C-8D7E-0E0F-21F7-A169D814D99B}"/>
              </a:ext>
            </a:extLst>
          </p:cNvPr>
          <p:cNvSpPr txBox="1">
            <a:spLocks/>
          </p:cNvSpPr>
          <p:nvPr userDrawn="1"/>
        </p:nvSpPr>
        <p:spPr>
          <a:xfrm>
            <a:off x="4956370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Vithusha </a:t>
            </a:r>
            <a:r>
              <a:rPr lang="en-GB" err="1"/>
              <a:t>Pathmanathan</a:t>
            </a:r>
            <a:endParaRPr lang="en-LK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C90D884-118D-F258-6736-22DE37C03DC0}"/>
              </a:ext>
            </a:extLst>
          </p:cNvPr>
          <p:cNvSpPr txBox="1">
            <a:spLocks/>
          </p:cNvSpPr>
          <p:nvPr userDrawn="1"/>
        </p:nvSpPr>
        <p:spPr>
          <a:xfrm>
            <a:off x="3614868" y="6310311"/>
            <a:ext cx="18586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LK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IT22208262</a:t>
            </a:r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626062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FB5DD-1498-B129-D1D5-EEAF9958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16C0C-FEC7-BEA2-06A2-67745F2C1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15FCF-F28D-1F33-A7D6-A5B2DE116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58F91-1F71-3F4A-95AF-89DB4D22CF83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1AE45-7BB2-5E43-2E38-E6F6C9873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5309E-DB39-D7FD-1806-ACEB7CA2C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319F46-185A-A649-83B1-01A4802BC987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39997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ysliit-my.sharepoint.com/:f:/g/personal/it22060426_my_sliit_lk/IgAR-5QRFKenQLX1ANvem6lwAWdFy8hzypncYrhQM43nf7A?e=GCh9p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36D0-7ABE-19EC-1E72-1882921A3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988" y="1694330"/>
            <a:ext cx="6405223" cy="1597079"/>
          </a:xfrm>
        </p:spPr>
        <p:txBody>
          <a:bodyPr>
            <a:normAutofit/>
          </a:bodyPr>
          <a:lstStyle/>
          <a:p>
            <a:r>
              <a:rPr lang="en-LK" sz="2800" b="1"/>
              <a:t>An AI-Driven Decision Support System for Tomato Cultivation in srilanka</a:t>
            </a:r>
            <a:br>
              <a:rPr lang="en-LK" sz="2800"/>
            </a:br>
            <a:endParaRPr lang="en-LK" sz="280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16C9159-EEC3-DCAA-00C9-CA239078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algn="ctr"/>
            <a:fld id="{5ED45C43-655B-DB46-A4C5-8BA5A51F2236}" type="datetime1">
              <a:rPr lang="en-US" smtClean="0"/>
              <a:t>8/2/2026</a:t>
            </a:fld>
            <a:endParaRPr lang="en-LK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BBEC3C4-73F0-BF6E-9276-5D512E1C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EC8F20-C79B-21D1-8374-95B92924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LK"/>
              <a:t>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97A715-0226-D5D5-ED94-32BBD0D84772}"/>
              </a:ext>
            </a:extLst>
          </p:cNvPr>
          <p:cNvSpPr txBox="1">
            <a:spLocks/>
          </p:cNvSpPr>
          <p:nvPr/>
        </p:nvSpPr>
        <p:spPr>
          <a:xfrm>
            <a:off x="6164782" y="3944024"/>
            <a:ext cx="5134588" cy="5865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/>
              <a:t>RP-R26-SE-032 - SLIIT Research Project</a:t>
            </a:r>
            <a:endParaRPr lang="en-LK" sz="28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D51F70-4C84-BE81-A0FB-D99F06643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" y="934008"/>
            <a:ext cx="5122538" cy="3942792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CBB5ED1A-DDFC-9642-A9B1-554E98F2F4ED}"/>
              </a:ext>
            </a:extLst>
          </p:cNvPr>
          <p:cNvSpPr/>
          <p:nvPr/>
        </p:nvSpPr>
        <p:spPr>
          <a:xfrm rot="-8924633">
            <a:off x="637847" y="3987527"/>
            <a:ext cx="1224901" cy="1680381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1319912-C9F5-F053-D9F6-46986F968332}"/>
              </a:ext>
            </a:extLst>
          </p:cNvPr>
          <p:cNvSpPr/>
          <p:nvPr/>
        </p:nvSpPr>
        <p:spPr>
          <a:xfrm rot="-4630716">
            <a:off x="2834482" y="461680"/>
            <a:ext cx="1264756" cy="1630106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F6C1BA5-714A-7183-DFC4-55A254AA1A6F}"/>
              </a:ext>
            </a:extLst>
          </p:cNvPr>
          <p:cNvSpPr/>
          <p:nvPr/>
        </p:nvSpPr>
        <p:spPr>
          <a:xfrm>
            <a:off x="4038600" y="4051731"/>
            <a:ext cx="1781761" cy="1279826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97193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D4A55-CFD7-4F8C-5909-BB542653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33289" y="6411723"/>
            <a:ext cx="2058711" cy="241684"/>
          </a:xfrm>
        </p:spPr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85FA8-92F8-D35D-11BB-E9C06F62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65332" y="6356351"/>
            <a:ext cx="3088067" cy="241684"/>
          </a:xfrm>
        </p:spPr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160E4-55A7-14F4-81B6-408065F1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5088" y="6356351"/>
            <a:ext cx="2058711" cy="241684"/>
          </a:xfrm>
        </p:spPr>
        <p:txBody>
          <a:bodyPr/>
          <a:lstStyle/>
          <a:p>
            <a:fld id="{D9319F46-185A-A649-83B1-01A4802BC987}" type="slidenum">
              <a:rPr lang="en-LK" smtClean="0"/>
              <a:t>2</a:t>
            </a:fld>
            <a:endParaRPr lang="en-LK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5C7A414-8674-8581-1EC1-5C4C577A72E0}"/>
              </a:ext>
            </a:extLst>
          </p:cNvPr>
          <p:cNvSpPr txBox="1"/>
          <p:nvPr/>
        </p:nvSpPr>
        <p:spPr>
          <a:xfrm>
            <a:off x="6077761" y="3389586"/>
            <a:ext cx="5084883" cy="270843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Soil Issue:</a:t>
            </a:r>
            <a:r>
              <a:rPr lang="en-GB" sz="1600"/>
              <a:t> Farmers cannot assess soil suitability before planting (pH, nutrients, NPK).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Disease Issue:</a:t>
            </a:r>
            <a:r>
              <a:rPr lang="en-GB" sz="1600"/>
              <a:t> Farmers cannot correctly identify tomato leaf diseases and often use excessive pesticides.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Tracking Issue:</a:t>
            </a:r>
            <a:r>
              <a:rPr lang="en-GB" sz="1600"/>
              <a:t> No system exists to monitor whether treatments are working.</a:t>
            </a:r>
          </a:p>
          <a:p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Price Issue:</a:t>
            </a:r>
            <a:r>
              <a:rPr lang="en-GB" sz="1600"/>
              <a:t> Farmers lack market price forecasting and often sell at low prices.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8DA9E1-FD12-4FB1-E73F-2637C290A4B1}"/>
              </a:ext>
            </a:extLst>
          </p:cNvPr>
          <p:cNvSpPr txBox="1"/>
          <p:nvPr/>
        </p:nvSpPr>
        <p:spPr>
          <a:xfrm>
            <a:off x="176049" y="1332565"/>
            <a:ext cx="6111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/>
              <a:t>Sri Lanka has suitable climate conditions for tomato cultivation, but production is still low. Tomato farmers face several challenges that reduce crop yield and income.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4523E-528E-A60D-8C5F-725D0363EE25}"/>
              </a:ext>
            </a:extLst>
          </p:cNvPr>
          <p:cNvSpPr txBox="1"/>
          <p:nvPr/>
        </p:nvSpPr>
        <p:spPr>
          <a:xfrm>
            <a:off x="6008788" y="2772644"/>
            <a:ext cx="2144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/>
              <a:t>Key Problems</a:t>
            </a:r>
            <a:endParaRPr lang="en-GB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2F9464-8FAF-626C-7A76-3E3A9DEF221C}"/>
              </a:ext>
            </a:extLst>
          </p:cNvPr>
          <p:cNvSpPr txBox="1"/>
          <p:nvPr/>
        </p:nvSpPr>
        <p:spPr>
          <a:xfrm>
            <a:off x="176049" y="2549625"/>
            <a:ext cx="593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Click here to watch a simple </a:t>
            </a:r>
            <a:r>
              <a:rPr lang="en-GB">
                <a:hlinkClick r:id="rId2"/>
              </a:rPr>
              <a:t>video</a:t>
            </a:r>
            <a:r>
              <a:rPr lang="en-GB"/>
              <a:t> explaining the problem.</a:t>
            </a:r>
            <a:endParaRPr lang="en-LK"/>
          </a:p>
        </p:txBody>
      </p:sp>
      <p:pic>
        <p:nvPicPr>
          <p:cNvPr id="21" name="Picture 20" descr="A screenshot of a website&#10;&#10;AI-generated content may be incorrect.">
            <a:extLst>
              <a:ext uri="{FF2B5EF4-FFF2-40B4-BE49-F238E27FC236}">
                <a16:creationId xmlns:a16="http://schemas.microsoft.com/office/drawing/2014/main" id="{EC2A44CD-A945-B78D-51D6-614C34436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216" y="311016"/>
            <a:ext cx="4256882" cy="2346444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1DFC0E5-45F8-D091-49E8-094E4D904319}"/>
              </a:ext>
            </a:extLst>
          </p:cNvPr>
          <p:cNvSpPr/>
          <p:nvPr/>
        </p:nvSpPr>
        <p:spPr>
          <a:xfrm rot="14750961">
            <a:off x="11252116" y="254805"/>
            <a:ext cx="1014730" cy="1612597"/>
          </a:xfrm>
          <a:custGeom>
            <a:avLst/>
            <a:gdLst/>
            <a:ahLst/>
            <a:cxnLst/>
            <a:rect l="l" t="t" r="r" b="b"/>
            <a:pathLst>
              <a:path w="1352112" h="2436238">
                <a:moveTo>
                  <a:pt x="0" y="0"/>
                </a:moveTo>
                <a:lnTo>
                  <a:pt x="1352112" y="0"/>
                </a:lnTo>
                <a:lnTo>
                  <a:pt x="1352112" y="2436238"/>
                </a:lnTo>
                <a:lnTo>
                  <a:pt x="0" y="2436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pic>
        <p:nvPicPr>
          <p:cNvPr id="24" name="Picture 23" descr="A close-up of a plant&#10;&#10;AI-generated content may be incorrect.">
            <a:extLst>
              <a:ext uri="{FF2B5EF4-FFF2-40B4-BE49-F238E27FC236}">
                <a16:creationId xmlns:a16="http://schemas.microsoft.com/office/drawing/2014/main" id="{E568787B-9160-EDA0-28D2-52196F570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46" y="2957310"/>
            <a:ext cx="3208940" cy="333087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DDF97273-9C89-F18A-97E5-2B14F10E3876}"/>
              </a:ext>
            </a:extLst>
          </p:cNvPr>
          <p:cNvSpPr/>
          <p:nvPr/>
        </p:nvSpPr>
        <p:spPr>
          <a:xfrm rot="-4630716">
            <a:off x="66983" y="3933043"/>
            <a:ext cx="1924744" cy="2007671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89"/>
                </a:lnTo>
                <a:lnTo>
                  <a:pt x="0" y="267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0214B5-E58E-302A-9CED-A77489BFA21D}"/>
              </a:ext>
            </a:extLst>
          </p:cNvPr>
          <p:cNvSpPr txBox="1"/>
          <p:nvPr/>
        </p:nvSpPr>
        <p:spPr>
          <a:xfrm>
            <a:off x="1376856" y="196989"/>
            <a:ext cx="5437602" cy="1127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51"/>
              </a:lnSpc>
            </a:pPr>
            <a:r>
              <a:rPr lang="en-GB" sz="7200" b="1">
                <a:solidFill>
                  <a:schemeClr val="accent6">
                    <a:lumMod val="50000"/>
                  </a:schemeClr>
                </a:solidFill>
              </a:rPr>
              <a:t>The Problem</a:t>
            </a:r>
            <a:endParaRPr lang="en-US" sz="7200" b="1">
              <a:solidFill>
                <a:schemeClr val="accent6">
                  <a:lumMod val="5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86292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E81D1-9986-AE41-4CBB-5EE51A69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56349"/>
            <a:ext cx="2743200" cy="365125"/>
          </a:xfrm>
        </p:spPr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BD84A-764C-03EF-E5D2-147CA691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72268-19D5-8E87-2FB9-D3DBB9CE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3</a:t>
            </a:fld>
            <a:endParaRPr lang="en-L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E3DCE-D0E2-D70D-1A39-838DB48B0412}"/>
              </a:ext>
            </a:extLst>
          </p:cNvPr>
          <p:cNvSpPr txBox="1"/>
          <p:nvPr/>
        </p:nvSpPr>
        <p:spPr>
          <a:xfrm>
            <a:off x="1376855" y="196989"/>
            <a:ext cx="943828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GB" sz="7200">
                <a:solidFill>
                  <a:schemeClr val="accent6">
                    <a:lumMod val="50000"/>
                  </a:schemeClr>
                </a:solidFill>
              </a:rPr>
              <a:t>Users and Stakeholders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E0AB43B4-8AC7-BC5A-4EE1-C220961FBF8A}"/>
              </a:ext>
            </a:extLst>
          </p:cNvPr>
          <p:cNvSpPr txBox="1"/>
          <p:nvPr/>
        </p:nvSpPr>
        <p:spPr>
          <a:xfrm>
            <a:off x="8334704" y="2322505"/>
            <a:ext cx="3108434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System Administrators – Manage sensors and AI models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Consumers – Benefit from safer tomato production</a:t>
            </a:r>
          </a:p>
          <a:p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Export Companies – Access higher quality tomatoes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Supervisors – Monitor research progress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5587D54-1066-AD46-BE9B-EC4BB5739AF5}"/>
              </a:ext>
            </a:extLst>
          </p:cNvPr>
          <p:cNvSpPr txBox="1"/>
          <p:nvPr/>
        </p:nvSpPr>
        <p:spPr>
          <a:xfrm>
            <a:off x="4690242" y="2417542"/>
            <a:ext cx="321353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Tomato Farmers</a:t>
            </a:r>
            <a:r>
              <a:rPr lang="en-GB" sz="1600"/>
              <a:t> – Use mobile dashboard to monitor soil, detect diseases and get diagnosis recommendation, monitoring the plant, and check price forecasts.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Agricultural Inspectors</a:t>
            </a:r>
            <a:r>
              <a:rPr lang="en-GB" sz="1600"/>
              <a:t> – Validate system outputs and provide expert guidance.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BBE22-3EBD-165E-DE7E-6D217A4C0369}"/>
              </a:ext>
            </a:extLst>
          </p:cNvPr>
          <p:cNvSpPr txBox="1"/>
          <p:nvPr/>
        </p:nvSpPr>
        <p:spPr>
          <a:xfrm>
            <a:off x="4690242" y="1759316"/>
            <a:ext cx="2225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/>
              <a:t>Primary Users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EE5FE-A147-C763-4EF6-204460B96CE4}"/>
              </a:ext>
            </a:extLst>
          </p:cNvPr>
          <p:cNvSpPr txBox="1"/>
          <p:nvPr/>
        </p:nvSpPr>
        <p:spPr>
          <a:xfrm>
            <a:off x="8153400" y="1711935"/>
            <a:ext cx="403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/>
              <a:t>Secondary Stakeholders</a:t>
            </a:r>
            <a:endParaRPr lang="en-GB"/>
          </a:p>
        </p:txBody>
      </p:sp>
      <p:pic>
        <p:nvPicPr>
          <p:cNvPr id="16" name="Picture 15" descr="A person holding a basket of tomatoes&#10;&#10;AI-generated content may be incorrect.">
            <a:extLst>
              <a:ext uri="{FF2B5EF4-FFF2-40B4-BE49-F238E27FC236}">
                <a16:creationId xmlns:a16="http://schemas.microsoft.com/office/drawing/2014/main" id="{4FD3A44E-66B8-00D9-6F88-A51103E9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4" y="2529627"/>
            <a:ext cx="4376570" cy="2574453"/>
          </a:xfrm>
          <a:prstGeom prst="rect">
            <a:avLst/>
          </a:prstGeom>
        </p:spPr>
      </p:pic>
      <p:sp>
        <p:nvSpPr>
          <p:cNvPr id="10" name="Freeform 14">
            <a:extLst>
              <a:ext uri="{FF2B5EF4-FFF2-40B4-BE49-F238E27FC236}">
                <a16:creationId xmlns:a16="http://schemas.microsoft.com/office/drawing/2014/main" id="{DB9E0CD0-B0B4-4B54-BCCB-EB83478940BE}"/>
              </a:ext>
            </a:extLst>
          </p:cNvPr>
          <p:cNvSpPr/>
          <p:nvPr/>
        </p:nvSpPr>
        <p:spPr>
          <a:xfrm rot="19882800">
            <a:off x="3503640" y="2316219"/>
            <a:ext cx="1069918" cy="1778700"/>
          </a:xfrm>
          <a:custGeom>
            <a:avLst/>
            <a:gdLst/>
            <a:ahLst/>
            <a:cxnLst/>
            <a:rect l="l" t="t" r="r" b="b"/>
            <a:pathLst>
              <a:path w="2043499" h="3681981">
                <a:moveTo>
                  <a:pt x="0" y="0"/>
                </a:moveTo>
                <a:lnTo>
                  <a:pt x="2043500" y="0"/>
                </a:lnTo>
                <a:lnTo>
                  <a:pt x="2043500" y="3681981"/>
                </a:lnTo>
                <a:lnTo>
                  <a:pt x="0" y="3681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6955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D45D8-A7F7-C741-3846-C9866510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02306-64A9-5B9C-685E-FE6EF4AF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2912D-2A54-EF9D-A184-7F84BD50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4</a:t>
            </a:fld>
            <a:endParaRPr lang="en-LK"/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E6FA90D3-E769-7245-DB26-77488E494EA6}"/>
              </a:ext>
            </a:extLst>
          </p:cNvPr>
          <p:cNvSpPr txBox="1"/>
          <p:nvPr/>
        </p:nvSpPr>
        <p:spPr>
          <a:xfrm>
            <a:off x="1423149" y="431257"/>
            <a:ext cx="8599394" cy="1011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358"/>
              </a:lnSpc>
            </a:pPr>
            <a:r>
              <a:rPr lang="en-GB" sz="5400">
                <a:solidFill>
                  <a:schemeClr val="accent6">
                    <a:lumMod val="50000"/>
                  </a:schemeClr>
                </a:solidFill>
              </a:rPr>
              <a:t>Impact on Users and Society</a:t>
            </a:r>
            <a:endParaRPr lang="en-US" sz="5400">
              <a:solidFill>
                <a:schemeClr val="accent6">
                  <a:lumMod val="5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" name="Group 10">
            <a:extLst>
              <a:ext uri="{FF2B5EF4-FFF2-40B4-BE49-F238E27FC236}">
                <a16:creationId xmlns:a16="http://schemas.microsoft.com/office/drawing/2014/main" id="{78C060FC-E3B4-A816-C980-DC12ABAD2FD3}"/>
              </a:ext>
            </a:extLst>
          </p:cNvPr>
          <p:cNvGrpSpPr/>
          <p:nvPr/>
        </p:nvGrpSpPr>
        <p:grpSpPr>
          <a:xfrm>
            <a:off x="208430" y="2515461"/>
            <a:ext cx="2454088" cy="2649071"/>
            <a:chOff x="0" y="0"/>
            <a:chExt cx="976449" cy="888091"/>
          </a:xfrm>
        </p:grpSpPr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147F44B-8815-43AB-2D56-A8FFDAA4CE1C}"/>
                </a:ext>
              </a:extLst>
            </p:cNvPr>
            <p:cNvSpPr/>
            <p:nvPr/>
          </p:nvSpPr>
          <p:spPr>
            <a:xfrm>
              <a:off x="0" y="0"/>
              <a:ext cx="976449" cy="888091"/>
            </a:xfrm>
            <a:custGeom>
              <a:avLst/>
              <a:gdLst/>
              <a:ahLst/>
              <a:cxnLst/>
              <a:rect l="l" t="t" r="r" b="b"/>
              <a:pathLst>
                <a:path w="976449" h="888091">
                  <a:moveTo>
                    <a:pt x="0" y="0"/>
                  </a:moveTo>
                  <a:lnTo>
                    <a:pt x="976449" y="0"/>
                  </a:lnTo>
                  <a:lnTo>
                    <a:pt x="976449" y="888091"/>
                  </a:lnTo>
                  <a:lnTo>
                    <a:pt x="0" y="888091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9" name="TextBox 12">
              <a:extLst>
                <a:ext uri="{FF2B5EF4-FFF2-40B4-BE49-F238E27FC236}">
                  <a16:creationId xmlns:a16="http://schemas.microsoft.com/office/drawing/2014/main" id="{7D9F5B6C-C6DE-4B4C-319E-20AABB331589}"/>
                </a:ext>
              </a:extLst>
            </p:cNvPr>
            <p:cNvSpPr txBox="1"/>
            <p:nvPr/>
          </p:nvSpPr>
          <p:spPr>
            <a:xfrm>
              <a:off x="0" y="-47625"/>
              <a:ext cx="976449" cy="935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0" name="TextBox 13">
            <a:extLst>
              <a:ext uri="{FF2B5EF4-FFF2-40B4-BE49-F238E27FC236}">
                <a16:creationId xmlns:a16="http://schemas.microsoft.com/office/drawing/2014/main" id="{5283EB21-85AB-3937-03F7-B4CFD7BB3A68}"/>
              </a:ext>
            </a:extLst>
          </p:cNvPr>
          <p:cNvSpPr txBox="1"/>
          <p:nvPr/>
        </p:nvSpPr>
        <p:spPr>
          <a:xfrm>
            <a:off x="565247" y="3214897"/>
            <a:ext cx="2173012" cy="196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Low tomato productivity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Farmers lose income due to crop failures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Missed export opportunities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3A9C45BB-E6A9-E5B5-2287-9794B6B2844B}"/>
              </a:ext>
            </a:extLst>
          </p:cNvPr>
          <p:cNvSpPr txBox="1"/>
          <p:nvPr/>
        </p:nvSpPr>
        <p:spPr>
          <a:xfrm>
            <a:off x="565247" y="2774536"/>
            <a:ext cx="217301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GB" sz="1600" b="1"/>
              <a:t>Economic Impact</a:t>
            </a:r>
            <a:endParaRPr lang="en-GB" sz="160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AC54A86-9718-594A-1E8A-A7435DEFBDB5}"/>
              </a:ext>
            </a:extLst>
          </p:cNvPr>
          <p:cNvSpPr/>
          <p:nvPr/>
        </p:nvSpPr>
        <p:spPr>
          <a:xfrm rot="-6394865">
            <a:off x="9720519" y="83319"/>
            <a:ext cx="1468523" cy="1438793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90"/>
                </a:lnTo>
                <a:lnTo>
                  <a:pt x="0" y="267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50" name="Group 10">
            <a:extLst>
              <a:ext uri="{FF2B5EF4-FFF2-40B4-BE49-F238E27FC236}">
                <a16:creationId xmlns:a16="http://schemas.microsoft.com/office/drawing/2014/main" id="{7631A1AB-98C8-6994-F469-3B6ACB9E00A7}"/>
              </a:ext>
            </a:extLst>
          </p:cNvPr>
          <p:cNvGrpSpPr/>
          <p:nvPr/>
        </p:nvGrpSpPr>
        <p:grpSpPr>
          <a:xfrm>
            <a:off x="3143248" y="2515461"/>
            <a:ext cx="2454088" cy="2649071"/>
            <a:chOff x="0" y="0"/>
            <a:chExt cx="976449" cy="888091"/>
          </a:xfrm>
        </p:grpSpPr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402A1AAA-758B-6C99-6E47-B01B18AF7D46}"/>
                </a:ext>
              </a:extLst>
            </p:cNvPr>
            <p:cNvSpPr/>
            <p:nvPr/>
          </p:nvSpPr>
          <p:spPr>
            <a:xfrm>
              <a:off x="0" y="0"/>
              <a:ext cx="976449" cy="888091"/>
            </a:xfrm>
            <a:custGeom>
              <a:avLst/>
              <a:gdLst/>
              <a:ahLst/>
              <a:cxnLst/>
              <a:rect l="l" t="t" r="r" b="b"/>
              <a:pathLst>
                <a:path w="976449" h="888091">
                  <a:moveTo>
                    <a:pt x="0" y="0"/>
                  </a:moveTo>
                  <a:lnTo>
                    <a:pt x="976449" y="0"/>
                  </a:lnTo>
                  <a:lnTo>
                    <a:pt x="976449" y="888091"/>
                  </a:lnTo>
                  <a:lnTo>
                    <a:pt x="0" y="888091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52" name="TextBox 12">
              <a:extLst>
                <a:ext uri="{FF2B5EF4-FFF2-40B4-BE49-F238E27FC236}">
                  <a16:creationId xmlns:a16="http://schemas.microsoft.com/office/drawing/2014/main" id="{75191EED-1A77-DB97-F815-665DD7626E74}"/>
                </a:ext>
              </a:extLst>
            </p:cNvPr>
            <p:cNvSpPr txBox="1"/>
            <p:nvPr/>
          </p:nvSpPr>
          <p:spPr>
            <a:xfrm>
              <a:off x="0" y="-47625"/>
              <a:ext cx="976449" cy="935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3" name="TextBox 13">
            <a:extLst>
              <a:ext uri="{FF2B5EF4-FFF2-40B4-BE49-F238E27FC236}">
                <a16:creationId xmlns:a16="http://schemas.microsoft.com/office/drawing/2014/main" id="{F6A38EAD-EA0A-B8FE-B79B-BA4526BC3C16}"/>
              </a:ext>
            </a:extLst>
          </p:cNvPr>
          <p:cNvSpPr txBox="1"/>
          <p:nvPr/>
        </p:nvSpPr>
        <p:spPr>
          <a:xfrm>
            <a:off x="3361768" y="3194762"/>
            <a:ext cx="217301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Excessive pesticide use harms consumers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Unsafe tomatoes reach the market</a:t>
            </a:r>
          </a:p>
        </p:txBody>
      </p:sp>
      <p:sp>
        <p:nvSpPr>
          <p:cNvPr id="54" name="TextBox 14">
            <a:extLst>
              <a:ext uri="{FF2B5EF4-FFF2-40B4-BE49-F238E27FC236}">
                <a16:creationId xmlns:a16="http://schemas.microsoft.com/office/drawing/2014/main" id="{E942C8A7-C027-0CD6-0FA2-8BF4A868720B}"/>
              </a:ext>
            </a:extLst>
          </p:cNvPr>
          <p:cNvSpPr txBox="1"/>
          <p:nvPr/>
        </p:nvSpPr>
        <p:spPr>
          <a:xfrm>
            <a:off x="3421621" y="2798316"/>
            <a:ext cx="217301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GB" sz="1600" b="1"/>
              <a:t>Health Impact</a:t>
            </a:r>
            <a:endParaRPr lang="en-GB" sz="1600"/>
          </a:p>
        </p:txBody>
      </p:sp>
      <p:grpSp>
        <p:nvGrpSpPr>
          <p:cNvPr id="55" name="Group 10">
            <a:extLst>
              <a:ext uri="{FF2B5EF4-FFF2-40B4-BE49-F238E27FC236}">
                <a16:creationId xmlns:a16="http://schemas.microsoft.com/office/drawing/2014/main" id="{777C681B-8DD8-3318-D309-757520A3DCCD}"/>
              </a:ext>
            </a:extLst>
          </p:cNvPr>
          <p:cNvGrpSpPr/>
          <p:nvPr/>
        </p:nvGrpSpPr>
        <p:grpSpPr>
          <a:xfrm>
            <a:off x="6296586" y="2524375"/>
            <a:ext cx="2454088" cy="2649071"/>
            <a:chOff x="0" y="0"/>
            <a:chExt cx="976449" cy="888091"/>
          </a:xfrm>
        </p:grpSpPr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6362AA09-3BA0-49D2-93DB-6A25F71A6554}"/>
                </a:ext>
              </a:extLst>
            </p:cNvPr>
            <p:cNvSpPr/>
            <p:nvPr/>
          </p:nvSpPr>
          <p:spPr>
            <a:xfrm>
              <a:off x="0" y="0"/>
              <a:ext cx="976449" cy="888091"/>
            </a:xfrm>
            <a:custGeom>
              <a:avLst/>
              <a:gdLst/>
              <a:ahLst/>
              <a:cxnLst/>
              <a:rect l="l" t="t" r="r" b="b"/>
              <a:pathLst>
                <a:path w="976449" h="888091">
                  <a:moveTo>
                    <a:pt x="0" y="0"/>
                  </a:moveTo>
                  <a:lnTo>
                    <a:pt x="976449" y="0"/>
                  </a:lnTo>
                  <a:lnTo>
                    <a:pt x="976449" y="888091"/>
                  </a:lnTo>
                  <a:lnTo>
                    <a:pt x="0" y="888091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57" name="TextBox 12">
              <a:extLst>
                <a:ext uri="{FF2B5EF4-FFF2-40B4-BE49-F238E27FC236}">
                  <a16:creationId xmlns:a16="http://schemas.microsoft.com/office/drawing/2014/main" id="{80C2E74D-3C94-4A19-6A6A-28F664BD1626}"/>
                </a:ext>
              </a:extLst>
            </p:cNvPr>
            <p:cNvSpPr txBox="1"/>
            <p:nvPr/>
          </p:nvSpPr>
          <p:spPr>
            <a:xfrm>
              <a:off x="0" y="-47625"/>
              <a:ext cx="976449" cy="935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8" name="TextBox 13">
            <a:extLst>
              <a:ext uri="{FF2B5EF4-FFF2-40B4-BE49-F238E27FC236}">
                <a16:creationId xmlns:a16="http://schemas.microsoft.com/office/drawing/2014/main" id="{6F8405EF-25D9-0D9C-E4A7-F6B7A9BFB9A8}"/>
              </a:ext>
            </a:extLst>
          </p:cNvPr>
          <p:cNvSpPr txBox="1"/>
          <p:nvPr/>
        </p:nvSpPr>
        <p:spPr>
          <a:xfrm>
            <a:off x="6515106" y="3233357"/>
            <a:ext cx="217301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Farmers struggle to sustain livelihoods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Younger generations leaving farming</a:t>
            </a:r>
          </a:p>
        </p:txBody>
      </p:sp>
      <p:sp>
        <p:nvSpPr>
          <p:cNvPr id="59" name="TextBox 14">
            <a:extLst>
              <a:ext uri="{FF2B5EF4-FFF2-40B4-BE49-F238E27FC236}">
                <a16:creationId xmlns:a16="http://schemas.microsoft.com/office/drawing/2014/main" id="{B08BB32C-C947-DFD7-FD11-8A9E634E0D79}"/>
              </a:ext>
            </a:extLst>
          </p:cNvPr>
          <p:cNvSpPr txBox="1"/>
          <p:nvPr/>
        </p:nvSpPr>
        <p:spPr>
          <a:xfrm>
            <a:off x="6537146" y="2816232"/>
            <a:ext cx="217301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GB" sz="1600" b="1"/>
              <a:t>Social Impact</a:t>
            </a:r>
            <a:endParaRPr lang="en-GB" sz="1600"/>
          </a:p>
        </p:txBody>
      </p:sp>
      <p:grpSp>
        <p:nvGrpSpPr>
          <p:cNvPr id="60" name="Group 10">
            <a:extLst>
              <a:ext uri="{FF2B5EF4-FFF2-40B4-BE49-F238E27FC236}">
                <a16:creationId xmlns:a16="http://schemas.microsoft.com/office/drawing/2014/main" id="{D3D4C047-076A-E9CA-B12F-601AAE063D51}"/>
              </a:ext>
            </a:extLst>
          </p:cNvPr>
          <p:cNvGrpSpPr/>
          <p:nvPr/>
        </p:nvGrpSpPr>
        <p:grpSpPr>
          <a:xfrm>
            <a:off x="9374183" y="2515461"/>
            <a:ext cx="2454088" cy="2649071"/>
            <a:chOff x="0" y="0"/>
            <a:chExt cx="976449" cy="888091"/>
          </a:xfrm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26944AD9-870D-F5B3-DDD4-CE68B7E57494}"/>
                </a:ext>
              </a:extLst>
            </p:cNvPr>
            <p:cNvSpPr/>
            <p:nvPr/>
          </p:nvSpPr>
          <p:spPr>
            <a:xfrm>
              <a:off x="0" y="0"/>
              <a:ext cx="976449" cy="888091"/>
            </a:xfrm>
            <a:custGeom>
              <a:avLst/>
              <a:gdLst/>
              <a:ahLst/>
              <a:cxnLst/>
              <a:rect l="l" t="t" r="r" b="b"/>
              <a:pathLst>
                <a:path w="976449" h="888091">
                  <a:moveTo>
                    <a:pt x="0" y="0"/>
                  </a:moveTo>
                  <a:lnTo>
                    <a:pt x="976449" y="0"/>
                  </a:lnTo>
                  <a:lnTo>
                    <a:pt x="976449" y="888091"/>
                  </a:lnTo>
                  <a:lnTo>
                    <a:pt x="0" y="888091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62" name="TextBox 12">
              <a:extLst>
                <a:ext uri="{FF2B5EF4-FFF2-40B4-BE49-F238E27FC236}">
                  <a16:creationId xmlns:a16="http://schemas.microsoft.com/office/drawing/2014/main" id="{5572E4D3-016F-F125-1AC2-6F01D38A8A2D}"/>
                </a:ext>
              </a:extLst>
            </p:cNvPr>
            <p:cNvSpPr txBox="1"/>
            <p:nvPr/>
          </p:nvSpPr>
          <p:spPr>
            <a:xfrm>
              <a:off x="0" y="-47625"/>
              <a:ext cx="976449" cy="935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3" name="TextBox 13">
            <a:extLst>
              <a:ext uri="{FF2B5EF4-FFF2-40B4-BE49-F238E27FC236}">
                <a16:creationId xmlns:a16="http://schemas.microsoft.com/office/drawing/2014/main" id="{3A29FCFD-979D-C2AF-FD85-FB834FEA231B}"/>
              </a:ext>
            </a:extLst>
          </p:cNvPr>
          <p:cNvSpPr txBox="1"/>
          <p:nvPr/>
        </p:nvSpPr>
        <p:spPr>
          <a:xfrm>
            <a:off x="9507529" y="3214897"/>
            <a:ext cx="2173012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Overuse of chemicals damages soil and water ecosystems</a:t>
            </a:r>
          </a:p>
        </p:txBody>
      </p:sp>
      <p:sp>
        <p:nvSpPr>
          <p:cNvPr id="64" name="TextBox 14">
            <a:extLst>
              <a:ext uri="{FF2B5EF4-FFF2-40B4-BE49-F238E27FC236}">
                <a16:creationId xmlns:a16="http://schemas.microsoft.com/office/drawing/2014/main" id="{12B838E2-55FE-B0EC-20B9-7198037B8D46}"/>
              </a:ext>
            </a:extLst>
          </p:cNvPr>
          <p:cNvSpPr txBox="1"/>
          <p:nvPr/>
        </p:nvSpPr>
        <p:spPr>
          <a:xfrm>
            <a:off x="9514721" y="2771521"/>
            <a:ext cx="217301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GB" sz="1600" b="1"/>
              <a:t>Environmental Impact</a:t>
            </a: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92196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AF7F8-42EF-4D4C-178C-6A17953C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41003"/>
            <a:ext cx="2743200" cy="365125"/>
          </a:xfrm>
        </p:spPr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21E37-6F55-2D7C-1A37-8986AF92F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8F3E6-E54B-502E-E542-80A54551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5</a:t>
            </a:fld>
            <a:endParaRPr lang="en-LK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1A3B58E-8E7F-5E99-5F1D-646060490968}"/>
              </a:ext>
            </a:extLst>
          </p:cNvPr>
          <p:cNvSpPr txBox="1"/>
          <p:nvPr/>
        </p:nvSpPr>
        <p:spPr>
          <a:xfrm>
            <a:off x="641139" y="-267929"/>
            <a:ext cx="5898776" cy="104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24"/>
              </a:lnSpc>
            </a:pPr>
            <a:r>
              <a:rPr lang="en-GB" sz="3200">
                <a:solidFill>
                  <a:schemeClr val="accent6">
                    <a:lumMod val="50000"/>
                  </a:schemeClr>
                </a:solidFill>
              </a:rPr>
              <a:t>Existing Systems and Limitations</a:t>
            </a:r>
            <a:endParaRPr lang="en-US" sz="3200">
              <a:solidFill>
                <a:schemeClr val="accent6">
                  <a:lumMod val="5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95A959-735C-C12F-FFC9-0B1C9B3F4C1B}"/>
              </a:ext>
            </a:extLst>
          </p:cNvPr>
          <p:cNvSpPr txBox="1"/>
          <p:nvPr/>
        </p:nvSpPr>
        <p:spPr>
          <a:xfrm>
            <a:off x="6031268" y="1053782"/>
            <a:ext cx="7092977" cy="49244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/>
              <a:t>Existing research systems address only </a:t>
            </a:r>
            <a:r>
              <a:rPr lang="en-GB" sz="1600" b="1"/>
              <a:t>individual problems</a:t>
            </a:r>
            <a:r>
              <a:rPr lang="en-GB" sz="1600"/>
              <a:t>.</a:t>
            </a:r>
          </a:p>
          <a:p>
            <a:pPr>
              <a:buNone/>
            </a:pPr>
            <a:r>
              <a:rPr lang="en-GB" sz="1600"/>
              <a:t>Examples from literature: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9D034C-73D2-8A62-48F0-E45A402EAD62}"/>
              </a:ext>
            </a:extLst>
          </p:cNvPr>
          <p:cNvGrpSpPr/>
          <p:nvPr/>
        </p:nvGrpSpPr>
        <p:grpSpPr>
          <a:xfrm>
            <a:off x="510987" y="3637980"/>
            <a:ext cx="10959353" cy="2540019"/>
            <a:chOff x="0" y="-47625"/>
            <a:chExt cx="4280377" cy="723873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C4B61D4-6649-18D9-8249-4C6A13287D25}"/>
                </a:ext>
              </a:extLst>
            </p:cNvPr>
            <p:cNvSpPr/>
            <p:nvPr/>
          </p:nvSpPr>
          <p:spPr>
            <a:xfrm>
              <a:off x="0" y="0"/>
              <a:ext cx="4280377" cy="676248"/>
            </a:xfrm>
            <a:custGeom>
              <a:avLst/>
              <a:gdLst/>
              <a:ahLst/>
              <a:cxnLst/>
              <a:rect l="l" t="t" r="r" b="b"/>
              <a:pathLst>
                <a:path w="4280377" h="676248">
                  <a:moveTo>
                    <a:pt x="0" y="0"/>
                  </a:moveTo>
                  <a:lnTo>
                    <a:pt x="4280377" y="0"/>
                  </a:lnTo>
                  <a:lnTo>
                    <a:pt x="4280377" y="676248"/>
                  </a:lnTo>
                  <a:lnTo>
                    <a:pt x="0" y="676248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B6B9840F-960B-76BE-200C-D7E439B63DE2}"/>
                </a:ext>
              </a:extLst>
            </p:cNvPr>
            <p:cNvSpPr txBox="1"/>
            <p:nvPr/>
          </p:nvSpPr>
          <p:spPr>
            <a:xfrm>
              <a:off x="0" y="-47625"/>
              <a:ext cx="4280377" cy="72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B4F55C-8039-4DB5-45D3-2A630105CA76}"/>
              </a:ext>
            </a:extLst>
          </p:cNvPr>
          <p:cNvGrpSpPr/>
          <p:nvPr/>
        </p:nvGrpSpPr>
        <p:grpSpPr>
          <a:xfrm>
            <a:off x="5652085" y="680001"/>
            <a:ext cx="5898776" cy="2727579"/>
            <a:chOff x="0" y="-47625"/>
            <a:chExt cx="4280377" cy="723873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16D587-1079-CE2A-72A5-1DE940488BBF}"/>
                </a:ext>
              </a:extLst>
            </p:cNvPr>
            <p:cNvSpPr/>
            <p:nvPr/>
          </p:nvSpPr>
          <p:spPr>
            <a:xfrm>
              <a:off x="0" y="0"/>
              <a:ext cx="4280377" cy="676248"/>
            </a:xfrm>
            <a:custGeom>
              <a:avLst/>
              <a:gdLst/>
              <a:ahLst/>
              <a:cxnLst/>
              <a:rect l="l" t="t" r="r" b="b"/>
              <a:pathLst>
                <a:path w="4280377" h="676248">
                  <a:moveTo>
                    <a:pt x="0" y="0"/>
                  </a:moveTo>
                  <a:lnTo>
                    <a:pt x="4280377" y="0"/>
                  </a:lnTo>
                  <a:lnTo>
                    <a:pt x="4280377" y="676248"/>
                  </a:lnTo>
                  <a:lnTo>
                    <a:pt x="0" y="676248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3CCA7C1E-44BF-508A-661F-5B6B96A23F3A}"/>
                </a:ext>
              </a:extLst>
            </p:cNvPr>
            <p:cNvSpPr txBox="1"/>
            <p:nvPr/>
          </p:nvSpPr>
          <p:spPr>
            <a:xfrm>
              <a:off x="0" y="-47625"/>
              <a:ext cx="4280377" cy="72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TextBox 20">
            <a:extLst>
              <a:ext uri="{FF2B5EF4-FFF2-40B4-BE49-F238E27FC236}">
                <a16:creationId xmlns:a16="http://schemas.microsoft.com/office/drawing/2014/main" id="{21E4273A-83C1-13D1-DA5B-B3C5729ED7CF}"/>
              </a:ext>
            </a:extLst>
          </p:cNvPr>
          <p:cNvSpPr txBox="1"/>
          <p:nvPr/>
        </p:nvSpPr>
        <p:spPr>
          <a:xfrm>
            <a:off x="922403" y="4096988"/>
            <a:ext cx="3037842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Key Limitations</a:t>
            </a:r>
            <a:endParaRPr lang="en-GB" sz="1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3DDEB1-B7D3-CEDE-5415-DCD16EE0ADB8}"/>
              </a:ext>
            </a:extLst>
          </p:cNvPr>
          <p:cNvSpPr txBox="1"/>
          <p:nvPr/>
        </p:nvSpPr>
        <p:spPr>
          <a:xfrm>
            <a:off x="933566" y="4517611"/>
            <a:ext cx="4704653" cy="147732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GB" sz="1600"/>
              <a:t>No soil suitability verification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sz="1600"/>
              <a:t>No explanation for ML predictions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Limited explainability for disease detection.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diagnosis recommendation aligned with </a:t>
            </a:r>
            <a:r>
              <a:rPr lang="en-GB" sz="1600" err="1"/>
              <a:t>DoA</a:t>
            </a:r>
            <a:r>
              <a:rPr lang="en-GB" sz="160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treatment tracking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No price forecasting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38AE22-2D01-0C63-9B44-56027522CE42}"/>
              </a:ext>
            </a:extLst>
          </p:cNvPr>
          <p:cNvGrpSpPr/>
          <p:nvPr/>
        </p:nvGrpSpPr>
        <p:grpSpPr>
          <a:xfrm>
            <a:off x="6031268" y="1546225"/>
            <a:ext cx="5198010" cy="1709595"/>
            <a:chOff x="0" y="-47625"/>
            <a:chExt cx="4280377" cy="723873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00365AB-DF4C-E1EB-8E5E-5F444B5DD049}"/>
                </a:ext>
              </a:extLst>
            </p:cNvPr>
            <p:cNvSpPr/>
            <p:nvPr/>
          </p:nvSpPr>
          <p:spPr>
            <a:xfrm>
              <a:off x="0" y="0"/>
              <a:ext cx="4280377" cy="676248"/>
            </a:xfrm>
            <a:custGeom>
              <a:avLst/>
              <a:gdLst/>
              <a:ahLst/>
              <a:cxnLst/>
              <a:rect l="l" t="t" r="r" b="b"/>
              <a:pathLst>
                <a:path w="4280377" h="676248">
                  <a:moveTo>
                    <a:pt x="0" y="0"/>
                  </a:moveTo>
                  <a:lnTo>
                    <a:pt x="4280377" y="0"/>
                  </a:lnTo>
                  <a:lnTo>
                    <a:pt x="4280377" y="676248"/>
                  </a:lnTo>
                  <a:lnTo>
                    <a:pt x="0" y="676248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3" name="TextBox 15">
              <a:extLst>
                <a:ext uri="{FF2B5EF4-FFF2-40B4-BE49-F238E27FC236}">
                  <a16:creationId xmlns:a16="http://schemas.microsoft.com/office/drawing/2014/main" id="{1AFE5F4B-9368-9829-0B8B-AACB18A6554F}"/>
                </a:ext>
              </a:extLst>
            </p:cNvPr>
            <p:cNvSpPr txBox="1"/>
            <p:nvPr/>
          </p:nvSpPr>
          <p:spPr>
            <a:xfrm>
              <a:off x="0" y="-47625"/>
              <a:ext cx="4280377" cy="72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4" name="TextBox 20">
            <a:extLst>
              <a:ext uri="{FF2B5EF4-FFF2-40B4-BE49-F238E27FC236}">
                <a16:creationId xmlns:a16="http://schemas.microsoft.com/office/drawing/2014/main" id="{E5B26CFE-D2ED-97F3-895F-2BF2C695A13A}"/>
              </a:ext>
            </a:extLst>
          </p:cNvPr>
          <p:cNvSpPr txBox="1"/>
          <p:nvPr/>
        </p:nvSpPr>
        <p:spPr>
          <a:xfrm>
            <a:off x="6539915" y="4096988"/>
            <a:ext cx="3037842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Research Gap</a:t>
            </a:r>
            <a:endParaRPr lang="en-GB" sz="1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22CFF3-05DF-65CE-BF8F-7997CF995538}"/>
              </a:ext>
            </a:extLst>
          </p:cNvPr>
          <p:cNvSpPr txBox="1"/>
          <p:nvPr/>
        </p:nvSpPr>
        <p:spPr>
          <a:xfrm>
            <a:off x="6539915" y="4573609"/>
            <a:ext cx="3743573" cy="98488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/>
              <a:t>No unified platform integrates </a:t>
            </a:r>
            <a:r>
              <a:rPr lang="en-GB" sz="1600" b="1"/>
              <a:t>soil assessment, disease detection, treatment tracking, and price prediction</a:t>
            </a:r>
            <a:r>
              <a:rPr lang="en-GB" sz="1600"/>
              <a:t> for tomato farmers.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C4A9AB-5295-053A-D336-B7BAA01F7CB6}"/>
              </a:ext>
            </a:extLst>
          </p:cNvPr>
          <p:cNvGrpSpPr/>
          <p:nvPr/>
        </p:nvGrpSpPr>
        <p:grpSpPr>
          <a:xfrm>
            <a:off x="6234956" y="3790379"/>
            <a:ext cx="5009750" cy="2291416"/>
            <a:chOff x="0" y="-47625"/>
            <a:chExt cx="4280377" cy="723873"/>
          </a:xfrm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781AD3D-BC12-6FF7-E93B-BBAAFB38FC85}"/>
                </a:ext>
              </a:extLst>
            </p:cNvPr>
            <p:cNvSpPr/>
            <p:nvPr/>
          </p:nvSpPr>
          <p:spPr>
            <a:xfrm>
              <a:off x="0" y="0"/>
              <a:ext cx="4280377" cy="676248"/>
            </a:xfrm>
            <a:custGeom>
              <a:avLst/>
              <a:gdLst/>
              <a:ahLst/>
              <a:cxnLst/>
              <a:rect l="l" t="t" r="r" b="b"/>
              <a:pathLst>
                <a:path w="4280377" h="676248">
                  <a:moveTo>
                    <a:pt x="0" y="0"/>
                  </a:moveTo>
                  <a:lnTo>
                    <a:pt x="4280377" y="0"/>
                  </a:lnTo>
                  <a:lnTo>
                    <a:pt x="4280377" y="676248"/>
                  </a:lnTo>
                  <a:lnTo>
                    <a:pt x="0" y="676248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8" name="TextBox 15">
              <a:extLst>
                <a:ext uri="{FF2B5EF4-FFF2-40B4-BE49-F238E27FC236}">
                  <a16:creationId xmlns:a16="http://schemas.microsoft.com/office/drawing/2014/main" id="{D5E7FD4C-0F96-0F3D-7539-21DA446EBCCC}"/>
                </a:ext>
              </a:extLst>
            </p:cNvPr>
            <p:cNvSpPr txBox="1"/>
            <p:nvPr/>
          </p:nvSpPr>
          <p:spPr>
            <a:xfrm>
              <a:off x="0" y="-47625"/>
              <a:ext cx="4280377" cy="72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7ED6117-DE86-E94E-351F-BD82E1CD0532}"/>
              </a:ext>
            </a:extLst>
          </p:cNvPr>
          <p:cNvSpPr txBox="1"/>
          <p:nvPr/>
        </p:nvSpPr>
        <p:spPr>
          <a:xfrm>
            <a:off x="6172808" y="1877719"/>
            <a:ext cx="6098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/>
              <a:t>Disease detection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Soil monitoring IoT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Price recommendation systems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93F9B43-DFEE-3358-47FB-8310EC683630}"/>
              </a:ext>
            </a:extLst>
          </p:cNvPr>
          <p:cNvGrpSpPr/>
          <p:nvPr/>
        </p:nvGrpSpPr>
        <p:grpSpPr>
          <a:xfrm>
            <a:off x="816638" y="3790379"/>
            <a:ext cx="5198010" cy="2291416"/>
            <a:chOff x="0" y="-47625"/>
            <a:chExt cx="4280377" cy="723873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F38093BF-9983-5676-29C4-F534673CF16A}"/>
                </a:ext>
              </a:extLst>
            </p:cNvPr>
            <p:cNvSpPr/>
            <p:nvPr/>
          </p:nvSpPr>
          <p:spPr>
            <a:xfrm>
              <a:off x="0" y="0"/>
              <a:ext cx="4280377" cy="676248"/>
            </a:xfrm>
            <a:custGeom>
              <a:avLst/>
              <a:gdLst/>
              <a:ahLst/>
              <a:cxnLst/>
              <a:rect l="l" t="t" r="r" b="b"/>
              <a:pathLst>
                <a:path w="4280377" h="676248">
                  <a:moveTo>
                    <a:pt x="0" y="0"/>
                  </a:moveTo>
                  <a:lnTo>
                    <a:pt x="4280377" y="0"/>
                  </a:lnTo>
                  <a:lnTo>
                    <a:pt x="4280377" y="676248"/>
                  </a:lnTo>
                  <a:lnTo>
                    <a:pt x="0" y="676248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45" name="TextBox 15">
              <a:extLst>
                <a:ext uri="{FF2B5EF4-FFF2-40B4-BE49-F238E27FC236}">
                  <a16:creationId xmlns:a16="http://schemas.microsoft.com/office/drawing/2014/main" id="{588EF9DE-81D4-0176-3159-9E7A75BADBC6}"/>
                </a:ext>
              </a:extLst>
            </p:cNvPr>
            <p:cNvSpPr txBox="1"/>
            <p:nvPr/>
          </p:nvSpPr>
          <p:spPr>
            <a:xfrm>
              <a:off x="0" y="-47625"/>
              <a:ext cx="4280377" cy="72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8FEBF2C-216F-65A2-F095-A2D87AB45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38" y="723621"/>
            <a:ext cx="3892443" cy="2997261"/>
          </a:xfrm>
          <a:prstGeom prst="rect">
            <a:avLst/>
          </a:prstGeom>
        </p:spPr>
      </p:pic>
      <p:sp>
        <p:nvSpPr>
          <p:cNvPr id="9" name="Freeform 22">
            <a:extLst>
              <a:ext uri="{FF2B5EF4-FFF2-40B4-BE49-F238E27FC236}">
                <a16:creationId xmlns:a16="http://schemas.microsoft.com/office/drawing/2014/main" id="{ECDA0477-7384-E98F-6619-CA4C4B935895}"/>
              </a:ext>
            </a:extLst>
          </p:cNvPr>
          <p:cNvSpPr/>
          <p:nvPr/>
        </p:nvSpPr>
        <p:spPr>
          <a:xfrm rot="-5279906">
            <a:off x="4244382" y="2361016"/>
            <a:ext cx="1280396" cy="1246871"/>
          </a:xfrm>
          <a:custGeom>
            <a:avLst/>
            <a:gdLst/>
            <a:ahLst/>
            <a:cxnLst/>
            <a:rect l="l" t="t" r="r" b="b"/>
            <a:pathLst>
              <a:path w="2204673" h="2028300">
                <a:moveTo>
                  <a:pt x="0" y="0"/>
                </a:moveTo>
                <a:lnTo>
                  <a:pt x="2204674" y="0"/>
                </a:lnTo>
                <a:lnTo>
                  <a:pt x="2204674" y="2028300"/>
                </a:lnTo>
                <a:lnTo>
                  <a:pt x="0" y="202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1534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E6EE7-38D0-AB52-5FFE-2F72070F9C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64031"/>
            <a:ext cx="2743200" cy="365125"/>
          </a:xfrm>
        </p:spPr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126C0-5BB4-D2C9-1DA0-D194D84F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358F8-A60F-3E46-3791-E075ED0B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6</a:t>
            </a:fld>
            <a:endParaRPr lang="en-LK"/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E9688D43-E556-9625-EF85-B32D6B0768F4}"/>
              </a:ext>
            </a:extLst>
          </p:cNvPr>
          <p:cNvSpPr txBox="1"/>
          <p:nvPr/>
        </p:nvSpPr>
        <p:spPr>
          <a:xfrm>
            <a:off x="809592" y="805933"/>
            <a:ext cx="2946620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1. Smart Soil Health Assessment</a:t>
            </a:r>
            <a:endParaRPr lang="en-GB" sz="1600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8B8E2963-7334-F603-3BB8-AC4288153D5B}"/>
              </a:ext>
            </a:extLst>
          </p:cNvPr>
          <p:cNvSpPr txBox="1"/>
          <p:nvPr/>
        </p:nvSpPr>
        <p:spPr>
          <a:xfrm>
            <a:off x="972390" y="1052154"/>
            <a:ext cx="2783822" cy="221599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IoT sensors collect soil data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Random Forest predicts soil suitability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SHAP explains soil problems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RAG generates corrective recommendations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908723-8926-D33D-E91E-B3F25513463E}"/>
              </a:ext>
            </a:extLst>
          </p:cNvPr>
          <p:cNvGrpSpPr/>
          <p:nvPr/>
        </p:nvGrpSpPr>
        <p:grpSpPr>
          <a:xfrm>
            <a:off x="667846" y="549093"/>
            <a:ext cx="3505200" cy="2680731"/>
            <a:chOff x="0" y="-47625"/>
            <a:chExt cx="1085563" cy="819478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408B1C5-80B7-E073-CA6C-A189B2AA1B12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14674426-0490-E681-7F6D-F39729C517AA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" name="TextBox 28">
            <a:extLst>
              <a:ext uri="{FF2B5EF4-FFF2-40B4-BE49-F238E27FC236}">
                <a16:creationId xmlns:a16="http://schemas.microsoft.com/office/drawing/2014/main" id="{728B0ABB-6E77-C611-A211-FAA49346A2D9}"/>
              </a:ext>
            </a:extLst>
          </p:cNvPr>
          <p:cNvSpPr txBox="1"/>
          <p:nvPr/>
        </p:nvSpPr>
        <p:spPr>
          <a:xfrm>
            <a:off x="972390" y="3730268"/>
            <a:ext cx="2783822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3. Disease Treatment Tracking</a:t>
            </a:r>
            <a:endParaRPr lang="en-GB" sz="1600"/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6909F416-A909-C1E7-B791-6D834B651A64}"/>
              </a:ext>
            </a:extLst>
          </p:cNvPr>
          <p:cNvSpPr txBox="1"/>
          <p:nvPr/>
        </p:nvSpPr>
        <p:spPr>
          <a:xfrm>
            <a:off x="972390" y="4132283"/>
            <a:ext cx="2783822" cy="123110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Monitors treatment progress over time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Generates improved recommendations if needed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03E505-F74A-BF3E-F429-C4EE3E99CEF5}"/>
              </a:ext>
            </a:extLst>
          </p:cNvPr>
          <p:cNvGrpSpPr/>
          <p:nvPr/>
        </p:nvGrpSpPr>
        <p:grpSpPr>
          <a:xfrm>
            <a:off x="667846" y="3512723"/>
            <a:ext cx="3505200" cy="2680731"/>
            <a:chOff x="0" y="-47625"/>
            <a:chExt cx="1085563" cy="819478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4CCC6B5-F146-C856-F578-247ABC09A5C1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E75DFC39-BDAA-0037-CF2F-E26250A40B95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5" name="TextBox 28">
            <a:extLst>
              <a:ext uri="{FF2B5EF4-FFF2-40B4-BE49-F238E27FC236}">
                <a16:creationId xmlns:a16="http://schemas.microsoft.com/office/drawing/2014/main" id="{C7746986-344D-CFEA-14C5-33748DAEB84D}"/>
              </a:ext>
            </a:extLst>
          </p:cNvPr>
          <p:cNvSpPr txBox="1"/>
          <p:nvPr/>
        </p:nvSpPr>
        <p:spPr>
          <a:xfrm>
            <a:off x="4704089" y="3687574"/>
            <a:ext cx="2783822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4. Tomato Price Forecasting</a:t>
            </a:r>
            <a:endParaRPr lang="en-GB" sz="1600"/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DB61D084-7F5D-8536-D5B9-BDDDBF0C9D2C}"/>
              </a:ext>
            </a:extLst>
          </p:cNvPr>
          <p:cNvSpPr txBox="1"/>
          <p:nvPr/>
        </p:nvSpPr>
        <p:spPr>
          <a:xfrm>
            <a:off x="4704089" y="4061561"/>
            <a:ext cx="2783822" cy="123110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AI predicts future tomato market prices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Helps farmers choose the best time to sell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648077-59E9-710F-D6EF-502E70319E6F}"/>
              </a:ext>
            </a:extLst>
          </p:cNvPr>
          <p:cNvGrpSpPr/>
          <p:nvPr/>
        </p:nvGrpSpPr>
        <p:grpSpPr>
          <a:xfrm>
            <a:off x="4513756" y="3496746"/>
            <a:ext cx="3505200" cy="2680731"/>
            <a:chOff x="0" y="-47625"/>
            <a:chExt cx="1085563" cy="81947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F5FC476-0A8B-8ADA-1538-8F4E94203EA1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0AB7BBD8-91C8-AD91-2DFE-B0BF3500575A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0" name="TextBox 28">
            <a:extLst>
              <a:ext uri="{FF2B5EF4-FFF2-40B4-BE49-F238E27FC236}">
                <a16:creationId xmlns:a16="http://schemas.microsoft.com/office/drawing/2014/main" id="{CDB61E85-BE28-1A38-9728-A1B53B97D2B5}"/>
              </a:ext>
            </a:extLst>
          </p:cNvPr>
          <p:cNvSpPr txBox="1"/>
          <p:nvPr/>
        </p:nvSpPr>
        <p:spPr>
          <a:xfrm>
            <a:off x="4704089" y="738478"/>
            <a:ext cx="2783822" cy="2748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 b="1"/>
              <a:t>2. Tomato Disease Detection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16541F74-381B-EAF1-DBBE-96824A865E1A}"/>
              </a:ext>
            </a:extLst>
          </p:cNvPr>
          <p:cNvSpPr txBox="1"/>
          <p:nvPr/>
        </p:nvSpPr>
        <p:spPr>
          <a:xfrm>
            <a:off x="4704089" y="1106428"/>
            <a:ext cx="2783822" cy="147732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GB" sz="1600"/>
              <a:t>AI computer vision detects leaf diseases.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sz="1600"/>
              <a:t>Provide explainability about the detection.</a:t>
            </a:r>
          </a:p>
          <a:p>
            <a:pPr marL="285750" indent="-285750">
              <a:buFont typeface="Arial"/>
              <a:buChar char="•"/>
            </a:pPr>
            <a:r>
              <a:rPr lang="en-GB" sz="1600"/>
              <a:t>Recommends correct medicine and dosage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6BC14EC-09A8-240A-F88F-586FFE3619A3}"/>
              </a:ext>
            </a:extLst>
          </p:cNvPr>
          <p:cNvGrpSpPr/>
          <p:nvPr/>
        </p:nvGrpSpPr>
        <p:grpSpPr>
          <a:xfrm>
            <a:off x="4513756" y="581627"/>
            <a:ext cx="3505200" cy="2680731"/>
            <a:chOff x="0" y="-47625"/>
            <a:chExt cx="1085563" cy="819478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C705723-915D-79CF-96AE-00E066CD0927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4" name="TextBox 17">
              <a:extLst>
                <a:ext uri="{FF2B5EF4-FFF2-40B4-BE49-F238E27FC236}">
                  <a16:creationId xmlns:a16="http://schemas.microsoft.com/office/drawing/2014/main" id="{EF3217A7-B74C-B7D1-B01F-27A5FEC45B62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7" name="TextBox 6">
            <a:extLst>
              <a:ext uri="{FF2B5EF4-FFF2-40B4-BE49-F238E27FC236}">
                <a16:creationId xmlns:a16="http://schemas.microsoft.com/office/drawing/2014/main" id="{94A9B1AD-FF20-12F5-B891-06E2695C8CE2}"/>
              </a:ext>
            </a:extLst>
          </p:cNvPr>
          <p:cNvSpPr txBox="1"/>
          <p:nvPr/>
        </p:nvSpPr>
        <p:spPr>
          <a:xfrm>
            <a:off x="8018956" y="4501578"/>
            <a:ext cx="442310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en-GB" sz="4000" b="1">
                <a:solidFill>
                  <a:schemeClr val="accent6">
                    <a:lumMod val="50000"/>
                  </a:schemeClr>
                </a:solidFill>
              </a:rPr>
              <a:t>Main Components</a:t>
            </a:r>
            <a:endParaRPr lang="en-GB" sz="400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9" name="Picture 28" descr="A close-up of a tomato plant&#10;&#10;AI-generated content may be incorrect.">
            <a:extLst>
              <a:ext uri="{FF2B5EF4-FFF2-40B4-BE49-F238E27FC236}">
                <a16:creationId xmlns:a16="http://schemas.microsoft.com/office/drawing/2014/main" id="{439B13F7-A529-C19D-B7BE-C1283CF50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89" y="1985570"/>
            <a:ext cx="3908261" cy="2185361"/>
          </a:xfrm>
          <a:prstGeom prst="rect">
            <a:avLst/>
          </a:prstGeom>
        </p:spPr>
      </p:pic>
      <p:sp>
        <p:nvSpPr>
          <p:cNvPr id="30" name="Freeform 32">
            <a:extLst>
              <a:ext uri="{FF2B5EF4-FFF2-40B4-BE49-F238E27FC236}">
                <a16:creationId xmlns:a16="http://schemas.microsoft.com/office/drawing/2014/main" id="{4C8318CE-AF45-C53B-A599-C032087D2340}"/>
              </a:ext>
            </a:extLst>
          </p:cNvPr>
          <p:cNvSpPr/>
          <p:nvPr/>
        </p:nvSpPr>
        <p:spPr>
          <a:xfrm rot="522854">
            <a:off x="9451454" y="4890031"/>
            <a:ext cx="2026731" cy="1964231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90"/>
                </a:lnTo>
                <a:lnTo>
                  <a:pt x="0" y="2675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1" name="Freeform 32">
            <a:extLst>
              <a:ext uri="{FF2B5EF4-FFF2-40B4-BE49-F238E27FC236}">
                <a16:creationId xmlns:a16="http://schemas.microsoft.com/office/drawing/2014/main" id="{F6CAAFE3-28B8-9D9B-D332-D70374CE43C0}"/>
              </a:ext>
            </a:extLst>
          </p:cNvPr>
          <p:cNvSpPr/>
          <p:nvPr/>
        </p:nvSpPr>
        <p:spPr>
          <a:xfrm rot="9933552">
            <a:off x="9136799" y="363259"/>
            <a:ext cx="2053238" cy="1853786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90"/>
                </a:lnTo>
                <a:lnTo>
                  <a:pt x="0" y="2675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330256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ACB55-ECD7-2A3F-FA08-9DFD0129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56349"/>
            <a:ext cx="2743200" cy="365125"/>
          </a:xfrm>
        </p:spPr>
        <p:txBody>
          <a:bodyPr/>
          <a:lstStyle/>
          <a:p>
            <a:fld id="{257BAB41-446F-254F-9A06-E92B9E63C694}" type="datetime1">
              <a:rPr lang="en-US" smtClean="0"/>
              <a:t>8/2/2026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5368F-86A6-5047-DA1E-8369A334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70F1E-2C7D-1968-106B-B57E001D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7</a:t>
            </a:fld>
            <a:endParaRPr lang="en-L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AD630D-1442-844E-0FB2-4C4B7B0107F8}"/>
              </a:ext>
            </a:extLst>
          </p:cNvPr>
          <p:cNvGrpSpPr/>
          <p:nvPr/>
        </p:nvGrpSpPr>
        <p:grpSpPr>
          <a:xfrm>
            <a:off x="198428" y="1684751"/>
            <a:ext cx="3694181" cy="4092138"/>
            <a:chOff x="0" y="-47625"/>
            <a:chExt cx="2018995" cy="116748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7F717AC-A435-3CDD-3DB0-529AD26364D3}"/>
                </a:ext>
              </a:extLst>
            </p:cNvPr>
            <p:cNvSpPr/>
            <p:nvPr/>
          </p:nvSpPr>
          <p:spPr>
            <a:xfrm>
              <a:off x="0" y="0"/>
              <a:ext cx="2018995" cy="1119856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EE9337FD-1E8D-4E28-2DC7-79D4BDB6095B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14">
            <a:extLst>
              <a:ext uri="{FF2B5EF4-FFF2-40B4-BE49-F238E27FC236}">
                <a16:creationId xmlns:a16="http://schemas.microsoft.com/office/drawing/2014/main" id="{9763A6AD-34BB-E9D7-3121-3BB4230590DF}"/>
              </a:ext>
            </a:extLst>
          </p:cNvPr>
          <p:cNvSpPr txBox="1"/>
          <p:nvPr/>
        </p:nvSpPr>
        <p:spPr>
          <a:xfrm>
            <a:off x="526215" y="2710515"/>
            <a:ext cx="1224282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Research Gap</a:t>
            </a:r>
            <a:endParaRPr lang="en-GB" sz="1600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F65B4DA0-AABE-F8F1-D581-8181241E5AE5}"/>
              </a:ext>
            </a:extLst>
          </p:cNvPr>
          <p:cNvSpPr txBox="1"/>
          <p:nvPr/>
        </p:nvSpPr>
        <p:spPr>
          <a:xfrm>
            <a:off x="526216" y="3057544"/>
            <a:ext cx="3068006" cy="984885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/>
              <a:t>Existing systems do not provide a complete cycle:</a:t>
            </a:r>
          </a:p>
          <a:p>
            <a:pPr>
              <a:buNone/>
            </a:pPr>
            <a:r>
              <a:rPr lang="en-GB" sz="1600" b="1"/>
              <a:t>Assess → Explain → Fix → Track → Verify</a:t>
            </a:r>
            <a:endParaRPr lang="en-GB" sz="1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AEC7B-B98A-54BC-B0CD-236BBB1B7469}"/>
              </a:ext>
            </a:extLst>
          </p:cNvPr>
          <p:cNvSpPr txBox="1"/>
          <p:nvPr/>
        </p:nvSpPr>
        <p:spPr>
          <a:xfrm>
            <a:off x="2651348" y="534658"/>
            <a:ext cx="95160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4000">
                <a:solidFill>
                  <a:schemeClr val="accent6">
                    <a:lumMod val="50000"/>
                  </a:schemeClr>
                </a:solidFill>
              </a:rPr>
              <a:t>How Our System Overcomes Limitations</a:t>
            </a:r>
          </a:p>
        </p:txBody>
      </p:sp>
      <p:sp>
        <p:nvSpPr>
          <p:cNvPr id="17" name="Freeform 24">
            <a:extLst>
              <a:ext uri="{FF2B5EF4-FFF2-40B4-BE49-F238E27FC236}">
                <a16:creationId xmlns:a16="http://schemas.microsoft.com/office/drawing/2014/main" id="{138D8CB6-BE07-D682-27A8-77724E4647EE}"/>
              </a:ext>
            </a:extLst>
          </p:cNvPr>
          <p:cNvSpPr/>
          <p:nvPr/>
        </p:nvSpPr>
        <p:spPr>
          <a:xfrm>
            <a:off x="35088" y="43489"/>
            <a:ext cx="1953882" cy="2373819"/>
          </a:xfrm>
          <a:custGeom>
            <a:avLst/>
            <a:gdLst/>
            <a:ahLst/>
            <a:cxnLst/>
            <a:rect l="l" t="t" r="r" b="b"/>
            <a:pathLst>
              <a:path w="3535927" h="3558166">
                <a:moveTo>
                  <a:pt x="0" y="0"/>
                </a:moveTo>
                <a:lnTo>
                  <a:pt x="3535927" y="0"/>
                </a:lnTo>
                <a:lnTo>
                  <a:pt x="3535927" y="3558166"/>
                </a:lnTo>
                <a:lnTo>
                  <a:pt x="0" y="355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96ADAE7-5D61-3AFD-075E-82DC6C067868}"/>
              </a:ext>
            </a:extLst>
          </p:cNvPr>
          <p:cNvGrpSpPr/>
          <p:nvPr/>
        </p:nvGrpSpPr>
        <p:grpSpPr>
          <a:xfrm>
            <a:off x="3994275" y="1693868"/>
            <a:ext cx="4203449" cy="4083021"/>
            <a:chOff x="0" y="-47625"/>
            <a:chExt cx="2018995" cy="1167481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75E7DC6-CE64-B8A0-9264-A13961842699}"/>
                </a:ext>
              </a:extLst>
            </p:cNvPr>
            <p:cNvSpPr/>
            <p:nvPr/>
          </p:nvSpPr>
          <p:spPr>
            <a:xfrm>
              <a:off x="0" y="0"/>
              <a:ext cx="2018995" cy="1119856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DF4052F4-5C60-C5A2-DD0A-801B56C3C740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6" name="TextBox 14">
            <a:extLst>
              <a:ext uri="{FF2B5EF4-FFF2-40B4-BE49-F238E27FC236}">
                <a16:creationId xmlns:a16="http://schemas.microsoft.com/office/drawing/2014/main" id="{83D441F4-4B83-16BD-2446-039164718F98}"/>
              </a:ext>
            </a:extLst>
          </p:cNvPr>
          <p:cNvSpPr txBox="1"/>
          <p:nvPr/>
        </p:nvSpPr>
        <p:spPr>
          <a:xfrm>
            <a:off x="4174144" y="2035611"/>
            <a:ext cx="2235893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Our System Provides</a:t>
            </a:r>
            <a:endParaRPr lang="en-GB" sz="1600"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67A9A970-3609-9BB3-8003-1855B66AD9E3}"/>
              </a:ext>
            </a:extLst>
          </p:cNvPr>
          <p:cNvSpPr txBox="1"/>
          <p:nvPr/>
        </p:nvSpPr>
        <p:spPr>
          <a:xfrm>
            <a:off x="4174144" y="2414580"/>
            <a:ext cx="3490951" cy="320087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Soil suitability prediction using IoT + 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Explainable AI (SHAP) to identify soil problems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Intelligent recommendations using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Treatment tracking and adaptive re-recommendation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AI-based tomato disease detection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Market price forecasting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/>
              <a:t>Single mobile platform for farmers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439F1C-0155-D3FB-1FE5-CD0FA8CF9D9A}"/>
              </a:ext>
            </a:extLst>
          </p:cNvPr>
          <p:cNvGrpSpPr/>
          <p:nvPr/>
        </p:nvGrpSpPr>
        <p:grpSpPr>
          <a:xfrm>
            <a:off x="8377592" y="1713627"/>
            <a:ext cx="3704627" cy="4092138"/>
            <a:chOff x="0" y="-47625"/>
            <a:chExt cx="2018995" cy="1167481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617457B-B842-DB20-D769-AD26B8C57FA9}"/>
                </a:ext>
              </a:extLst>
            </p:cNvPr>
            <p:cNvSpPr/>
            <p:nvPr/>
          </p:nvSpPr>
          <p:spPr>
            <a:xfrm>
              <a:off x="0" y="0"/>
              <a:ext cx="2018995" cy="1119856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0" name="TextBox 12">
              <a:extLst>
                <a:ext uri="{FF2B5EF4-FFF2-40B4-BE49-F238E27FC236}">
                  <a16:creationId xmlns:a16="http://schemas.microsoft.com/office/drawing/2014/main" id="{4E1CACC2-18A6-C33A-F3E8-48800094DA87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1" name="TextBox 14">
            <a:extLst>
              <a:ext uri="{FF2B5EF4-FFF2-40B4-BE49-F238E27FC236}">
                <a16:creationId xmlns:a16="http://schemas.microsoft.com/office/drawing/2014/main" id="{E3677FA4-E56E-BE9A-B6B4-D731C21C9DE7}"/>
              </a:ext>
            </a:extLst>
          </p:cNvPr>
          <p:cNvSpPr txBox="1"/>
          <p:nvPr/>
        </p:nvSpPr>
        <p:spPr>
          <a:xfrm>
            <a:off x="8580925" y="1947000"/>
            <a:ext cx="2221124" cy="24622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None/>
            </a:pPr>
            <a:r>
              <a:rPr lang="en-GB" sz="1600" b="1"/>
              <a:t>Novel Contributions</a:t>
            </a:r>
            <a:endParaRPr lang="en-GB" sz="1600"/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49EB88D3-9FE7-BE7C-3201-F1A0F55C4912}"/>
              </a:ext>
            </a:extLst>
          </p:cNvPr>
          <p:cNvSpPr txBox="1"/>
          <p:nvPr/>
        </p:nvSpPr>
        <p:spPr>
          <a:xfrm>
            <a:off x="8580924" y="2473063"/>
            <a:ext cx="3076681" cy="123110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Time-series soil tracking</a:t>
            </a:r>
            <a:r>
              <a:rPr lang="en-GB" sz="1600"/>
              <a:t> (Improving / Declining)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/>
              <a:t>Adaptive recommendation system</a:t>
            </a:r>
            <a:r>
              <a:rPr lang="en-GB" sz="1600"/>
              <a:t> when initial fixes fail</a:t>
            </a:r>
          </a:p>
        </p:txBody>
      </p:sp>
    </p:spTree>
    <p:extLst>
      <p:ext uri="{BB962C8B-B14F-4D97-AF65-F5344CB8AC3E}">
        <p14:creationId xmlns:p14="http://schemas.microsoft.com/office/powerpoint/2010/main" val="67374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B9491-DCA0-5BFA-25C6-4984955F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11900"/>
            <a:ext cx="2743200" cy="365125"/>
          </a:xfrm>
        </p:spPr>
        <p:txBody>
          <a:bodyPr/>
          <a:lstStyle/>
          <a:p>
            <a:fld id="{D2FB1FAD-3A9A-D043-B8DA-DA59E7934841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278E6-C0E6-BB23-A5FF-D43BA588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8</a:t>
            </a:fld>
            <a:endParaRPr lang="en-L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282A54-C323-F3CC-7738-8C0648E35A13}"/>
              </a:ext>
            </a:extLst>
          </p:cNvPr>
          <p:cNvSpPr txBox="1"/>
          <p:nvPr/>
        </p:nvSpPr>
        <p:spPr>
          <a:xfrm>
            <a:off x="5019194" y="232884"/>
            <a:ext cx="66633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1">
                <a:solidFill>
                  <a:schemeClr val="accent6">
                    <a:lumMod val="50000"/>
                  </a:schemeClr>
                </a:solidFill>
              </a:rPr>
              <a:t>IoT-Based Smart Soil Health Assessment System for Tomato Cultivation</a:t>
            </a:r>
            <a:endParaRPr lang="en-GB" sz="3200" b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5" name="Picture 14" descr="A person with a beard&#10;&#10;AI-generated content may be incorrect.">
            <a:extLst>
              <a:ext uri="{FF2B5EF4-FFF2-40B4-BE49-F238E27FC236}">
                <a16:creationId xmlns:a16="http://schemas.microsoft.com/office/drawing/2014/main" id="{6C7F0D43-40CA-180B-6FB4-F5EC9A4AE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5" y="511704"/>
            <a:ext cx="4181679" cy="5575572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FBC291D-BEC4-AABB-6E9A-82684D32CB2F}"/>
              </a:ext>
            </a:extLst>
          </p:cNvPr>
          <p:cNvSpPr/>
          <p:nvPr/>
        </p:nvSpPr>
        <p:spPr>
          <a:xfrm rot="-8924633">
            <a:off x="3673338" y="2233416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D8E784A-0198-4B4E-06C2-71CDEDE08E66}"/>
              </a:ext>
            </a:extLst>
          </p:cNvPr>
          <p:cNvSpPr/>
          <p:nvPr/>
        </p:nvSpPr>
        <p:spPr>
          <a:xfrm>
            <a:off x="10911538" y="5583873"/>
            <a:ext cx="2198131" cy="1821177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93A644-2AC0-D4D9-4DD1-0765818160EB}"/>
              </a:ext>
            </a:extLst>
          </p:cNvPr>
          <p:cNvSpPr/>
          <p:nvPr/>
        </p:nvSpPr>
        <p:spPr>
          <a:xfrm rot="9851713">
            <a:off x="11318366" y="-694529"/>
            <a:ext cx="1384476" cy="1854825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36EA2-3127-EFFB-2B85-382859897431}"/>
              </a:ext>
            </a:extLst>
          </p:cNvPr>
          <p:cNvSpPr txBox="1"/>
          <p:nvPr/>
        </p:nvSpPr>
        <p:spPr>
          <a:xfrm>
            <a:off x="4762852" y="1697609"/>
            <a:ext cx="595348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Contribution to the overall Solution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EFD24-052F-F9B0-EAD6-355F45F27E84}"/>
              </a:ext>
            </a:extLst>
          </p:cNvPr>
          <p:cNvSpPr txBox="1"/>
          <p:nvPr/>
        </p:nvSpPr>
        <p:spPr>
          <a:xfrm>
            <a:off x="4741813" y="2202391"/>
            <a:ext cx="687582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/>
              <a:t>IoT-based smart soil health assessment module for tomato cultivation that collects real-time soil data using sensors, classifies soil suitability using Random Forest machine learning, and provides intelligent corrective recommendations with adaptive tracking for farmers.</a:t>
            </a:r>
            <a:endParaRPr lang="en-US" sz="2000" b="1">
              <a:latin typeface="Aptos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14667-4C61-7623-F548-9FC38E751E89}"/>
              </a:ext>
            </a:extLst>
          </p:cNvPr>
          <p:cNvSpPr txBox="1"/>
          <p:nvPr/>
        </p:nvSpPr>
        <p:spPr>
          <a:xfrm>
            <a:off x="4806721" y="4069286"/>
            <a:ext cx="57169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Novelty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2D591-E31E-B14B-54F3-6B2F39B2D01D}"/>
              </a:ext>
            </a:extLst>
          </p:cNvPr>
          <p:cNvSpPr txBox="1"/>
          <p:nvPr/>
        </p:nvSpPr>
        <p:spPr>
          <a:xfrm>
            <a:off x="4762852" y="4469133"/>
            <a:ext cx="687582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000"/>
              <a:t>Time-series soil quality tracking system that monitors soil condition week by week after a corrective fix is applied and automatically generates a revised recommendation using RAG architecture when soil quality is not improving — the first system to provide a complete soil health feedback loop for tomato farmers.</a:t>
            </a:r>
            <a:endParaRPr lang="en-US" sz="2000" b="1">
              <a:latin typeface="Aptos SemiBold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4683B8-A237-8BFF-B0B7-B4A8D3BF37FC}"/>
              </a:ext>
            </a:extLst>
          </p:cNvPr>
          <p:cNvGrpSpPr/>
          <p:nvPr/>
        </p:nvGrpSpPr>
        <p:grpSpPr>
          <a:xfrm>
            <a:off x="4806722" y="1358224"/>
            <a:ext cx="7146247" cy="4988072"/>
            <a:chOff x="0" y="-47625"/>
            <a:chExt cx="1085563" cy="81947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BC2CE-42D1-7324-240F-0958C170F246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E18A5ED7-91C6-B0A0-4FFF-5581519D2416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3708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61DFD-AD5C-69D7-AA18-8CDFA5BE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35298" y="6384764"/>
            <a:ext cx="2743200" cy="365125"/>
          </a:xfrm>
        </p:spPr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F5CCA-4A19-4387-C26D-FD132210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7916" y="6384764"/>
            <a:ext cx="2743200" cy="365125"/>
          </a:xfrm>
        </p:spPr>
        <p:txBody>
          <a:bodyPr/>
          <a:lstStyle/>
          <a:p>
            <a:fld id="{D9319F46-185A-A649-83B1-01A4802BC987}" type="slidenum">
              <a:rPr lang="en-LK" smtClean="0"/>
              <a:t>9</a:t>
            </a:fld>
            <a:endParaRPr lang="en-LK"/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3DA951CA-B713-4E9D-1E51-6097AB26969A}"/>
              </a:ext>
            </a:extLst>
          </p:cNvPr>
          <p:cNvGrpSpPr/>
          <p:nvPr/>
        </p:nvGrpSpPr>
        <p:grpSpPr>
          <a:xfrm>
            <a:off x="219919" y="810229"/>
            <a:ext cx="11759878" cy="6076708"/>
            <a:chOff x="0" y="-47625"/>
            <a:chExt cx="2018995" cy="1167481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11195EC3-678E-922C-66F7-23B166840ECD}"/>
                </a:ext>
              </a:extLst>
            </p:cNvPr>
            <p:cNvSpPr/>
            <p:nvPr/>
          </p:nvSpPr>
          <p:spPr>
            <a:xfrm>
              <a:off x="36101" y="99079"/>
              <a:ext cx="573969" cy="887350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21355D2B-A7AF-70CD-41F7-B71776ED44D5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1EA793F9-6F1D-EA4E-1C64-2F3413B2402A}"/>
              </a:ext>
            </a:extLst>
          </p:cNvPr>
          <p:cNvSpPr txBox="1"/>
          <p:nvPr/>
        </p:nvSpPr>
        <p:spPr>
          <a:xfrm>
            <a:off x="520059" y="2058537"/>
            <a:ext cx="3125003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Tomato farmers in Sri Lanka find it difficult to check soil suitability before planting.</a:t>
            </a:r>
          </a:p>
          <a:p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Existing systems only classify soil or recommend crops.</a:t>
            </a:r>
          </a:p>
          <a:p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They do </a:t>
            </a:r>
            <a:r>
              <a:rPr lang="en-GB" sz="1600" b="1"/>
              <a:t>not explain why soil is unsuitable</a:t>
            </a:r>
            <a:r>
              <a:rPr lang="en-GB" sz="1600"/>
              <a:t>.</a:t>
            </a:r>
          </a:p>
          <a:p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They do </a:t>
            </a:r>
            <a:r>
              <a:rPr lang="en-GB" sz="1600" b="1"/>
              <a:t>not give solutions to improve the soil</a:t>
            </a:r>
            <a:r>
              <a:rPr lang="en-GB" sz="1600"/>
              <a:t>.</a:t>
            </a:r>
          </a:p>
          <a:p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They also </a:t>
            </a:r>
            <a:r>
              <a:rPr lang="en-GB" sz="1600" b="1"/>
              <a:t>do not track if soil improvements are working</a:t>
            </a:r>
            <a:r>
              <a:rPr lang="en-GB" sz="1600"/>
              <a:t>.</a:t>
            </a: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977658DC-1380-75EE-D479-5A5DC1401EEC}"/>
              </a:ext>
            </a:extLst>
          </p:cNvPr>
          <p:cNvSpPr txBox="1"/>
          <p:nvPr/>
        </p:nvSpPr>
        <p:spPr>
          <a:xfrm>
            <a:off x="1561781" y="1660911"/>
            <a:ext cx="151708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1600" b="1"/>
              <a:t>Problem</a:t>
            </a:r>
          </a:p>
        </p:txBody>
      </p:sp>
      <p:sp>
        <p:nvSpPr>
          <p:cNvPr id="39" name="Freeform 24">
            <a:extLst>
              <a:ext uri="{FF2B5EF4-FFF2-40B4-BE49-F238E27FC236}">
                <a16:creationId xmlns:a16="http://schemas.microsoft.com/office/drawing/2014/main" id="{E65FFDB8-F0BE-494D-071F-AF4AE44C1FED}"/>
              </a:ext>
            </a:extLst>
          </p:cNvPr>
          <p:cNvSpPr/>
          <p:nvPr/>
        </p:nvSpPr>
        <p:spPr>
          <a:xfrm>
            <a:off x="10092193" y="94726"/>
            <a:ext cx="1486531" cy="1733815"/>
          </a:xfrm>
          <a:custGeom>
            <a:avLst/>
            <a:gdLst/>
            <a:ahLst/>
            <a:cxnLst/>
            <a:rect l="l" t="t" r="r" b="b"/>
            <a:pathLst>
              <a:path w="3535927" h="3558166">
                <a:moveTo>
                  <a:pt x="0" y="0"/>
                </a:moveTo>
                <a:lnTo>
                  <a:pt x="3535927" y="0"/>
                </a:lnTo>
                <a:lnTo>
                  <a:pt x="3535927" y="3558166"/>
                </a:lnTo>
                <a:lnTo>
                  <a:pt x="0" y="3558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89BF37-CD24-6EFD-55FB-57605B9339CC}"/>
              </a:ext>
            </a:extLst>
          </p:cNvPr>
          <p:cNvSpPr txBox="1"/>
          <p:nvPr/>
        </p:nvSpPr>
        <p:spPr>
          <a:xfrm>
            <a:off x="1621584" y="-40453"/>
            <a:ext cx="995714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135"/>
              </a:lnSpc>
            </a:pPr>
            <a:r>
              <a:rPr lang="en-GB" sz="2000" b="1" i="1"/>
              <a:t>IoT-Based Smart Soil Health Assessment System for Tomato Cultivation</a:t>
            </a:r>
            <a:endParaRPr lang="en-US" sz="2000" b="1">
              <a:solidFill>
                <a:srgbClr val="2C462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2" name="Group 10">
            <a:extLst>
              <a:ext uri="{FF2B5EF4-FFF2-40B4-BE49-F238E27FC236}">
                <a16:creationId xmlns:a16="http://schemas.microsoft.com/office/drawing/2014/main" id="{4ED750EA-FA2A-5D81-C3BE-FC6E99DE5D4E}"/>
              </a:ext>
            </a:extLst>
          </p:cNvPr>
          <p:cNvGrpSpPr/>
          <p:nvPr/>
        </p:nvGrpSpPr>
        <p:grpSpPr>
          <a:xfrm>
            <a:off x="3972046" y="810229"/>
            <a:ext cx="11759878" cy="6076708"/>
            <a:chOff x="0" y="-47625"/>
            <a:chExt cx="2018995" cy="1167481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B96FD07B-72F9-6A19-8578-95FB5CAA7160}"/>
                </a:ext>
              </a:extLst>
            </p:cNvPr>
            <p:cNvSpPr/>
            <p:nvPr/>
          </p:nvSpPr>
          <p:spPr>
            <a:xfrm>
              <a:off x="36101" y="99079"/>
              <a:ext cx="573969" cy="887350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E68CF749-025F-51F8-7792-579375AC317D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5" name="TextBox 13">
            <a:extLst>
              <a:ext uri="{FF2B5EF4-FFF2-40B4-BE49-F238E27FC236}">
                <a16:creationId xmlns:a16="http://schemas.microsoft.com/office/drawing/2014/main" id="{09A1A28E-CA00-AEE0-7F5C-106818701A62}"/>
              </a:ext>
            </a:extLst>
          </p:cNvPr>
          <p:cNvSpPr txBox="1"/>
          <p:nvPr/>
        </p:nvSpPr>
        <p:spPr>
          <a:xfrm>
            <a:off x="4272186" y="2058537"/>
            <a:ext cx="2998645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Predicts </a:t>
            </a:r>
            <a:r>
              <a:rPr lang="en-GB" sz="1600" b="1"/>
              <a:t>soil suitability</a:t>
            </a:r>
            <a:r>
              <a:rPr lang="en-GB" sz="1600"/>
              <a:t> using Machine Learning</a:t>
            </a:r>
          </a:p>
          <a:p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Explains the results using </a:t>
            </a:r>
            <a:r>
              <a:rPr lang="en-GB" sz="1600" b="1"/>
              <a:t>Explainable AI (XAI)</a:t>
            </a:r>
          </a:p>
          <a:p>
            <a:endParaRPr lang="en-GB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Provides </a:t>
            </a:r>
            <a:r>
              <a:rPr lang="en-GB" sz="1600" b="1"/>
              <a:t>soil improvement recommendations</a:t>
            </a:r>
            <a:r>
              <a:rPr lang="en-GB" sz="1600"/>
              <a:t> using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Tracks soil quality changes over time</a:t>
            </a:r>
          </a:p>
        </p:txBody>
      </p:sp>
      <p:sp>
        <p:nvSpPr>
          <p:cNvPr id="46" name="TextBox 14">
            <a:extLst>
              <a:ext uri="{FF2B5EF4-FFF2-40B4-BE49-F238E27FC236}">
                <a16:creationId xmlns:a16="http://schemas.microsoft.com/office/drawing/2014/main" id="{C597E333-ADF2-28EE-1A7E-DA6AA8E816DB}"/>
              </a:ext>
            </a:extLst>
          </p:cNvPr>
          <p:cNvSpPr txBox="1"/>
          <p:nvPr/>
        </p:nvSpPr>
        <p:spPr>
          <a:xfrm>
            <a:off x="5313908" y="1660911"/>
            <a:ext cx="151708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1600" b="1"/>
              <a:t>Objective</a:t>
            </a:r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578BE4C9-8231-3011-FB63-7031EADC854B}"/>
              </a:ext>
            </a:extLst>
          </p:cNvPr>
          <p:cNvSpPr txBox="1"/>
          <p:nvPr/>
        </p:nvSpPr>
        <p:spPr>
          <a:xfrm>
            <a:off x="8189252" y="2058537"/>
            <a:ext cx="2998645" cy="4093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Collect soil data using ESP32 and sensors (NPK, pH, moisture, temperature, humidity)</a:t>
            </a:r>
          </a:p>
          <a:p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Train a Random Forest model to classify soil suitability</a:t>
            </a:r>
          </a:p>
          <a:p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Use SHAP (XAI) to identify problematic soil parameters</a:t>
            </a:r>
          </a:p>
          <a:p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Generate soil improvement recommendations using RAG</a:t>
            </a:r>
          </a:p>
          <a:p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Monitor soil quality changes using time-series analysis</a:t>
            </a:r>
          </a:p>
          <a:p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Provide adaptive recommendations if soil does not improve</a:t>
            </a:r>
          </a:p>
        </p:txBody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75A500AD-ADCC-5FBF-55E1-83CEE6CD7C9E}"/>
              </a:ext>
            </a:extLst>
          </p:cNvPr>
          <p:cNvSpPr txBox="1"/>
          <p:nvPr/>
        </p:nvSpPr>
        <p:spPr>
          <a:xfrm>
            <a:off x="9230974" y="1660911"/>
            <a:ext cx="151708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1600" b="1"/>
              <a:t>Sub-Objectives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EFB9D4-73AE-00EE-BDEC-11EC1D0592D9}"/>
              </a:ext>
            </a:extLst>
          </p:cNvPr>
          <p:cNvSpPr/>
          <p:nvPr/>
        </p:nvSpPr>
        <p:spPr>
          <a:xfrm>
            <a:off x="7865671" y="1565961"/>
            <a:ext cx="3705681" cy="45956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19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655A7-9F39-C403-8FD2-6AA13B7D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81348"/>
            <a:ext cx="2743200" cy="365125"/>
          </a:xfrm>
        </p:spPr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3F8A-5AFD-4DA7-F86E-83159E0D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10</a:t>
            </a:fld>
            <a:endParaRPr lang="en-LK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023C9FAB-3263-76E6-61E5-9D961E5C42B3}"/>
              </a:ext>
            </a:extLst>
          </p:cNvPr>
          <p:cNvSpPr txBox="1"/>
          <p:nvPr/>
        </p:nvSpPr>
        <p:spPr>
          <a:xfrm>
            <a:off x="483725" y="4247203"/>
            <a:ext cx="484062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400" b="1" i="1"/>
              <a:t>IoT-Based Smart Soil Health Assessment System for Tomato Cultivation</a:t>
            </a:r>
            <a:endParaRPr lang="en-GB" sz="2400" b="1"/>
          </a:p>
        </p:txBody>
      </p:sp>
      <p:sp>
        <p:nvSpPr>
          <p:cNvPr id="10" name="Freeform 22">
            <a:extLst>
              <a:ext uri="{FF2B5EF4-FFF2-40B4-BE49-F238E27FC236}">
                <a16:creationId xmlns:a16="http://schemas.microsoft.com/office/drawing/2014/main" id="{6CF4C494-52B2-0745-8DA2-8C27F9567BC1}"/>
              </a:ext>
            </a:extLst>
          </p:cNvPr>
          <p:cNvSpPr/>
          <p:nvPr/>
        </p:nvSpPr>
        <p:spPr>
          <a:xfrm>
            <a:off x="3581401" y="5218759"/>
            <a:ext cx="1280620" cy="1320153"/>
          </a:xfrm>
          <a:custGeom>
            <a:avLst/>
            <a:gdLst/>
            <a:ahLst/>
            <a:cxnLst/>
            <a:rect l="l" t="t" r="r" b="b"/>
            <a:pathLst>
              <a:path w="3452745" h="3474461">
                <a:moveTo>
                  <a:pt x="0" y="0"/>
                </a:moveTo>
                <a:lnTo>
                  <a:pt x="3452745" y="0"/>
                </a:lnTo>
                <a:lnTo>
                  <a:pt x="3452745" y="3474461"/>
                </a:lnTo>
                <a:lnTo>
                  <a:pt x="0" y="3474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BCA30D56-FFDD-7767-7B90-164529391B88}"/>
              </a:ext>
            </a:extLst>
          </p:cNvPr>
          <p:cNvGrpSpPr/>
          <p:nvPr/>
        </p:nvGrpSpPr>
        <p:grpSpPr>
          <a:xfrm>
            <a:off x="5904383" y="561544"/>
            <a:ext cx="5707766" cy="2550667"/>
            <a:chOff x="0" y="0"/>
            <a:chExt cx="1769194" cy="771853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A79BD75-7A00-F90B-0ACF-69712784AB0C}"/>
                </a:ext>
              </a:extLst>
            </p:cNvPr>
            <p:cNvSpPr/>
            <p:nvPr/>
          </p:nvSpPr>
          <p:spPr>
            <a:xfrm>
              <a:off x="0" y="0"/>
              <a:ext cx="1769194" cy="771853"/>
            </a:xfrm>
            <a:custGeom>
              <a:avLst/>
              <a:gdLst/>
              <a:ahLst/>
              <a:cxnLst/>
              <a:rect l="l" t="t" r="r" b="b"/>
              <a:pathLst>
                <a:path w="1769194" h="771853">
                  <a:moveTo>
                    <a:pt x="0" y="0"/>
                  </a:moveTo>
                  <a:lnTo>
                    <a:pt x="1769194" y="0"/>
                  </a:lnTo>
                  <a:lnTo>
                    <a:pt x="1769194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4">
              <a:extLst>
                <a:ext uri="{FF2B5EF4-FFF2-40B4-BE49-F238E27FC236}">
                  <a16:creationId xmlns:a16="http://schemas.microsoft.com/office/drawing/2014/main" id="{65CB3952-EC95-BC42-8235-A805F31EC027}"/>
                </a:ext>
              </a:extLst>
            </p:cNvPr>
            <p:cNvSpPr txBox="1"/>
            <p:nvPr/>
          </p:nvSpPr>
          <p:spPr>
            <a:xfrm>
              <a:off x="0" y="-47625"/>
              <a:ext cx="1769194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4" name="TextBox 15">
            <a:extLst>
              <a:ext uri="{FF2B5EF4-FFF2-40B4-BE49-F238E27FC236}">
                <a16:creationId xmlns:a16="http://schemas.microsoft.com/office/drawing/2014/main" id="{8E7BD180-A409-3B06-05C2-7A418E7E115A}"/>
              </a:ext>
            </a:extLst>
          </p:cNvPr>
          <p:cNvSpPr txBox="1"/>
          <p:nvPr/>
        </p:nvSpPr>
        <p:spPr>
          <a:xfrm>
            <a:off x="6201755" y="1024790"/>
            <a:ext cx="2307220" cy="1394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Internet of Things (IoT)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Machine Learning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Explainable AI (XAI)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Time-Series Analysis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Cloud Computing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0FB379A4-D7B6-291E-5A67-26F7AB14305A}"/>
              </a:ext>
            </a:extLst>
          </p:cNvPr>
          <p:cNvSpPr txBox="1"/>
          <p:nvPr/>
        </p:nvSpPr>
        <p:spPr>
          <a:xfrm>
            <a:off x="6201755" y="652343"/>
            <a:ext cx="1952609" cy="267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 b="1"/>
              <a:t>Knowledge Domains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6" name="Group 17">
            <a:extLst>
              <a:ext uri="{FF2B5EF4-FFF2-40B4-BE49-F238E27FC236}">
                <a16:creationId xmlns:a16="http://schemas.microsoft.com/office/drawing/2014/main" id="{9D847B63-764A-A234-8D8F-51F3D525DD21}"/>
              </a:ext>
            </a:extLst>
          </p:cNvPr>
          <p:cNvGrpSpPr/>
          <p:nvPr/>
        </p:nvGrpSpPr>
        <p:grpSpPr>
          <a:xfrm>
            <a:off x="5904383" y="3631093"/>
            <a:ext cx="5707766" cy="2404211"/>
            <a:chOff x="0" y="0"/>
            <a:chExt cx="1769194" cy="771853"/>
          </a:xfrm>
        </p:grpSpPr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5D3660E2-271F-9AC7-EAA3-DC0A5699B7FB}"/>
                </a:ext>
              </a:extLst>
            </p:cNvPr>
            <p:cNvSpPr/>
            <p:nvPr/>
          </p:nvSpPr>
          <p:spPr>
            <a:xfrm>
              <a:off x="0" y="0"/>
              <a:ext cx="1769194" cy="771853"/>
            </a:xfrm>
            <a:custGeom>
              <a:avLst/>
              <a:gdLst/>
              <a:ahLst/>
              <a:cxnLst/>
              <a:rect l="l" t="t" r="r" b="b"/>
              <a:pathLst>
                <a:path w="1769194" h="771853">
                  <a:moveTo>
                    <a:pt x="0" y="0"/>
                  </a:moveTo>
                  <a:lnTo>
                    <a:pt x="1769194" y="0"/>
                  </a:lnTo>
                  <a:lnTo>
                    <a:pt x="1769194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9">
              <a:extLst>
                <a:ext uri="{FF2B5EF4-FFF2-40B4-BE49-F238E27FC236}">
                  <a16:creationId xmlns:a16="http://schemas.microsoft.com/office/drawing/2014/main" id="{BBF5E518-4A91-F686-97E7-2F73567D34AB}"/>
                </a:ext>
              </a:extLst>
            </p:cNvPr>
            <p:cNvSpPr txBox="1"/>
            <p:nvPr/>
          </p:nvSpPr>
          <p:spPr>
            <a:xfrm>
              <a:off x="0" y="-47625"/>
              <a:ext cx="1769194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9" name="TextBox 20">
            <a:extLst>
              <a:ext uri="{FF2B5EF4-FFF2-40B4-BE49-F238E27FC236}">
                <a16:creationId xmlns:a16="http://schemas.microsoft.com/office/drawing/2014/main" id="{CFAD6E4C-08D9-ED62-6B05-057386CF93CC}"/>
              </a:ext>
            </a:extLst>
          </p:cNvPr>
          <p:cNvSpPr txBox="1"/>
          <p:nvPr/>
        </p:nvSpPr>
        <p:spPr>
          <a:xfrm>
            <a:off x="6200790" y="4290569"/>
            <a:ext cx="4620920" cy="1394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ESP32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NPK, pH, Moisture Sensors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DHT11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Python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Firebase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74E04236-78C6-31C0-BCF2-757729E14CD0}"/>
              </a:ext>
            </a:extLst>
          </p:cNvPr>
          <p:cNvSpPr txBox="1"/>
          <p:nvPr/>
        </p:nvSpPr>
        <p:spPr>
          <a:xfrm>
            <a:off x="6201755" y="3859463"/>
            <a:ext cx="4620920" cy="274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 b="1"/>
              <a:t>Technologies Used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32" name="Picture 31" descr="A person working on a computer in a greenhouse&#10;&#10;AI-generated content may be incorrect.">
            <a:extLst>
              <a:ext uri="{FF2B5EF4-FFF2-40B4-BE49-F238E27FC236}">
                <a16:creationId xmlns:a16="http://schemas.microsoft.com/office/drawing/2014/main" id="{11C4F9D2-659C-EEB1-BAF1-BBE33B327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88" y="658115"/>
            <a:ext cx="4840628" cy="297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4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AE6A1-0EEA-83A6-6981-2B9623F4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56349"/>
            <a:ext cx="2743200" cy="365125"/>
          </a:xfrm>
        </p:spPr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676E-6533-96A5-19E4-DF2C9EF3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11</a:t>
            </a:fld>
            <a:endParaRPr lang="en-LK"/>
          </a:p>
        </p:txBody>
      </p:sp>
      <p:sp>
        <p:nvSpPr>
          <p:cNvPr id="7" name="TextBox 28">
            <a:extLst>
              <a:ext uri="{FF2B5EF4-FFF2-40B4-BE49-F238E27FC236}">
                <a16:creationId xmlns:a16="http://schemas.microsoft.com/office/drawing/2014/main" id="{0A79ABC5-5A52-5F33-C676-3512E74AF8AE}"/>
              </a:ext>
            </a:extLst>
          </p:cNvPr>
          <p:cNvSpPr txBox="1"/>
          <p:nvPr/>
        </p:nvSpPr>
        <p:spPr>
          <a:xfrm>
            <a:off x="834363" y="574092"/>
            <a:ext cx="2850162" cy="2748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 b="1"/>
              <a:t>Validation Strategy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569651FE-11DD-896C-5C64-AA86A58170C3}"/>
              </a:ext>
            </a:extLst>
          </p:cNvPr>
          <p:cNvSpPr txBox="1"/>
          <p:nvPr/>
        </p:nvSpPr>
        <p:spPr>
          <a:xfrm>
            <a:off x="759288" y="862328"/>
            <a:ext cx="3588732" cy="224273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Random Forest Model</a:t>
            </a:r>
            <a:r>
              <a:rPr lang="en-GB" sz="1600"/>
              <a:t>: Train–test split (80/20), target accuracy ≥ 95%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Model Performance</a:t>
            </a:r>
            <a:r>
              <a:rPr lang="en-GB" sz="1600"/>
              <a:t>: Precision, Recall, F1 Score ≥ 90%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SHAP Explanations</a:t>
            </a:r>
            <a:r>
              <a:rPr lang="en-GB" sz="1600"/>
              <a:t>: Verified by agricultural experts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RAG Recommendations</a:t>
            </a:r>
            <a:r>
              <a:rPr lang="en-GB" sz="1600"/>
              <a:t>: Evaluated for relevance and usefulness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FD002B-D2E8-24B0-D23F-53B5B6E1AA43}"/>
              </a:ext>
            </a:extLst>
          </p:cNvPr>
          <p:cNvGrpSpPr/>
          <p:nvPr/>
        </p:nvGrpSpPr>
        <p:grpSpPr>
          <a:xfrm>
            <a:off x="699598" y="298912"/>
            <a:ext cx="3588732" cy="2956972"/>
            <a:chOff x="0" y="-47625"/>
            <a:chExt cx="1085563" cy="81947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C01D04D-200D-47A7-2E81-8F1D46EC5B94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562D03F1-8CA1-1CC1-EDCF-09469D5D2379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TextBox 28">
            <a:extLst>
              <a:ext uri="{FF2B5EF4-FFF2-40B4-BE49-F238E27FC236}">
                <a16:creationId xmlns:a16="http://schemas.microsoft.com/office/drawing/2014/main" id="{CF4FBA06-3230-7D35-AA1F-F0BFE6331833}"/>
              </a:ext>
            </a:extLst>
          </p:cNvPr>
          <p:cNvSpPr txBox="1"/>
          <p:nvPr/>
        </p:nvSpPr>
        <p:spPr>
          <a:xfrm>
            <a:off x="1078882" y="3871600"/>
            <a:ext cx="2850162" cy="2748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/>
              <a:t>Security Measures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B5BEAC19-A773-6BE8-8331-62055E11BF42}"/>
              </a:ext>
            </a:extLst>
          </p:cNvPr>
          <p:cNvSpPr txBox="1"/>
          <p:nvPr/>
        </p:nvSpPr>
        <p:spPr>
          <a:xfrm>
            <a:off x="1062490" y="4416667"/>
            <a:ext cx="2850162" cy="140333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encryption</a:t>
            </a:r>
            <a:r>
              <a:rPr lang="en-GB" sz="1600"/>
              <a:t> for secure communication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authentication</a:t>
            </a:r>
            <a:r>
              <a:rPr lang="en-GB" sz="1600"/>
              <a:t> for data access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Farmer login authentication</a:t>
            </a:r>
            <a:r>
              <a:rPr lang="en-GB" sz="1600"/>
              <a:t> for dashboard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F6A3FE-6374-3CED-18E8-41D8761C3F6D}"/>
              </a:ext>
            </a:extLst>
          </p:cNvPr>
          <p:cNvGrpSpPr/>
          <p:nvPr/>
        </p:nvGrpSpPr>
        <p:grpSpPr>
          <a:xfrm>
            <a:off x="699598" y="3325613"/>
            <a:ext cx="3588732" cy="2956972"/>
            <a:chOff x="0" y="-47625"/>
            <a:chExt cx="1085563" cy="819478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C9184E5-9123-D149-5EE4-FFEC3494CF2B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B9D5FCC8-12C2-A624-57F5-D2D17779EA6C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TextBox 28">
            <a:extLst>
              <a:ext uri="{FF2B5EF4-FFF2-40B4-BE49-F238E27FC236}">
                <a16:creationId xmlns:a16="http://schemas.microsoft.com/office/drawing/2014/main" id="{4202DAFB-6588-6CAB-43C8-22FA367FBD95}"/>
              </a:ext>
            </a:extLst>
          </p:cNvPr>
          <p:cNvSpPr txBox="1"/>
          <p:nvPr/>
        </p:nvSpPr>
        <p:spPr>
          <a:xfrm>
            <a:off x="5026900" y="3871600"/>
            <a:ext cx="2850162" cy="2748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/>
              <a:t>Ethical Considerations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B0B220-2C2B-2049-9CF6-2634B1B0789B}"/>
              </a:ext>
            </a:extLst>
          </p:cNvPr>
          <p:cNvSpPr txBox="1"/>
          <p:nvPr/>
        </p:nvSpPr>
        <p:spPr>
          <a:xfrm>
            <a:off x="4942208" y="4318267"/>
            <a:ext cx="2850162" cy="167847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Farmer consent</a:t>
            </a:r>
            <a:r>
              <a:rPr lang="en-GB" sz="1600"/>
              <a:t> before data collection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Data privacy and anonymization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/>
              <a:t>Voluntary participation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Sensors safe</a:t>
            </a:r>
            <a:r>
              <a:rPr lang="en-GB" sz="1600"/>
              <a:t> for soil and crops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2C0966-597C-D701-91E8-9F8BE6BED575}"/>
              </a:ext>
            </a:extLst>
          </p:cNvPr>
          <p:cNvGrpSpPr/>
          <p:nvPr/>
        </p:nvGrpSpPr>
        <p:grpSpPr>
          <a:xfrm>
            <a:off x="4498230" y="3327456"/>
            <a:ext cx="3588732" cy="2956972"/>
            <a:chOff x="0" y="-47625"/>
            <a:chExt cx="1085563" cy="819478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E2C0578-C3B7-EEEF-6074-5C2034B9E450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DF69F434-C330-E5FF-1119-72E97878B683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28">
            <a:extLst>
              <a:ext uri="{FF2B5EF4-FFF2-40B4-BE49-F238E27FC236}">
                <a16:creationId xmlns:a16="http://schemas.microsoft.com/office/drawing/2014/main" id="{48FEC8DC-035D-412C-2DCA-0F351D1717DF}"/>
              </a:ext>
            </a:extLst>
          </p:cNvPr>
          <p:cNvSpPr txBox="1"/>
          <p:nvPr/>
        </p:nvSpPr>
        <p:spPr>
          <a:xfrm>
            <a:off x="4942208" y="587509"/>
            <a:ext cx="2850162" cy="2748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GB" sz="1600"/>
              <a:t>Data Sources</a:t>
            </a:r>
            <a:endParaRPr lang="en-US" sz="1600" b="1">
              <a:solidFill>
                <a:srgbClr val="2C462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9A419D1A-CA5B-5DAA-5EE7-538AA72D3F9F}"/>
              </a:ext>
            </a:extLst>
          </p:cNvPr>
          <p:cNvSpPr txBox="1"/>
          <p:nvPr/>
        </p:nvSpPr>
        <p:spPr>
          <a:xfrm>
            <a:off x="4942208" y="979077"/>
            <a:ext cx="2850162" cy="112120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Real-time IoT sensor data</a:t>
            </a:r>
            <a:r>
              <a:rPr lang="en-GB" sz="1600"/>
              <a:t> from farms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Synthetic dataset</a:t>
            </a:r>
            <a:r>
              <a:rPr lang="en-GB" sz="1600"/>
              <a:t> for additional training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03E5E8D-CB74-2458-B6A3-3D23DF010CD1}"/>
              </a:ext>
            </a:extLst>
          </p:cNvPr>
          <p:cNvGrpSpPr/>
          <p:nvPr/>
        </p:nvGrpSpPr>
        <p:grpSpPr>
          <a:xfrm>
            <a:off x="4498230" y="298912"/>
            <a:ext cx="3588732" cy="2956972"/>
            <a:chOff x="0" y="-47625"/>
            <a:chExt cx="1085563" cy="819478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E10E7D0-4CE7-3CCC-132F-74D2D8108C7F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6" name="TextBox 17">
              <a:extLst>
                <a:ext uri="{FF2B5EF4-FFF2-40B4-BE49-F238E27FC236}">
                  <a16:creationId xmlns:a16="http://schemas.microsoft.com/office/drawing/2014/main" id="{64657B51-247F-102A-41D0-2CA18349FA99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Freeform 32">
            <a:extLst>
              <a:ext uri="{FF2B5EF4-FFF2-40B4-BE49-F238E27FC236}">
                <a16:creationId xmlns:a16="http://schemas.microsoft.com/office/drawing/2014/main" id="{A9552E05-FFB9-CF98-CDC5-8563748985F3}"/>
              </a:ext>
            </a:extLst>
          </p:cNvPr>
          <p:cNvSpPr/>
          <p:nvPr/>
        </p:nvSpPr>
        <p:spPr>
          <a:xfrm rot="522854">
            <a:off x="10411589" y="5153912"/>
            <a:ext cx="1659128" cy="1727448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90"/>
                </a:lnTo>
                <a:lnTo>
                  <a:pt x="0" y="267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2957C9-76AA-6568-351D-CE203F5A75E3}"/>
              </a:ext>
            </a:extLst>
          </p:cNvPr>
          <p:cNvSpPr txBox="1"/>
          <p:nvPr/>
        </p:nvSpPr>
        <p:spPr>
          <a:xfrm>
            <a:off x="8325416" y="4531745"/>
            <a:ext cx="33009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1"/>
              <a:t>IoT-Based Smart Soil Health Assessment System for Tomato Cultivation</a:t>
            </a:r>
            <a:endParaRPr lang="en-GB" sz="1800" b="1"/>
          </a:p>
        </p:txBody>
      </p:sp>
      <p:pic>
        <p:nvPicPr>
          <p:cNvPr id="33" name="Picture 32" descr="A diagram of a data collection&#10;&#10;AI-generated content may be incorrect.">
            <a:extLst>
              <a:ext uri="{FF2B5EF4-FFF2-40B4-BE49-F238E27FC236}">
                <a16:creationId xmlns:a16="http://schemas.microsoft.com/office/drawing/2014/main" id="{7637C26D-A393-B580-40FA-20EB5D68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810" y="505206"/>
            <a:ext cx="3688113" cy="29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38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6010A-39D1-8D24-5261-1A295C0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56349"/>
            <a:ext cx="2743200" cy="365125"/>
          </a:xfrm>
        </p:spPr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DA9CD-77AD-280E-98BD-860113A9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12</a:t>
            </a:fld>
            <a:endParaRPr lang="en-LK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5636B95-F123-06FC-5A14-73F6E45904C9}"/>
              </a:ext>
            </a:extLst>
          </p:cNvPr>
          <p:cNvSpPr/>
          <p:nvPr/>
        </p:nvSpPr>
        <p:spPr>
          <a:xfrm rot="-7355836">
            <a:off x="4133457" y="1403361"/>
            <a:ext cx="2516793" cy="1618971"/>
          </a:xfrm>
          <a:custGeom>
            <a:avLst/>
            <a:gdLst/>
            <a:ahLst/>
            <a:cxnLst/>
            <a:rect l="l" t="t" r="r" b="b"/>
            <a:pathLst>
              <a:path w="2516793" h="2315450">
                <a:moveTo>
                  <a:pt x="0" y="0"/>
                </a:moveTo>
                <a:lnTo>
                  <a:pt x="2516793" y="0"/>
                </a:lnTo>
                <a:lnTo>
                  <a:pt x="2516793" y="2315450"/>
                </a:lnTo>
                <a:lnTo>
                  <a:pt x="0" y="2315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EBEC00D-7931-C22E-E80D-D5F2E99D8D08}"/>
              </a:ext>
            </a:extLst>
          </p:cNvPr>
          <p:cNvGrpSpPr/>
          <p:nvPr/>
        </p:nvGrpSpPr>
        <p:grpSpPr>
          <a:xfrm>
            <a:off x="6533335" y="-150471"/>
            <a:ext cx="5542169" cy="6369277"/>
            <a:chOff x="0" y="-47625"/>
            <a:chExt cx="2137363" cy="122918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9F8EA33-7647-953E-B081-5C615DDB6953}"/>
                </a:ext>
              </a:extLst>
            </p:cNvPr>
            <p:cNvSpPr/>
            <p:nvPr/>
          </p:nvSpPr>
          <p:spPr>
            <a:xfrm>
              <a:off x="0" y="0"/>
              <a:ext cx="2137363" cy="1181561"/>
            </a:xfrm>
            <a:custGeom>
              <a:avLst/>
              <a:gdLst/>
              <a:ahLst/>
              <a:cxnLst/>
              <a:rect l="l" t="t" r="r" b="b"/>
              <a:pathLst>
                <a:path w="2137363" h="1181561">
                  <a:moveTo>
                    <a:pt x="0" y="0"/>
                  </a:moveTo>
                  <a:lnTo>
                    <a:pt x="2137363" y="0"/>
                  </a:lnTo>
                  <a:lnTo>
                    <a:pt x="2137363" y="1181561"/>
                  </a:lnTo>
                  <a:lnTo>
                    <a:pt x="0" y="1181561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F01F69A5-6C5B-B7F3-E2D8-6A347E347EE0}"/>
                </a:ext>
              </a:extLst>
            </p:cNvPr>
            <p:cNvSpPr txBox="1"/>
            <p:nvPr/>
          </p:nvSpPr>
          <p:spPr>
            <a:xfrm>
              <a:off x="0" y="-47625"/>
              <a:ext cx="2137363" cy="1229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0" name="TextBox 15">
            <a:extLst>
              <a:ext uri="{FF2B5EF4-FFF2-40B4-BE49-F238E27FC236}">
                <a16:creationId xmlns:a16="http://schemas.microsoft.com/office/drawing/2014/main" id="{5110D507-732A-B78D-3546-D3F03C0266C3}"/>
              </a:ext>
            </a:extLst>
          </p:cNvPr>
          <p:cNvSpPr txBox="1"/>
          <p:nvPr/>
        </p:nvSpPr>
        <p:spPr>
          <a:xfrm>
            <a:off x="843506" y="1850216"/>
            <a:ext cx="3936838" cy="41133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GB" sz="2400" b="1"/>
              <a:t>Component Dependencies</a:t>
            </a:r>
            <a:endParaRPr lang="en-US" sz="2400" b="1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4C96610A-1FA4-3512-5C08-46EDA2D4665A}"/>
              </a:ext>
            </a:extLst>
          </p:cNvPr>
          <p:cNvSpPr txBox="1"/>
          <p:nvPr/>
        </p:nvSpPr>
        <p:spPr>
          <a:xfrm>
            <a:off x="1077516" y="3130503"/>
            <a:ext cx="4537775" cy="1958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IoT Layer:</a:t>
            </a:r>
            <a:r>
              <a:rPr lang="en-GB" sz="1600"/>
              <a:t> ESP32, NPK, pH, Moisture, DHT11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ML Model:</a:t>
            </a:r>
            <a:r>
              <a:rPr lang="en-GB" sz="1600"/>
              <a:t> Python, Scikit-learn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Explainable AI:</a:t>
            </a:r>
            <a:r>
              <a:rPr lang="en-GB" sz="1600"/>
              <a:t> SHAP Library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Recommendation System:</a:t>
            </a:r>
            <a:r>
              <a:rPr lang="en-GB" sz="1600"/>
              <a:t> </a:t>
            </a:r>
            <a:r>
              <a:rPr lang="en-GB" sz="1600" err="1"/>
              <a:t>LangChain</a:t>
            </a:r>
            <a:r>
              <a:rPr lang="en-GB" sz="1600"/>
              <a:t>, </a:t>
            </a:r>
            <a:r>
              <a:rPr lang="en-GB" sz="1600" err="1"/>
              <a:t>ChromaDB</a:t>
            </a:r>
            <a:r>
              <a:rPr lang="en-GB" sz="1600"/>
              <a:t>, LLM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Database:</a:t>
            </a:r>
            <a:r>
              <a:rPr lang="en-GB" sz="1600"/>
              <a:t> Firebase</a:t>
            </a:r>
          </a:p>
          <a:p>
            <a:pPr marL="285750" indent="-285750">
              <a:lnSpc>
                <a:spcPts val="22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b="1"/>
              <a:t>Farmer Dashboard:</a:t>
            </a:r>
            <a:r>
              <a:rPr lang="en-GB" sz="1600"/>
              <a:t> Flutter Mobile App</a:t>
            </a:r>
            <a:endParaRPr lang="en-US" sz="1600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C997D-0EDB-707C-58D5-15D9E3888E54}"/>
              </a:ext>
            </a:extLst>
          </p:cNvPr>
          <p:cNvSpPr txBox="1"/>
          <p:nvPr/>
        </p:nvSpPr>
        <p:spPr>
          <a:xfrm>
            <a:off x="557310" y="297168"/>
            <a:ext cx="3994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/>
              <a:t>IoT-Based Smart Soil Health Assessment System for Tomato Cultivation</a:t>
            </a:r>
            <a:endParaRPr lang="en-GB" sz="2000" b="1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9531CE-159D-3F6E-6851-962D43DEE75A}"/>
              </a:ext>
            </a:extLst>
          </p:cNvPr>
          <p:cNvGrpSpPr/>
          <p:nvPr/>
        </p:nvGrpSpPr>
        <p:grpSpPr>
          <a:xfrm>
            <a:off x="736048" y="1551741"/>
            <a:ext cx="5689829" cy="4667065"/>
            <a:chOff x="0" y="-47625"/>
            <a:chExt cx="2137363" cy="122918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3EF50EF-1802-386D-D08B-8B316C217D4C}"/>
                </a:ext>
              </a:extLst>
            </p:cNvPr>
            <p:cNvSpPr/>
            <p:nvPr/>
          </p:nvSpPr>
          <p:spPr>
            <a:xfrm>
              <a:off x="0" y="0"/>
              <a:ext cx="2137363" cy="1181561"/>
            </a:xfrm>
            <a:custGeom>
              <a:avLst/>
              <a:gdLst/>
              <a:ahLst/>
              <a:cxnLst/>
              <a:rect l="l" t="t" r="r" b="b"/>
              <a:pathLst>
                <a:path w="2137363" h="1181561">
                  <a:moveTo>
                    <a:pt x="0" y="0"/>
                  </a:moveTo>
                  <a:lnTo>
                    <a:pt x="2137363" y="0"/>
                  </a:lnTo>
                  <a:lnTo>
                    <a:pt x="2137363" y="1181561"/>
                  </a:lnTo>
                  <a:lnTo>
                    <a:pt x="0" y="1181561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D6E31259-93BB-1222-A2B5-0E5933D5FC7B}"/>
                </a:ext>
              </a:extLst>
            </p:cNvPr>
            <p:cNvSpPr txBox="1"/>
            <p:nvPr/>
          </p:nvSpPr>
          <p:spPr>
            <a:xfrm>
              <a:off x="0" y="-47625"/>
              <a:ext cx="2137363" cy="1229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2" name="TextBox 15">
            <a:extLst>
              <a:ext uri="{FF2B5EF4-FFF2-40B4-BE49-F238E27FC236}">
                <a16:creationId xmlns:a16="http://schemas.microsoft.com/office/drawing/2014/main" id="{92D23BB1-BF89-850F-48EE-A03BE0BEEE7C}"/>
              </a:ext>
            </a:extLst>
          </p:cNvPr>
          <p:cNvSpPr txBox="1"/>
          <p:nvPr/>
        </p:nvSpPr>
        <p:spPr>
          <a:xfrm>
            <a:off x="6751764" y="157365"/>
            <a:ext cx="3936838" cy="41133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GB" sz="2400" b="1"/>
              <a:t>Component Dependencies</a:t>
            </a:r>
            <a:endParaRPr lang="en-US" sz="2400" b="1">
              <a:solidFill>
                <a:srgbClr val="2C4622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30" name="Picture 29" descr="A diagram of a system workflow&#10;&#10;AI-generated content may be incorrect.">
            <a:extLst>
              <a:ext uri="{FF2B5EF4-FFF2-40B4-BE49-F238E27FC236}">
                <a16:creationId xmlns:a16="http://schemas.microsoft.com/office/drawing/2014/main" id="{64A981F0-2E06-62EA-57CE-85566915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541" y="1048624"/>
            <a:ext cx="4276365" cy="456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6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C9452-651F-CB37-75CF-F25D45D88F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783" y="6356350"/>
            <a:ext cx="91108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4D7B118-E577-5144-933D-79401630E0F9}" type="datetime1">
              <a:rPr lang="en-US" smtClean="0"/>
              <a:pPr>
                <a:spcAft>
                  <a:spcPts val="600"/>
                </a:spcAft>
              </a:pPr>
              <a:t>8/2/2026</a:t>
            </a:fld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66C89-52AC-604E-6DAA-BEEA79F8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361" y="6356350"/>
            <a:ext cx="40087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9319F46-185A-A649-83B1-01A4802BC987}" type="slidenum">
              <a:rPr lang="en-LK" smtClean="0"/>
              <a:pPr>
                <a:spcAft>
                  <a:spcPts val="600"/>
                </a:spcAft>
              </a:pPr>
              <a:t>13</a:t>
            </a:fld>
            <a:endParaRPr lang="en-L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64860-3BE3-6C61-7A72-D7BF8520DAED}"/>
              </a:ext>
            </a:extLst>
          </p:cNvPr>
          <p:cNvSpPr txBox="1"/>
          <p:nvPr/>
        </p:nvSpPr>
        <p:spPr>
          <a:xfrm>
            <a:off x="2229912" y="205079"/>
            <a:ext cx="913007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3600" b="1" i="1"/>
              <a:t>AI Based Tomato Leaf Disease Detection with Explainable AI</a:t>
            </a:r>
            <a:endParaRPr lang="en-US"/>
          </a:p>
          <a:p>
            <a:endParaRPr lang="en-GB" sz="4000" b="1" i="1"/>
          </a:p>
        </p:txBody>
      </p:sp>
      <p:sp>
        <p:nvSpPr>
          <p:cNvPr id="18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41E9A0CB-87CC-EFFE-D9A3-2983D926AB1A}"/>
              </a:ext>
            </a:extLst>
          </p:cNvPr>
          <p:cNvSpPr/>
          <p:nvPr/>
        </p:nvSpPr>
        <p:spPr>
          <a:xfrm>
            <a:off x="10444228" y="4916507"/>
            <a:ext cx="3977625" cy="2888028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4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CC04894E-3F8C-277A-52BC-FA3383DE0C03}"/>
              </a:ext>
            </a:extLst>
          </p:cNvPr>
          <p:cNvSpPr/>
          <p:nvPr/>
        </p:nvSpPr>
        <p:spPr>
          <a:xfrm rot="5940000">
            <a:off x="-761972" y="4234616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22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D5FED632-4850-E38D-4D72-C3FEF147A1B1}"/>
              </a:ext>
            </a:extLst>
          </p:cNvPr>
          <p:cNvSpPr/>
          <p:nvPr/>
        </p:nvSpPr>
        <p:spPr>
          <a:xfrm rot="180000">
            <a:off x="10765256" y="-1620516"/>
            <a:ext cx="2854021" cy="3639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pic>
        <p:nvPicPr>
          <p:cNvPr id="2" name="Picture 1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20B8E65-B353-C6AA-81DF-CC09AC4C9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94" y="201283"/>
            <a:ext cx="2035700" cy="2113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FAC5B1-8569-6AA6-FC05-F0C98631E3AC}"/>
              </a:ext>
            </a:extLst>
          </p:cNvPr>
          <p:cNvSpPr txBox="1"/>
          <p:nvPr/>
        </p:nvSpPr>
        <p:spPr>
          <a:xfrm>
            <a:off x="2578793" y="1584511"/>
            <a:ext cx="67756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Contribution to the overall Solution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F2350-8C7C-FA32-A532-EEDE9C2E2F72}"/>
              </a:ext>
            </a:extLst>
          </p:cNvPr>
          <p:cNvSpPr txBox="1"/>
          <p:nvPr/>
        </p:nvSpPr>
        <p:spPr>
          <a:xfrm>
            <a:off x="2909472" y="2217699"/>
            <a:ext cx="814908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latin typeface="Aptos SemiBold"/>
              </a:rPr>
              <a:t>AI-based disease detection and diagnosis module for tomato leaves that identifies diseases from leaf images and provides treatment guidance for farmers.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C6990-3746-B2D5-C3F6-53A0086B6E96}"/>
              </a:ext>
            </a:extLst>
          </p:cNvPr>
          <p:cNvSpPr txBox="1"/>
          <p:nvPr/>
        </p:nvSpPr>
        <p:spPr>
          <a:xfrm>
            <a:off x="2578793" y="3429193"/>
            <a:ext cx="67756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Novelty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1C2ED-097D-9243-C612-449D0BCD6206}"/>
              </a:ext>
            </a:extLst>
          </p:cNvPr>
          <p:cNvSpPr txBox="1"/>
          <p:nvPr/>
        </p:nvSpPr>
        <p:spPr>
          <a:xfrm>
            <a:off x="2909472" y="4105537"/>
            <a:ext cx="814908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latin typeface="Aptos SemiBold"/>
              </a:rPr>
              <a:t>CNN-based tomato disease detection system that improves disease identification and explores the potential disease co-occurrence, integrated with Grad-CAM explainability and </a:t>
            </a:r>
            <a:r>
              <a:rPr lang="en-US" sz="2000" b="1" err="1">
                <a:latin typeface="Aptos SemiBold"/>
              </a:rPr>
              <a:t>DoA</a:t>
            </a:r>
            <a:r>
              <a:rPr lang="en-US" sz="2000" b="1">
                <a:latin typeface="Aptos SemiBold"/>
              </a:rPr>
              <a:t> advisory knowledge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843B8-CEDC-2B54-099F-BB0F421624DD}"/>
              </a:ext>
            </a:extLst>
          </p:cNvPr>
          <p:cNvSpPr txBox="1"/>
          <p:nvPr/>
        </p:nvSpPr>
        <p:spPr>
          <a:xfrm>
            <a:off x="154459" y="2584621"/>
            <a:ext cx="20903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IT22190734</a:t>
            </a:r>
            <a:br>
              <a:rPr lang="en-US" b="1"/>
            </a:br>
            <a:r>
              <a:rPr lang="en-US" b="1"/>
              <a:t>FARTHAS A L M</a:t>
            </a:r>
          </a:p>
        </p:txBody>
      </p:sp>
    </p:spTree>
    <p:extLst>
      <p:ext uri="{BB962C8B-B14F-4D97-AF65-F5344CB8AC3E}">
        <p14:creationId xmlns:p14="http://schemas.microsoft.com/office/powerpoint/2010/main" val="2313500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AA37-0FD9-3947-989D-9DCE0CCA9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05396-9309-3BCF-16D9-C13A469D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14</a:t>
            </a:fld>
            <a:endParaRPr lang="en-L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11730-C9F3-B2AB-B8DC-56AAAAF2A73C}"/>
              </a:ext>
            </a:extLst>
          </p:cNvPr>
          <p:cNvSpPr txBox="1"/>
          <p:nvPr/>
        </p:nvSpPr>
        <p:spPr>
          <a:xfrm>
            <a:off x="1529696" y="115836"/>
            <a:ext cx="913007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3600" b="1" i="1"/>
              <a:t>AI Based Tomato Leaf Disease Detection with Explainable AI</a:t>
            </a:r>
            <a:endParaRPr lang="en-US"/>
          </a:p>
          <a:p>
            <a:endParaRPr lang="en-GB" sz="4000" b="1" i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4D3395-10C4-7F08-4304-9C5C0579980F}"/>
              </a:ext>
            </a:extLst>
          </p:cNvPr>
          <p:cNvSpPr txBox="1"/>
          <p:nvPr/>
        </p:nvSpPr>
        <p:spPr>
          <a:xfrm>
            <a:off x="1398683" y="1399071"/>
            <a:ext cx="104439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Problem Definition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CE4C6-4407-9E20-E84C-86279A99D0B7}"/>
              </a:ext>
            </a:extLst>
          </p:cNvPr>
          <p:cNvSpPr txBox="1"/>
          <p:nvPr/>
        </p:nvSpPr>
        <p:spPr>
          <a:xfrm>
            <a:off x="1513701" y="1801636"/>
            <a:ext cx="815798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latin typeface="Aptos SemiBold"/>
              </a:rPr>
              <a:t>Early detection of major tomato diseases remains difficult for Sri Lankan farmers.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 SemiBold"/>
              </a:rPr>
              <a:t>Disease symptoms may co-occur on a single leaf, making identification challenging.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 SemiBold"/>
              </a:rPr>
              <a:t>Many AI models do not clearly explain their predictions.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 SemiBold"/>
              </a:rPr>
              <a:t>Farmers lack accessible diagnosis and treatment guidance aligned with the Sri Lankan Department of Agriculture (</a:t>
            </a:r>
            <a:r>
              <a:rPr lang="en-US" b="1" err="1">
                <a:latin typeface="Aptos SemiBold"/>
              </a:rPr>
              <a:t>DoA</a:t>
            </a:r>
            <a:r>
              <a:rPr lang="en-US" b="1">
                <a:latin typeface="Aptos SemiBold"/>
              </a:rPr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E7CDF-AFB1-4959-79A0-9DBDB308637B}"/>
              </a:ext>
            </a:extLst>
          </p:cNvPr>
          <p:cNvSpPr txBox="1"/>
          <p:nvPr/>
        </p:nvSpPr>
        <p:spPr>
          <a:xfrm>
            <a:off x="1484947" y="3900731"/>
            <a:ext cx="104439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Objectives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22295-FB05-75B1-1ABC-6122F93B1A7E}"/>
              </a:ext>
            </a:extLst>
          </p:cNvPr>
          <p:cNvSpPr txBox="1"/>
          <p:nvPr/>
        </p:nvSpPr>
        <p:spPr>
          <a:xfrm>
            <a:off x="1643097" y="4303296"/>
            <a:ext cx="752538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 SemiBold"/>
                <a:ea typeface="+mn-lt"/>
                <a:cs typeface="+mn-lt"/>
              </a:rPr>
              <a:t>Develop an </a:t>
            </a:r>
            <a:r>
              <a:rPr lang="en-US" b="1">
                <a:latin typeface="Aptos SemiBold"/>
                <a:ea typeface="+mn-lt"/>
                <a:cs typeface="+mn-lt"/>
              </a:rPr>
              <a:t>AI-based system to detect tomato leaf diseases and provide explainable diagnosis with </a:t>
            </a:r>
            <a:r>
              <a:rPr lang="en-US" b="1" err="1">
                <a:latin typeface="Aptos SemiBold"/>
                <a:ea typeface="+mn-lt"/>
                <a:cs typeface="+mn-lt"/>
              </a:rPr>
              <a:t>DoA</a:t>
            </a:r>
            <a:r>
              <a:rPr lang="en-US" b="1">
                <a:latin typeface="Aptos SemiBold"/>
                <a:ea typeface="+mn-lt"/>
                <a:cs typeface="+mn-lt"/>
              </a:rPr>
              <a:t>-aligned treatment guidance through a mobile application</a:t>
            </a:r>
            <a:r>
              <a:rPr lang="en-US">
                <a:latin typeface="Aptos SemiBold"/>
                <a:ea typeface="+mn-lt"/>
                <a:cs typeface="+mn-lt"/>
              </a:rPr>
              <a:t>.</a:t>
            </a:r>
            <a:endParaRPr lang="en-US">
              <a:latin typeface="Aptos SemiBold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Investigate CNN architectures for tomato disease detection.</a:t>
            </a:r>
            <a:endParaRPr lang="en-US">
              <a:latin typeface="Aptos SemiBold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Evaluate </a:t>
            </a:r>
            <a:r>
              <a:rPr lang="en-US" b="1">
                <a:latin typeface="Aptos SemiBold"/>
                <a:ea typeface="+mn-lt"/>
                <a:cs typeface="+mn-lt"/>
              </a:rPr>
              <a:t>multi-class and parallel classifier approaches</a:t>
            </a:r>
            <a:r>
              <a:rPr lang="en-US">
                <a:latin typeface="Aptos SemiBold"/>
                <a:ea typeface="+mn-lt"/>
                <a:cs typeface="+mn-lt"/>
              </a:rPr>
              <a:t>.</a:t>
            </a:r>
            <a:endParaRPr lang="en-US">
              <a:latin typeface="Aptos SemiBold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Integrate </a:t>
            </a:r>
            <a:r>
              <a:rPr lang="en-US" b="1">
                <a:latin typeface="Aptos SemiBold"/>
                <a:ea typeface="+mn-lt"/>
                <a:cs typeface="+mn-lt"/>
              </a:rPr>
              <a:t>Grad-CAM explainable AI for visual interpretation and </a:t>
            </a:r>
            <a:r>
              <a:rPr lang="en-US" b="1" err="1">
                <a:latin typeface="Aptos SemiBold"/>
                <a:ea typeface="+mn-lt"/>
                <a:cs typeface="+mn-lt"/>
              </a:rPr>
              <a:t>DoA</a:t>
            </a:r>
            <a:r>
              <a:rPr lang="en-US" b="1">
                <a:latin typeface="Aptos SemiBold"/>
                <a:ea typeface="+mn-lt"/>
                <a:cs typeface="+mn-lt"/>
              </a:rPr>
              <a:t>-aligned treatment guidance</a:t>
            </a:r>
            <a:r>
              <a:rPr lang="en-US">
                <a:latin typeface="Aptos SemiBold"/>
                <a:ea typeface="+mn-lt"/>
                <a:cs typeface="+mn-lt"/>
              </a:rPr>
              <a:t>.</a:t>
            </a:r>
            <a:endParaRPr lang="en-US">
              <a:latin typeface="Aptos SemiBold"/>
            </a:endParaRPr>
          </a:p>
          <a:p>
            <a:endParaRPr lang="en-US" b="1">
              <a:latin typeface="Aptos SemiBold"/>
            </a:endParaRPr>
          </a:p>
        </p:txBody>
      </p:sp>
      <p:sp>
        <p:nvSpPr>
          <p:cNvPr id="10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35C1CB2A-6533-00A1-686E-6B32C56B86E1}"/>
              </a:ext>
            </a:extLst>
          </p:cNvPr>
          <p:cNvSpPr/>
          <p:nvPr/>
        </p:nvSpPr>
        <p:spPr>
          <a:xfrm>
            <a:off x="10444228" y="4916507"/>
            <a:ext cx="3977625" cy="2888028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2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F9E9492F-78BB-6596-8CF1-66F988767AAF}"/>
              </a:ext>
            </a:extLst>
          </p:cNvPr>
          <p:cNvSpPr/>
          <p:nvPr/>
        </p:nvSpPr>
        <p:spPr>
          <a:xfrm rot="12675367">
            <a:off x="109867" y="2394832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4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14B02E1F-11B9-223C-784E-6AE47D4EABD7}"/>
              </a:ext>
            </a:extLst>
          </p:cNvPr>
          <p:cNvSpPr/>
          <p:nvPr/>
        </p:nvSpPr>
        <p:spPr>
          <a:xfrm rot="180000">
            <a:off x="10765256" y="-1620516"/>
            <a:ext cx="2854021" cy="3639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69048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A63E3-BDD0-9213-9558-57D03078C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40730-5C8D-181D-4E4F-927E31F8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15</a:t>
            </a:fld>
            <a:endParaRPr lang="en-L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B55F9-C2B3-A6CE-CE89-08B45272867B}"/>
              </a:ext>
            </a:extLst>
          </p:cNvPr>
          <p:cNvSpPr txBox="1"/>
          <p:nvPr/>
        </p:nvSpPr>
        <p:spPr>
          <a:xfrm>
            <a:off x="1529696" y="115836"/>
            <a:ext cx="913007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3600" b="1" i="1"/>
              <a:t>AI Based Tomato Leaf Disease Detection with Explainable AI</a:t>
            </a:r>
            <a:endParaRPr lang="en-US"/>
          </a:p>
          <a:p>
            <a:endParaRPr lang="en-GB" sz="4000" b="1" i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8FD2B-3B6C-2FCD-C7EA-DBB1CFAC7668}"/>
              </a:ext>
            </a:extLst>
          </p:cNvPr>
          <p:cNvSpPr txBox="1"/>
          <p:nvPr/>
        </p:nvSpPr>
        <p:spPr>
          <a:xfrm>
            <a:off x="1398683" y="1399071"/>
            <a:ext cx="1044398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Application of Domain Knowledge</a:t>
            </a:r>
            <a:endParaRPr lang="en-US" sz="24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E1BC2-0179-B2C6-26CA-D921DA93A3C8}"/>
              </a:ext>
            </a:extLst>
          </p:cNvPr>
          <p:cNvSpPr txBox="1"/>
          <p:nvPr/>
        </p:nvSpPr>
        <p:spPr>
          <a:xfrm>
            <a:off x="1644133" y="2196561"/>
            <a:ext cx="880496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CNN Models →</a:t>
            </a:r>
            <a:r>
              <a:rPr lang="en-US">
                <a:ea typeface="+mn-lt"/>
                <a:cs typeface="+mn-lt"/>
              </a:rPr>
              <a:t> Disease detection (e.g., MobileNetV2, </a:t>
            </a:r>
            <a:r>
              <a:rPr lang="en-US" err="1">
                <a:ea typeface="+mn-lt"/>
                <a:cs typeface="+mn-lt"/>
              </a:rPr>
              <a:t>ResNet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EfficientNet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Grad-CAM →</a:t>
            </a:r>
            <a:r>
              <a:rPr lang="en-US">
                <a:ea typeface="+mn-lt"/>
                <a:cs typeface="+mn-lt"/>
              </a:rPr>
              <a:t> Visual explanation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DoA</a:t>
            </a:r>
            <a:r>
              <a:rPr lang="en-US" b="1">
                <a:ea typeface="+mn-lt"/>
                <a:cs typeface="+mn-lt"/>
              </a:rPr>
              <a:t> Knowledge →</a:t>
            </a:r>
            <a:r>
              <a:rPr lang="en-US">
                <a:ea typeface="+mn-lt"/>
                <a:cs typeface="+mn-lt"/>
              </a:rPr>
              <a:t> Verified treatment guidance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LLM →</a:t>
            </a:r>
            <a:r>
              <a:rPr lang="en-US">
                <a:ea typeface="+mn-lt"/>
                <a:cs typeface="+mn-lt"/>
              </a:rPr>
              <a:t> Farmer-friendly explanation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Mobile App →</a:t>
            </a:r>
            <a:r>
              <a:rPr lang="en-US">
                <a:ea typeface="+mn-lt"/>
                <a:cs typeface="+mn-lt"/>
              </a:rPr>
              <a:t> Farmer access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 b="1">
              <a:latin typeface="Aptos Semi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82E54-F150-8E04-FD40-6492FED12537}"/>
              </a:ext>
            </a:extLst>
          </p:cNvPr>
          <p:cNvSpPr txBox="1"/>
          <p:nvPr/>
        </p:nvSpPr>
        <p:spPr>
          <a:xfrm>
            <a:off x="1645818" y="1810963"/>
            <a:ext cx="104439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Knowledge Domain Contribution</a:t>
            </a:r>
            <a:endParaRPr lang="en-US" sz="2000" b="1"/>
          </a:p>
        </p:txBody>
      </p:sp>
      <p:sp>
        <p:nvSpPr>
          <p:cNvPr id="3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B0E3798D-845C-F12A-5100-22780FB2557D}"/>
              </a:ext>
            </a:extLst>
          </p:cNvPr>
          <p:cNvSpPr/>
          <p:nvPr/>
        </p:nvSpPr>
        <p:spPr>
          <a:xfrm>
            <a:off x="10444228" y="4916507"/>
            <a:ext cx="3977625" cy="2888028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8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6CBDCE62-A658-DAC1-18CA-4E1CD5D8A64C}"/>
              </a:ext>
            </a:extLst>
          </p:cNvPr>
          <p:cNvSpPr/>
          <p:nvPr/>
        </p:nvSpPr>
        <p:spPr>
          <a:xfrm rot="12675367">
            <a:off x="109867" y="2394832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2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B29F8E0F-CE60-912F-B0EC-74932CA30666}"/>
              </a:ext>
            </a:extLst>
          </p:cNvPr>
          <p:cNvSpPr/>
          <p:nvPr/>
        </p:nvSpPr>
        <p:spPr>
          <a:xfrm rot="180000">
            <a:off x="10765256" y="-1620516"/>
            <a:ext cx="2854021" cy="3639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835801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D38DB-7A34-EFDC-050F-F00A7598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7EF71-3B8D-4020-8AAA-C21A1084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16</a:t>
            </a:fld>
            <a:endParaRPr lang="en-L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80811-6B64-3C77-A7D3-F0334DCCF6AE}"/>
              </a:ext>
            </a:extLst>
          </p:cNvPr>
          <p:cNvSpPr txBox="1"/>
          <p:nvPr/>
        </p:nvSpPr>
        <p:spPr>
          <a:xfrm>
            <a:off x="1529696" y="115836"/>
            <a:ext cx="913007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3600" b="1" i="1"/>
              <a:t>AI Based Tomato Leaf Disease Detection with Explainable AI</a:t>
            </a:r>
            <a:endParaRPr lang="en-US"/>
          </a:p>
          <a:p>
            <a:endParaRPr lang="en-GB" sz="4000" b="1" i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6FB7EB-2ABE-14DD-1135-E3CC3EC22D3C}"/>
              </a:ext>
            </a:extLst>
          </p:cNvPr>
          <p:cNvSpPr txBox="1"/>
          <p:nvPr/>
        </p:nvSpPr>
        <p:spPr>
          <a:xfrm>
            <a:off x="1644133" y="1873912"/>
            <a:ext cx="880496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CNN-based image classification models (TensorFlow / </a:t>
            </a:r>
            <a:r>
              <a:rPr lang="en-US" err="1">
                <a:latin typeface="Aptos SemiBold"/>
                <a:ea typeface="+mn-lt"/>
                <a:cs typeface="+mn-lt"/>
              </a:rPr>
              <a:t>PyTorch</a:t>
            </a:r>
            <a:r>
              <a:rPr lang="en-US">
                <a:latin typeface="Aptos SemiBold"/>
                <a:ea typeface="+mn-lt"/>
                <a:cs typeface="+mn-lt"/>
              </a:rPr>
              <a:t>).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Grad-CAM for explainable AI visualization.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LLM for generating </a:t>
            </a:r>
            <a:r>
              <a:rPr lang="en-US" b="1">
                <a:latin typeface="Aptos SemiBold"/>
                <a:ea typeface="+mn-lt"/>
                <a:cs typeface="+mn-lt"/>
              </a:rPr>
              <a:t>farmer-friendly explanations of diagnosis and treatments</a:t>
            </a:r>
            <a:r>
              <a:rPr lang="en-US">
                <a:latin typeface="Aptos SemiBold"/>
                <a:ea typeface="+mn-lt"/>
                <a:cs typeface="+mn-lt"/>
              </a:rPr>
              <a:t>.</a:t>
            </a:r>
            <a:br>
              <a:rPr lang="en-US">
                <a:latin typeface="Aptos SemiBold"/>
                <a:ea typeface="+mn-lt"/>
                <a:cs typeface="+mn-lt"/>
              </a:rPr>
            </a:br>
            <a:r>
              <a:rPr lang="en-US">
                <a:latin typeface="Aptos SemiBold"/>
                <a:ea typeface="+mn-lt"/>
                <a:cs typeface="+mn-lt"/>
              </a:rPr>
              <a:t>React Native mobile application and Node.js backend.</a:t>
            </a:r>
            <a:endParaRPr lang="en-US">
              <a:latin typeface="Aptos Semi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C2CA7-00CE-CF1D-48C5-24A7E22DC35C}"/>
              </a:ext>
            </a:extLst>
          </p:cNvPr>
          <p:cNvSpPr txBox="1"/>
          <p:nvPr/>
        </p:nvSpPr>
        <p:spPr>
          <a:xfrm>
            <a:off x="1484947" y="3165801"/>
            <a:ext cx="104439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Validation and Evaluation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45328-9102-084B-3F40-80915D4E2B7E}"/>
              </a:ext>
            </a:extLst>
          </p:cNvPr>
          <p:cNvSpPr txBox="1"/>
          <p:nvPr/>
        </p:nvSpPr>
        <p:spPr>
          <a:xfrm>
            <a:off x="1643097" y="3547772"/>
            <a:ext cx="97839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Evaluate performance using </a:t>
            </a:r>
            <a:r>
              <a:rPr lang="en-US" b="1">
                <a:latin typeface="Aptos SemiBold"/>
                <a:ea typeface="+mn-lt"/>
                <a:cs typeface="+mn-lt"/>
              </a:rPr>
              <a:t>Accuracy, Precision, Recall, and F1-score</a:t>
            </a:r>
            <a:r>
              <a:rPr lang="en-US">
                <a:latin typeface="Aptos SemiBold"/>
                <a:ea typeface="+mn-lt"/>
                <a:cs typeface="+mn-lt"/>
              </a:rPr>
              <a:t>.</a:t>
            </a:r>
            <a:endParaRPr lang="en-US">
              <a:latin typeface="Aptos SemiBold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Compare </a:t>
            </a:r>
            <a:r>
              <a:rPr lang="en-US" b="1">
                <a:latin typeface="Aptos SemiBold"/>
                <a:ea typeface="+mn-lt"/>
                <a:cs typeface="+mn-lt"/>
              </a:rPr>
              <a:t>multi-class CNN vs parallel binary classifiers</a:t>
            </a:r>
            <a:r>
              <a:rPr lang="en-US">
                <a:latin typeface="Aptos SemiBold"/>
                <a:ea typeface="+mn-lt"/>
                <a:cs typeface="+mn-lt"/>
              </a:rPr>
              <a:t> to identify the best approach.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Validate system predictions using </a:t>
            </a:r>
            <a:r>
              <a:rPr lang="en-US" b="1">
                <a:latin typeface="Aptos SemiBold"/>
                <a:ea typeface="+mn-lt"/>
                <a:cs typeface="+mn-lt"/>
              </a:rPr>
              <a:t>real tomato leaf images and </a:t>
            </a:r>
            <a:r>
              <a:rPr lang="en-US" b="1" err="1">
                <a:latin typeface="Aptos SemiBold"/>
                <a:ea typeface="+mn-lt"/>
                <a:cs typeface="+mn-lt"/>
              </a:rPr>
              <a:t>DoA</a:t>
            </a:r>
            <a:r>
              <a:rPr lang="en-US" b="1">
                <a:latin typeface="Aptos SemiBold"/>
                <a:ea typeface="+mn-lt"/>
                <a:cs typeface="+mn-lt"/>
              </a:rPr>
              <a:t> treatment guidance</a:t>
            </a:r>
            <a:r>
              <a:rPr lang="en-US">
                <a:latin typeface="Aptos SemiBold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ptos Semi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656351-2ABB-6CCA-FEC4-9C58AEF37763}"/>
              </a:ext>
            </a:extLst>
          </p:cNvPr>
          <p:cNvSpPr txBox="1"/>
          <p:nvPr/>
        </p:nvSpPr>
        <p:spPr>
          <a:xfrm>
            <a:off x="1645818" y="1488314"/>
            <a:ext cx="104439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Technology used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67DA9-9853-7BD9-FE49-EAC39090C6AC}"/>
              </a:ext>
            </a:extLst>
          </p:cNvPr>
          <p:cNvSpPr txBox="1"/>
          <p:nvPr/>
        </p:nvSpPr>
        <p:spPr>
          <a:xfrm>
            <a:off x="1484947" y="4538774"/>
            <a:ext cx="104439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Data Availability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5440AF-0776-E723-2EE8-96D86BD31A64}"/>
              </a:ext>
            </a:extLst>
          </p:cNvPr>
          <p:cNvSpPr txBox="1"/>
          <p:nvPr/>
        </p:nvSpPr>
        <p:spPr>
          <a:xfrm>
            <a:off x="1643097" y="4920745"/>
            <a:ext cx="97839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Public tomato leaf disease datasets (e.g., </a:t>
            </a:r>
            <a:r>
              <a:rPr lang="en-US" b="1" err="1">
                <a:latin typeface="Aptos SemiBold"/>
                <a:ea typeface="+mn-lt"/>
                <a:cs typeface="+mn-lt"/>
              </a:rPr>
              <a:t>PlantVillage</a:t>
            </a:r>
            <a:r>
              <a:rPr lang="en-US" b="1">
                <a:latin typeface="Aptos SemiBold"/>
                <a:ea typeface="+mn-lt"/>
                <a:cs typeface="+mn-lt"/>
              </a:rPr>
              <a:t> / Kaggle</a:t>
            </a:r>
            <a:r>
              <a:rPr lang="en-US">
                <a:latin typeface="Aptos SemiBold"/>
                <a:ea typeface="+mn-lt"/>
                <a:cs typeface="+mn-lt"/>
              </a:rPr>
              <a:t>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 SemiBold"/>
                <a:ea typeface="+mn-lt"/>
                <a:cs typeface="+mn-lt"/>
              </a:rPr>
              <a:t>Disease diagnosis and treatment guidelines collected from </a:t>
            </a:r>
            <a:r>
              <a:rPr lang="en-US" b="1">
                <a:latin typeface="Aptos SemiBold"/>
                <a:ea typeface="+mn-lt"/>
                <a:cs typeface="+mn-lt"/>
              </a:rPr>
              <a:t>Sri Lankan Department of Agriculture (</a:t>
            </a:r>
            <a:r>
              <a:rPr lang="en-US" b="1" err="1">
                <a:latin typeface="Aptos SemiBold"/>
                <a:ea typeface="+mn-lt"/>
                <a:cs typeface="+mn-lt"/>
              </a:rPr>
              <a:t>DoA</a:t>
            </a:r>
            <a:r>
              <a:rPr lang="en-US" b="1">
                <a:latin typeface="Aptos SemiBold"/>
                <a:ea typeface="+mn-lt"/>
                <a:cs typeface="+mn-lt"/>
              </a:rPr>
              <a:t>)</a:t>
            </a:r>
            <a:r>
              <a:rPr lang="en-US">
                <a:latin typeface="Aptos SemiBold"/>
                <a:ea typeface="+mn-lt"/>
                <a:cs typeface="+mn-lt"/>
              </a:rPr>
              <a:t> resources.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Aptos SemiBold"/>
            </a:endParaRPr>
          </a:p>
        </p:txBody>
      </p:sp>
      <p:sp>
        <p:nvSpPr>
          <p:cNvPr id="3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0B2B9C1A-30C1-7A13-EC10-B970B62D16DE}"/>
              </a:ext>
            </a:extLst>
          </p:cNvPr>
          <p:cNvSpPr/>
          <p:nvPr/>
        </p:nvSpPr>
        <p:spPr>
          <a:xfrm>
            <a:off x="10444228" y="4916507"/>
            <a:ext cx="3977625" cy="2888028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8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43A23B2F-6948-FF3D-0F43-D115B5EBEEF2}"/>
              </a:ext>
            </a:extLst>
          </p:cNvPr>
          <p:cNvSpPr/>
          <p:nvPr/>
        </p:nvSpPr>
        <p:spPr>
          <a:xfrm rot="12675367">
            <a:off x="109867" y="2394832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0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4ACF602E-F408-CC33-5EDD-0D8BD5734B65}"/>
              </a:ext>
            </a:extLst>
          </p:cNvPr>
          <p:cNvSpPr/>
          <p:nvPr/>
        </p:nvSpPr>
        <p:spPr>
          <a:xfrm rot="180000">
            <a:off x="10765256" y="-1620516"/>
            <a:ext cx="2854021" cy="3639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84379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9284-6027-B0ED-EE4D-50B5DE7FB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B118-E577-5144-933D-79401630E0F9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1EFAD-7CE4-6D4C-EF7F-8AE53608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19F46-185A-A649-83B1-01A4802BC987}" type="slidenum">
              <a:rPr lang="en-LK" smtClean="0"/>
              <a:t>17</a:t>
            </a:fld>
            <a:endParaRPr lang="en-L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5E4F28-678E-43F5-6E4D-2AF81C79CFD5}"/>
              </a:ext>
            </a:extLst>
          </p:cNvPr>
          <p:cNvSpPr txBox="1"/>
          <p:nvPr/>
        </p:nvSpPr>
        <p:spPr>
          <a:xfrm>
            <a:off x="1529696" y="115836"/>
            <a:ext cx="913007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3600" b="1" i="1"/>
              <a:t>AI Based Tomato Leaf Disease Detection with Explainable AI</a:t>
            </a:r>
            <a:endParaRPr lang="en-US"/>
          </a:p>
          <a:p>
            <a:endParaRPr lang="en-GB" sz="4000" b="1" i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F175E-31ED-C46C-4FC9-02EC9283A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610" y="1325189"/>
            <a:ext cx="8998802" cy="4753219"/>
          </a:xfrm>
          <a:prstGeom prst="rect">
            <a:avLst/>
          </a:prstGeom>
        </p:spPr>
      </p:pic>
      <p:sp>
        <p:nvSpPr>
          <p:cNvPr id="3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E5F4B0D0-82A7-307D-E86C-01ABCBAAEB5B}"/>
              </a:ext>
            </a:extLst>
          </p:cNvPr>
          <p:cNvSpPr/>
          <p:nvPr/>
        </p:nvSpPr>
        <p:spPr>
          <a:xfrm>
            <a:off x="10444228" y="4916507"/>
            <a:ext cx="3977625" cy="2888028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9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2DFD63B4-2187-23A4-252E-E50C17AF1A3D}"/>
              </a:ext>
            </a:extLst>
          </p:cNvPr>
          <p:cNvSpPr/>
          <p:nvPr/>
        </p:nvSpPr>
        <p:spPr>
          <a:xfrm rot="13500000">
            <a:off x="-41160" y="1797589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1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D9BB67D8-5A36-1167-E02D-010EB0C9D246}"/>
              </a:ext>
            </a:extLst>
          </p:cNvPr>
          <p:cNvSpPr/>
          <p:nvPr/>
        </p:nvSpPr>
        <p:spPr>
          <a:xfrm rot="180000">
            <a:off x="10765256" y="-1620516"/>
            <a:ext cx="2854021" cy="3639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984381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smiling at camera&#10;&#10;AI-generated content may be incorrect.">
            <a:extLst>
              <a:ext uri="{FF2B5EF4-FFF2-40B4-BE49-F238E27FC236}">
                <a16:creationId xmlns:a16="http://schemas.microsoft.com/office/drawing/2014/main" id="{6ADD962F-7A48-2F61-B2F4-AD2CC0D66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76" r="193" b="2254"/>
          <a:stretch>
            <a:fillRect/>
          </a:stretch>
        </p:blipFill>
        <p:spPr>
          <a:xfrm>
            <a:off x="427143" y="668054"/>
            <a:ext cx="4981811" cy="5250498"/>
          </a:xfrm>
          <a:prstGeom prst="rect">
            <a:avLst/>
          </a:prstGeom>
        </p:spPr>
      </p:pic>
      <p:sp>
        <p:nvSpPr>
          <p:cNvPr id="8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C6FBC438-7E90-ACAB-F563-B51A088F84E7}"/>
              </a:ext>
            </a:extLst>
          </p:cNvPr>
          <p:cNvSpPr/>
          <p:nvPr/>
        </p:nvSpPr>
        <p:spPr>
          <a:xfrm rot="16969284">
            <a:off x="4145572" y="118035"/>
            <a:ext cx="2540257" cy="2877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6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B25031C2-E7D7-9DBF-F6C0-E93ED17BEDC8}"/>
              </a:ext>
            </a:extLst>
          </p:cNvPr>
          <p:cNvSpPr/>
          <p:nvPr/>
        </p:nvSpPr>
        <p:spPr>
          <a:xfrm>
            <a:off x="3588956" y="4435574"/>
            <a:ext cx="3330447" cy="2418302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4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AE7AEB0C-D655-6604-2093-D49B01CD3968}"/>
              </a:ext>
            </a:extLst>
          </p:cNvPr>
          <p:cNvSpPr/>
          <p:nvPr/>
        </p:nvSpPr>
        <p:spPr>
          <a:xfrm rot="12675367">
            <a:off x="-140654" y="2238256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D7F981-5D04-8441-FF98-0296864DF8D4}"/>
              </a:ext>
            </a:extLst>
          </p:cNvPr>
          <p:cNvSpPr txBox="1"/>
          <p:nvPr/>
        </p:nvSpPr>
        <p:spPr>
          <a:xfrm>
            <a:off x="5916707" y="2624173"/>
            <a:ext cx="6680548" cy="230832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Lato"/>
                <a:cs typeface="Lato"/>
              </a:rPr>
              <a:t>AI-Based Disease Treatment Efficacy Monitoring System</a:t>
            </a:r>
            <a:endParaRPr lang="en-US" sz="3600" i="1">
              <a:solidFill>
                <a:schemeClr val="tx1">
                  <a:lumMod val="65000"/>
                  <a:lumOff val="35000"/>
                </a:schemeClr>
              </a:solidFill>
              <a:latin typeface="Aptos"/>
              <a:ea typeface="Lato"/>
              <a:cs typeface="Lato"/>
            </a:endParaRPr>
          </a:p>
          <a:p>
            <a:r>
              <a:rPr lang="en-US" sz="36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Lato"/>
                <a:cs typeface="Lato"/>
              </a:rPr>
              <a:t> for Tomato Cultivation</a:t>
            </a:r>
            <a:endParaRPr lang="en-US" sz="3600" i="1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  <a:p>
            <a:pPr algn="ctr"/>
            <a:endParaRPr lang="en-US" sz="3600" i="1"/>
          </a:p>
        </p:txBody>
      </p:sp>
    </p:spTree>
    <p:extLst>
      <p:ext uri="{BB962C8B-B14F-4D97-AF65-F5344CB8AC3E}">
        <p14:creationId xmlns:p14="http://schemas.microsoft.com/office/powerpoint/2010/main" val="1128062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21A993-9978-4964-DDDF-00325B61C3E3}"/>
              </a:ext>
            </a:extLst>
          </p:cNvPr>
          <p:cNvSpPr txBox="1"/>
          <p:nvPr/>
        </p:nvSpPr>
        <p:spPr>
          <a:xfrm>
            <a:off x="2633383" y="291353"/>
            <a:ext cx="74294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>
                <a:solidFill>
                  <a:srgbClr val="1A1A1A"/>
                </a:solidFill>
                <a:latin typeface="Aptos"/>
                <a:ea typeface="Lato"/>
                <a:cs typeface="Lato"/>
              </a:rPr>
              <a:t>AI-Based Disease Treatment Efficacy Monitoring System for Tomato Cultivation</a:t>
            </a:r>
            <a:endParaRPr lang="en-US">
              <a:latin typeface="Aptos"/>
            </a:endParaRPr>
          </a:p>
          <a:p>
            <a:pPr algn="ctr"/>
            <a:endParaRPr lang="en-US"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9D7EC-F4E0-D7F3-89BF-02F5501B269B}"/>
              </a:ext>
            </a:extLst>
          </p:cNvPr>
          <p:cNvSpPr/>
          <p:nvPr/>
        </p:nvSpPr>
        <p:spPr>
          <a:xfrm>
            <a:off x="350055" y="1096235"/>
            <a:ext cx="3643052" cy="49713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4D5E44-EE90-9567-5FC8-82E29B1D9EF6}"/>
              </a:ext>
            </a:extLst>
          </p:cNvPr>
          <p:cNvSpPr/>
          <p:nvPr/>
        </p:nvSpPr>
        <p:spPr>
          <a:xfrm>
            <a:off x="4372659" y="1096234"/>
            <a:ext cx="3549107" cy="5034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B4D627-7FAE-FA93-80E2-399456E39858}"/>
              </a:ext>
            </a:extLst>
          </p:cNvPr>
          <p:cNvSpPr/>
          <p:nvPr/>
        </p:nvSpPr>
        <p:spPr>
          <a:xfrm>
            <a:off x="8152112" y="1096233"/>
            <a:ext cx="3423848" cy="49713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9142C-C36C-75FA-E57F-88CB7C2AB4D7}"/>
              </a:ext>
            </a:extLst>
          </p:cNvPr>
          <p:cNvSpPr txBox="1"/>
          <p:nvPr/>
        </p:nvSpPr>
        <p:spPr>
          <a:xfrm>
            <a:off x="633890" y="1285895"/>
            <a:ext cx="327363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rgbClr val="1A1A1A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Problem</a:t>
            </a:r>
            <a:endParaRPr lang="en-US" sz="1600">
              <a:solidFill>
                <a:srgbClr val="000000"/>
              </a:solidFill>
              <a:latin typeface="Aptos"/>
              <a:ea typeface="Lato"/>
              <a:cs typeface="Lato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01190D35-66BB-DF2E-63C9-303D1495DEA5}"/>
              </a:ext>
            </a:extLst>
          </p:cNvPr>
          <p:cNvSpPr txBox="1"/>
          <p:nvPr/>
        </p:nvSpPr>
        <p:spPr>
          <a:xfrm>
            <a:off x="551374" y="1964592"/>
            <a:ext cx="3354646" cy="4185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Farmers rely on </a:t>
            </a:r>
            <a:r>
              <a:rPr lang="en-US" sz="1600" b="1" err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visualinspection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 after applying treatment only 60%accurate</a:t>
            </a:r>
            <a:endParaRPr lang="en-GB" sz="1600">
              <a:latin typeface="Aptos"/>
            </a:endParaRPr>
          </a:p>
          <a:p>
            <a:endParaRPr lang="en-GB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Existing systems only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</a:rPr>
              <a:t>detect disease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 and stop no follow-up they do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</a:rPr>
              <a:t>not check if medicine worked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 after application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They do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</a:rPr>
              <a:t>not explain why treatment failed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 (weather, pH)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They do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</a:rPr>
              <a:t>not provide a resistance-aware alternative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</a:rPr>
              <a:t> when treatment fails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en-GB" sz="1600">
              <a:solidFill>
                <a:srgbClr val="000000"/>
              </a:solidFill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60D605A-9BEA-DF37-6B82-2F52A4F7F6B7}"/>
              </a:ext>
            </a:extLst>
          </p:cNvPr>
          <p:cNvSpPr txBox="1"/>
          <p:nvPr/>
        </p:nvSpPr>
        <p:spPr>
          <a:xfrm>
            <a:off x="4486635" y="1714071"/>
            <a:ext cx="3333767" cy="4196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endParaRPr lang="en-US" sz="1600" b="1">
              <a:solidFill>
                <a:srgbClr val="1A1A1A"/>
              </a:solidFill>
              <a:highlight>
                <a:srgbClr val="FFFFFF"/>
              </a:highlight>
              <a:latin typeface="Aptos"/>
              <a:ea typeface="Lato"/>
              <a:cs typeface="Lat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Monitor disease severity using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U-Net segmentation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 across Day 1, Day 3, Day 5</a:t>
            </a:r>
            <a:endParaRPr lang="en-US" sz="1600">
              <a:latin typeface="Apto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highlight>
                <a:srgbClr val="FFFFFF"/>
              </a:highlight>
              <a:latin typeface="Aptos"/>
              <a:ea typeface="Lato"/>
              <a:cs typeface="Lat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Calculate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Treatment Response Rate (TRR)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 — a novel metric</a:t>
            </a:r>
            <a:endParaRPr lang="en-US" sz="1600">
              <a:latin typeface="Apto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Integrate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real-time weather + pH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 context via API</a:t>
            </a:r>
            <a:endParaRPr lang="en-US" sz="1600">
              <a:latin typeface="Apto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highlight>
                <a:srgbClr val="FFFFFF"/>
              </a:highlight>
              <a:latin typeface="Aptos"/>
              <a:ea typeface="Lato"/>
              <a:cs typeface="Lat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Provide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resistance-aware alternative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 solutions using RAG when treatment fails</a:t>
            </a:r>
            <a:endParaRPr lang="en-US" sz="1600">
              <a:latin typeface="Apto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highlight>
                <a:srgbClr val="FFFFFF"/>
              </a:highlight>
              <a:latin typeface="Aptos"/>
              <a:ea typeface="Lato"/>
              <a:cs typeface="Lato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Use </a:t>
            </a:r>
            <a:r>
              <a:rPr lang="en-US" sz="1600" b="1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Component 2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 via microservice for disease re-confirmation</a:t>
            </a:r>
            <a:endParaRPr lang="en-US" sz="160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333333"/>
              </a:solidFill>
              <a:highlight>
                <a:srgbClr val="FFFFFF"/>
              </a:highlight>
              <a:ea typeface="Lato"/>
              <a:cs typeface="Lat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EC85B4-17C0-D2F8-6720-024EEADDDC79}"/>
              </a:ext>
            </a:extLst>
          </p:cNvPr>
          <p:cNvSpPr txBox="1"/>
          <p:nvPr/>
        </p:nvSpPr>
        <p:spPr>
          <a:xfrm>
            <a:off x="4329067" y="1285895"/>
            <a:ext cx="327363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rgbClr val="1A1A1A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Objective</a:t>
            </a:r>
            <a:endParaRPr lang="en-US" sz="1600">
              <a:latin typeface="Aptos"/>
            </a:endParaRPr>
          </a:p>
          <a:p>
            <a:pPr algn="ctr"/>
            <a:br>
              <a:rPr lang="en-US"/>
            </a:br>
            <a:endParaRPr lang="en-US" sz="1600"/>
          </a:p>
          <a:p>
            <a:pPr algn="ctr"/>
            <a:endParaRPr lang="en-US" sz="1600" b="1">
              <a:solidFill>
                <a:srgbClr val="1A1A1A"/>
              </a:solidFill>
              <a:highlight>
                <a:srgbClr val="FFFFFF"/>
              </a:highlight>
              <a:latin typeface="Aptos"/>
              <a:ea typeface="Lato"/>
              <a:cs typeface="Lat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0767A-4C24-53AF-F103-FEFF18854848}"/>
              </a:ext>
            </a:extLst>
          </p:cNvPr>
          <p:cNvSpPr txBox="1"/>
          <p:nvPr/>
        </p:nvSpPr>
        <p:spPr>
          <a:xfrm>
            <a:off x="8128628" y="1212827"/>
            <a:ext cx="333626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solidFill>
                  <a:srgbClr val="1A1A1A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Sub- Objectives</a:t>
            </a:r>
            <a:endParaRPr lang="en-US" sz="1600">
              <a:latin typeface="Aptos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B1FA2840-DBD8-F2C2-6F3A-460A7C357E9E}"/>
              </a:ext>
            </a:extLst>
          </p:cNvPr>
          <p:cNvSpPr txBox="1"/>
          <p:nvPr/>
        </p:nvSpPr>
        <p:spPr>
          <a:xfrm>
            <a:off x="8244442" y="1724508"/>
            <a:ext cx="3218948" cy="4185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Train U-Net CNN for pixel-level leaf disease segmentation (IoU ≥ 0.90)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Define TRR metric and build Rule-Based efficacy classifier (F1 ≥ 0.90)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Integrate OpenWeatherMap API and pH input for contextual alerts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Build RAG engine with FAISS backed by 100+ DOA Sri Lanka approved medicines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Invoke Component 2 microservice on FAILURE for fresh disease re-detection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Aptos"/>
                <a:ea typeface="Lato"/>
                <a:cs typeface="Lato"/>
              </a:rPr>
              <a:t>Validate with farmer usability testing (SUS ≥ 75)</a:t>
            </a:r>
            <a:endParaRPr lang="en-US" sz="1600">
              <a:latin typeface="Aptos"/>
            </a:endParaRPr>
          </a:p>
          <a:p>
            <a:endParaRPr lang="en-US" sz="1600" b="1">
              <a:solidFill>
                <a:srgbClr val="1A1A1A"/>
              </a:solidFill>
              <a:highlight>
                <a:srgbClr val="FFFFFF"/>
              </a:highlight>
              <a:ea typeface="Lato"/>
              <a:cs typeface="Lato"/>
            </a:endParaRPr>
          </a:p>
        </p:txBody>
      </p:sp>
      <p:sp>
        <p:nvSpPr>
          <p:cNvPr id="18" name="Freeform 24" descr="A close up of a leaf&#10;&#10;AI-generated content may be incorrect.">
            <a:extLst>
              <a:ext uri="{FF2B5EF4-FFF2-40B4-BE49-F238E27FC236}">
                <a16:creationId xmlns:a16="http://schemas.microsoft.com/office/drawing/2014/main" id="{5E1F4E61-35F8-E6AE-C51A-9DDA06C42C68}"/>
              </a:ext>
            </a:extLst>
          </p:cNvPr>
          <p:cNvSpPr/>
          <p:nvPr/>
        </p:nvSpPr>
        <p:spPr>
          <a:xfrm>
            <a:off x="10092193" y="94726"/>
            <a:ext cx="1486531" cy="1733815"/>
          </a:xfrm>
          <a:custGeom>
            <a:avLst/>
            <a:gdLst/>
            <a:ahLst/>
            <a:cxnLst/>
            <a:rect l="l" t="t" r="r" b="b"/>
            <a:pathLst>
              <a:path w="3535927" h="3558166">
                <a:moveTo>
                  <a:pt x="0" y="0"/>
                </a:moveTo>
                <a:lnTo>
                  <a:pt x="3535927" y="0"/>
                </a:lnTo>
                <a:lnTo>
                  <a:pt x="3535927" y="3558166"/>
                </a:lnTo>
                <a:lnTo>
                  <a:pt x="0" y="355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318101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">
            <a:extLst>
              <a:ext uri="{FF2B5EF4-FFF2-40B4-BE49-F238E27FC236}">
                <a16:creationId xmlns:a16="http://schemas.microsoft.com/office/drawing/2014/main" id="{3C7EF098-9857-1F14-204B-0B316D3E838E}"/>
              </a:ext>
            </a:extLst>
          </p:cNvPr>
          <p:cNvGrpSpPr/>
          <p:nvPr/>
        </p:nvGrpSpPr>
        <p:grpSpPr>
          <a:xfrm>
            <a:off x="5904383" y="508546"/>
            <a:ext cx="5707766" cy="2708049"/>
            <a:chOff x="0" y="-47625"/>
            <a:chExt cx="1769194" cy="819478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3C09346F-C299-1402-258B-882E7FD15132}"/>
                </a:ext>
              </a:extLst>
            </p:cNvPr>
            <p:cNvSpPr/>
            <p:nvPr/>
          </p:nvSpPr>
          <p:spPr>
            <a:xfrm>
              <a:off x="0" y="0"/>
              <a:ext cx="1769194" cy="771853"/>
            </a:xfrm>
            <a:custGeom>
              <a:avLst/>
              <a:gdLst/>
              <a:ahLst/>
              <a:cxnLst/>
              <a:rect l="l" t="t" r="r" b="b"/>
              <a:pathLst>
                <a:path w="1769194" h="771853">
                  <a:moveTo>
                    <a:pt x="0" y="0"/>
                  </a:moveTo>
                  <a:lnTo>
                    <a:pt x="1769194" y="0"/>
                  </a:lnTo>
                  <a:lnTo>
                    <a:pt x="1769194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5" name="TextBox 14">
              <a:extLst>
                <a:ext uri="{FF2B5EF4-FFF2-40B4-BE49-F238E27FC236}">
                  <a16:creationId xmlns:a16="http://schemas.microsoft.com/office/drawing/2014/main" id="{2FF011D5-9824-8D80-D638-B7628A1AB091}"/>
                </a:ext>
              </a:extLst>
            </p:cNvPr>
            <p:cNvSpPr txBox="1"/>
            <p:nvPr/>
          </p:nvSpPr>
          <p:spPr>
            <a:xfrm>
              <a:off x="0" y="-47625"/>
              <a:ext cx="1769194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0" name="Group 17">
            <a:extLst>
              <a:ext uri="{FF2B5EF4-FFF2-40B4-BE49-F238E27FC236}">
                <a16:creationId xmlns:a16="http://schemas.microsoft.com/office/drawing/2014/main" id="{CC345209-835E-2B16-5A60-5A697D008532}"/>
              </a:ext>
            </a:extLst>
          </p:cNvPr>
          <p:cNvGrpSpPr/>
          <p:nvPr/>
        </p:nvGrpSpPr>
        <p:grpSpPr>
          <a:xfrm>
            <a:off x="5904383" y="3482748"/>
            <a:ext cx="5707766" cy="2552556"/>
            <a:chOff x="0" y="-47625"/>
            <a:chExt cx="1769194" cy="819478"/>
          </a:xfrm>
        </p:grpSpPr>
        <p:sp>
          <p:nvSpPr>
            <p:cNvPr id="8" name="Freeform 18">
              <a:extLst>
                <a:ext uri="{FF2B5EF4-FFF2-40B4-BE49-F238E27FC236}">
                  <a16:creationId xmlns:a16="http://schemas.microsoft.com/office/drawing/2014/main" id="{DFCF9D9C-3408-9847-BB0E-8728180F5657}"/>
                </a:ext>
              </a:extLst>
            </p:cNvPr>
            <p:cNvSpPr/>
            <p:nvPr/>
          </p:nvSpPr>
          <p:spPr>
            <a:xfrm>
              <a:off x="0" y="0"/>
              <a:ext cx="1769194" cy="771853"/>
            </a:xfrm>
            <a:custGeom>
              <a:avLst/>
              <a:gdLst/>
              <a:ahLst/>
              <a:cxnLst/>
              <a:rect l="l" t="t" r="r" b="b"/>
              <a:pathLst>
                <a:path w="1769194" h="771853">
                  <a:moveTo>
                    <a:pt x="0" y="0"/>
                  </a:moveTo>
                  <a:lnTo>
                    <a:pt x="1769194" y="0"/>
                  </a:lnTo>
                  <a:lnTo>
                    <a:pt x="1769194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19">
              <a:extLst>
                <a:ext uri="{FF2B5EF4-FFF2-40B4-BE49-F238E27FC236}">
                  <a16:creationId xmlns:a16="http://schemas.microsoft.com/office/drawing/2014/main" id="{F7CA8F85-E83C-E4DA-3F91-D9A5995482BB}"/>
                </a:ext>
              </a:extLst>
            </p:cNvPr>
            <p:cNvSpPr txBox="1"/>
            <p:nvPr/>
          </p:nvSpPr>
          <p:spPr>
            <a:xfrm>
              <a:off x="0" y="-47625"/>
              <a:ext cx="1769194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8CC297D-CB7E-8FF7-A54A-C7EF7F7C6CF0}"/>
              </a:ext>
            </a:extLst>
          </p:cNvPr>
          <p:cNvSpPr txBox="1"/>
          <p:nvPr/>
        </p:nvSpPr>
        <p:spPr>
          <a:xfrm>
            <a:off x="6283890" y="955109"/>
            <a:ext cx="433191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Knowledge Domains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Deep Learning (U-Net CNN)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Retrieval-Augmented Generation (RAG)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Real-Time Weather Integration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Microservice Architecture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Mobile Application Development</a:t>
            </a:r>
          </a:p>
          <a:p>
            <a:pPr algn="ctr"/>
            <a:endParaRPr lang="en-US" sz="1600">
              <a:latin typeface="Apto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FCC7AE-25D8-AEC5-3E60-8154BC958E0C}"/>
              </a:ext>
            </a:extLst>
          </p:cNvPr>
          <p:cNvSpPr txBox="1"/>
          <p:nvPr/>
        </p:nvSpPr>
        <p:spPr>
          <a:xfrm>
            <a:off x="6283890" y="3846535"/>
            <a:ext cx="483295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Technologies Used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U-Net CNN (</a:t>
            </a: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PyTorch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) — severity segmentation</a:t>
            </a:r>
          </a:p>
          <a:p>
            <a:pPr>
              <a:buFont typeface=""/>
              <a:buChar char="•"/>
            </a:pP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OpenWeatherMap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 API — weather + humidity</a:t>
            </a:r>
          </a:p>
          <a:p>
            <a:pPr>
              <a:buFont typeface=""/>
              <a:buChar char="•"/>
            </a:pP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LangChain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 + FAISS — RAG engine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Nodejs — backend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React Native — mobile app</a:t>
            </a:r>
          </a:p>
          <a:p>
            <a:pPr algn="ctr"/>
            <a:endParaRPr lang="en-US" sz="1600"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CFA02-2779-D970-4C9A-D8F71A06FF01}"/>
              </a:ext>
            </a:extLst>
          </p:cNvPr>
          <p:cNvSpPr txBox="1"/>
          <p:nvPr/>
        </p:nvSpPr>
        <p:spPr>
          <a:xfrm>
            <a:off x="1263041" y="3658644"/>
            <a:ext cx="3580357" cy="122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>
                <a:solidFill>
                  <a:srgbClr val="1A1A1A"/>
                </a:solidFill>
                <a:latin typeface="Lato"/>
                <a:ea typeface="Lato"/>
                <a:cs typeface="Lato"/>
              </a:rPr>
              <a:t>AI-Based Disease Treatment</a:t>
            </a:r>
            <a:br>
              <a:rPr lang="en-US"/>
            </a:br>
            <a:r>
              <a:rPr lang="en-US" b="1" i="1">
                <a:solidFill>
                  <a:srgbClr val="1A1A1A"/>
                </a:solidFill>
                <a:latin typeface="Lato"/>
                <a:ea typeface="Lato"/>
                <a:cs typeface="Lato"/>
              </a:rPr>
              <a:t>Efficacy Monitoring System</a:t>
            </a:r>
            <a:br>
              <a:rPr lang="en-US"/>
            </a:br>
            <a:r>
              <a:rPr lang="en-US" b="1" i="1">
                <a:solidFill>
                  <a:srgbClr val="1A1A1A"/>
                </a:solidFill>
                <a:latin typeface="Lato"/>
                <a:ea typeface="Lato"/>
                <a:cs typeface="Lato"/>
              </a:rPr>
              <a:t>for Tomato Cultivation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7" name="Freeform 22" descr="A close up of a leaf&#10;&#10;AI-generated content may be incorrect.">
            <a:extLst>
              <a:ext uri="{FF2B5EF4-FFF2-40B4-BE49-F238E27FC236}">
                <a16:creationId xmlns:a16="http://schemas.microsoft.com/office/drawing/2014/main" id="{E0C57626-DF98-0527-8089-04BF3C02152F}"/>
              </a:ext>
            </a:extLst>
          </p:cNvPr>
          <p:cNvSpPr/>
          <p:nvPr/>
        </p:nvSpPr>
        <p:spPr>
          <a:xfrm>
            <a:off x="3675346" y="4874293"/>
            <a:ext cx="1280620" cy="1320153"/>
          </a:xfrm>
          <a:custGeom>
            <a:avLst/>
            <a:gdLst/>
            <a:ahLst/>
            <a:cxnLst/>
            <a:rect l="l" t="t" r="r" b="b"/>
            <a:pathLst>
              <a:path w="3452745" h="3474461">
                <a:moveTo>
                  <a:pt x="0" y="0"/>
                </a:moveTo>
                <a:lnTo>
                  <a:pt x="3452745" y="0"/>
                </a:lnTo>
                <a:lnTo>
                  <a:pt x="3452745" y="3474461"/>
                </a:lnTo>
                <a:lnTo>
                  <a:pt x="0" y="3474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860516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18D59-895B-FD22-8169-E42E940B1F1E}"/>
              </a:ext>
            </a:extLst>
          </p:cNvPr>
          <p:cNvSpPr txBox="1"/>
          <p:nvPr/>
        </p:nvSpPr>
        <p:spPr>
          <a:xfrm>
            <a:off x="845508" y="443630"/>
            <a:ext cx="3308959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Validation Strategy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U-Net Model: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IoU ≥ 0.90, Dice ≥ 0.92 on held-out test set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TRR Classifier: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F1 Score ≥ 0.90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RAG Recommendations: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100% DOA verified by agronomist review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Farmer Usability: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SUS score ≥ 75 (10 farmers)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AI vs Human: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AI 95% vs Human 60% accuracy</a:t>
            </a:r>
          </a:p>
          <a:p>
            <a:pPr algn="ctr"/>
            <a:endParaRPr lang="en-US" sz="16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6E39AAD-C25C-7666-E809-0EDBCFE0800F}"/>
              </a:ext>
            </a:extLst>
          </p:cNvPr>
          <p:cNvGrpSpPr/>
          <p:nvPr/>
        </p:nvGrpSpPr>
        <p:grpSpPr>
          <a:xfrm>
            <a:off x="699598" y="142337"/>
            <a:ext cx="3588732" cy="2956972"/>
            <a:chOff x="0" y="-47625"/>
            <a:chExt cx="1085563" cy="819478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DA477CA9-6EEF-E22C-18F9-7E2FE97649D5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7" name="TextBox 17">
              <a:extLst>
                <a:ext uri="{FF2B5EF4-FFF2-40B4-BE49-F238E27FC236}">
                  <a16:creationId xmlns:a16="http://schemas.microsoft.com/office/drawing/2014/main" id="{50082BD0-3AFE-C72A-9FB9-0463807F656F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E0BA28-B6C5-4978-A29E-8C551BC035B1}"/>
              </a:ext>
            </a:extLst>
          </p:cNvPr>
          <p:cNvGrpSpPr/>
          <p:nvPr/>
        </p:nvGrpSpPr>
        <p:grpSpPr>
          <a:xfrm>
            <a:off x="4666173" y="-14238"/>
            <a:ext cx="3588732" cy="6224177"/>
            <a:chOff x="0" y="-47625"/>
            <a:chExt cx="1085563" cy="81947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9EDB147-089E-A2EB-867C-82C229191B87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AD753920-CD1F-A30F-0A44-DB05F9E3C864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CE5430-7ED3-35B6-BFBF-0672F3962381}"/>
              </a:ext>
            </a:extLst>
          </p:cNvPr>
          <p:cNvGrpSpPr/>
          <p:nvPr/>
        </p:nvGrpSpPr>
        <p:grpSpPr>
          <a:xfrm>
            <a:off x="699598" y="3252967"/>
            <a:ext cx="3588732" cy="2956972"/>
            <a:chOff x="0" y="-47625"/>
            <a:chExt cx="1085563" cy="81947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9B61337C-E911-40CA-5F76-B24BB337402B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D0530123-2310-1368-5DAC-8332742FFDF2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CEFFE52-012D-4ED4-4359-B79C12AF8A67}"/>
              </a:ext>
            </a:extLst>
          </p:cNvPr>
          <p:cNvSpPr txBox="1"/>
          <p:nvPr/>
        </p:nvSpPr>
        <p:spPr>
          <a:xfrm>
            <a:off x="845507" y="3554260"/>
            <a:ext cx="330896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Data Sources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Plant Village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Tomato-Village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</a:t>
            </a:r>
            <a:endParaRPr lang="en-US">
              <a:solidFill>
                <a:srgbClr val="000000"/>
              </a:solidFill>
              <a:latin typeface="Aptos"/>
              <a:ea typeface="Lato"/>
              <a:cs typeface="Lato"/>
            </a:endParaRP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Local Sri Lanka farms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</a:t>
            </a:r>
            <a:endParaRPr lang="en-US">
              <a:solidFill>
                <a:srgbClr val="000000"/>
              </a:solidFill>
              <a:latin typeface="Aptos"/>
              <a:ea typeface="Lato"/>
              <a:cs typeface="Lato"/>
            </a:endParaRP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DOA Sri Lanka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</a:t>
            </a:r>
            <a:endParaRPr lang="en-US" sz="1600">
              <a:solidFill>
                <a:srgbClr val="333333"/>
              </a:solidFill>
              <a:ea typeface="Lato"/>
              <a:cs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72F5B2-3F88-7FE0-20B9-6BB9069897B9}"/>
              </a:ext>
            </a:extLst>
          </p:cNvPr>
          <p:cNvSpPr txBox="1"/>
          <p:nvPr/>
        </p:nvSpPr>
        <p:spPr>
          <a:xfrm>
            <a:off x="4812082" y="537575"/>
            <a:ext cx="3298521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Security Measures</a:t>
            </a:r>
          </a:p>
          <a:p>
            <a:endParaRPr lang="en-US" sz="1600" b="1">
              <a:solidFill>
                <a:srgbClr val="1A1A1A"/>
              </a:solidFill>
              <a:latin typeface="Aptos"/>
              <a:ea typeface="Lato"/>
              <a:cs typeface="Lato"/>
            </a:endParaRP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HTTPS encryption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for all API communications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Token-based authentication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for data access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Field-level encryption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in Firebase for images and GPS data</a:t>
            </a:r>
          </a:p>
          <a:p>
            <a:pPr>
              <a:buFont typeface=""/>
              <a:buChar char="•"/>
            </a:pPr>
            <a:r>
              <a:rPr lang="en-US" sz="1600" b="1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Anonymised</a:t>
            </a: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 session IDs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— no personal data stored</a:t>
            </a:r>
          </a:p>
          <a:p>
            <a:pPr>
              <a:buFont typeface=""/>
              <a:buChar char="•"/>
            </a:pPr>
            <a:endParaRPr lang="en-US" sz="1600">
              <a:solidFill>
                <a:srgbClr val="333333"/>
              </a:solidFill>
              <a:latin typeface="Aptos"/>
              <a:ea typeface="Lato"/>
              <a:cs typeface="Lato"/>
            </a:endParaRPr>
          </a:p>
          <a:p>
            <a:pPr>
              <a:buFont typeface=""/>
              <a:buChar char="•"/>
            </a:pPr>
            <a:endParaRPr lang="en-US" sz="1600">
              <a:solidFill>
                <a:srgbClr val="333333"/>
              </a:solidFill>
              <a:latin typeface="Aptos"/>
              <a:ea typeface="Lato"/>
              <a:cs typeface="Lato"/>
            </a:endParaRPr>
          </a:p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Novel Metrics</a:t>
            </a:r>
          </a:p>
          <a:p>
            <a:r>
              <a:rPr lang="en-US" sz="1600" b="1">
                <a:solidFill>
                  <a:srgbClr val="2D6A3F"/>
                </a:solidFill>
                <a:latin typeface="Aptos"/>
                <a:ea typeface="Lato"/>
                <a:cs typeface="Lato"/>
              </a:rPr>
              <a:t>TRR &gt;20% = SUCCESS</a:t>
            </a:r>
            <a:r>
              <a:rPr lang="en-US" sz="1600">
                <a:latin typeface="Aptos"/>
                <a:ea typeface="Lato"/>
                <a:cs typeface="Lato"/>
              </a:rPr>
              <a:t> </a:t>
            </a:r>
            <a:endParaRPr lang="en-US" sz="1600">
              <a:solidFill>
                <a:srgbClr val="000000"/>
              </a:solidFill>
              <a:latin typeface="Aptos"/>
              <a:ea typeface="Lato"/>
              <a:cs typeface="Lato"/>
            </a:endParaRPr>
          </a:p>
          <a:p>
            <a:r>
              <a:rPr lang="en-US" sz="1600" b="1">
                <a:solidFill>
                  <a:srgbClr val="8A5A10"/>
                </a:solidFill>
                <a:latin typeface="Aptos"/>
                <a:ea typeface="Lato"/>
                <a:cs typeface="Lato"/>
              </a:rPr>
              <a:t>TRR 5-20% = PARTIAL</a:t>
            </a:r>
            <a:r>
              <a:rPr lang="en-US" sz="1600">
                <a:latin typeface="Aptos"/>
                <a:ea typeface="Lato"/>
                <a:cs typeface="Lato"/>
              </a:rPr>
              <a:t> </a:t>
            </a:r>
            <a:endParaRPr lang="en-US">
              <a:solidFill>
                <a:srgbClr val="000000"/>
              </a:solidFill>
              <a:latin typeface="Aptos"/>
              <a:ea typeface="Lato"/>
              <a:cs typeface="Lato"/>
            </a:endParaRPr>
          </a:p>
          <a:p>
            <a:r>
              <a:rPr lang="en-US" sz="1600" b="1">
                <a:solidFill>
                  <a:srgbClr val="8A2020"/>
                </a:solidFill>
                <a:latin typeface="Aptos"/>
                <a:ea typeface="Lato"/>
                <a:cs typeface="Lato"/>
              </a:rPr>
              <a:t>TRR &lt;5% = FAILURE</a:t>
            </a:r>
            <a:endParaRPr lang="en-US"/>
          </a:p>
          <a:p>
            <a:r>
              <a:rPr lang="en-US" sz="1600">
                <a:solidFill>
                  <a:srgbClr val="555555"/>
                </a:solidFill>
                <a:latin typeface="Aptos"/>
                <a:ea typeface="Lato"/>
                <a:cs typeface="Lato"/>
              </a:rPr>
              <a:t>TRR = (Day1 − Day5) ÷ Day1 × 100</a:t>
            </a:r>
            <a:br>
              <a:rPr lang="en-US" sz="1600">
                <a:latin typeface="Aptos"/>
                <a:ea typeface="Lato"/>
                <a:cs typeface="Lato"/>
              </a:rPr>
            </a:br>
            <a:r>
              <a:rPr lang="en-US" sz="1600" i="1">
                <a:solidFill>
                  <a:srgbClr val="555555"/>
                </a:solidFill>
                <a:latin typeface="Aptos"/>
                <a:ea typeface="Lato"/>
                <a:cs typeface="Lato"/>
              </a:rPr>
              <a:t>First quantitative treatment efficacy metric in plant disease research</a:t>
            </a:r>
          </a:p>
          <a:p>
            <a:endParaRPr lang="en-US" sz="1600">
              <a:latin typeface="Aptos"/>
              <a:ea typeface="Lato"/>
              <a:cs typeface="Lato"/>
            </a:endParaRPr>
          </a:p>
          <a:p>
            <a:pPr algn="ctr"/>
            <a:endParaRPr lang="en-US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652A1-F2D4-16AB-27E8-8AC979D54D66}"/>
              </a:ext>
            </a:extLst>
          </p:cNvPr>
          <p:cNvSpPr txBox="1"/>
          <p:nvPr/>
        </p:nvSpPr>
        <p:spPr>
          <a:xfrm>
            <a:off x="8444630" y="443629"/>
            <a:ext cx="344465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Ethical Considerations</a:t>
            </a:r>
          </a:p>
          <a:p>
            <a:endParaRPr lang="en-US" sz="1600" b="1">
              <a:solidFill>
                <a:srgbClr val="1A1A1A"/>
              </a:solidFill>
              <a:latin typeface="Aptos"/>
              <a:ea typeface="Lato"/>
              <a:cs typeface="Lato"/>
            </a:endParaRP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Farmer consent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before collecting any images or location data</a:t>
            </a: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Data </a:t>
            </a: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privacy and </a:t>
            </a:r>
            <a:r>
              <a:rPr lang="en-US" sz="1600" b="1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anonymisation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Voluntary participation</a:t>
            </a:r>
          </a:p>
          <a:p>
            <a:pPr>
              <a:buFont typeface=""/>
              <a:buChar char="•"/>
            </a:pPr>
            <a:endParaRPr lang="en-US" sz="1600" b="1">
              <a:solidFill>
                <a:srgbClr val="333333"/>
              </a:solidFill>
              <a:latin typeface="Aptos"/>
              <a:ea typeface="Lato"/>
              <a:cs typeface="Lato"/>
            </a:endParaRPr>
          </a:p>
          <a:p>
            <a:pPr algn="ctr"/>
            <a:endParaRPr lang="en-US" sz="16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CB3AFC-7783-65CE-1317-F1931410EC65}"/>
              </a:ext>
            </a:extLst>
          </p:cNvPr>
          <p:cNvGrpSpPr/>
          <p:nvPr/>
        </p:nvGrpSpPr>
        <p:grpSpPr>
          <a:xfrm>
            <a:off x="8444857" y="142336"/>
            <a:ext cx="3588732" cy="3405821"/>
            <a:chOff x="0" y="-47625"/>
            <a:chExt cx="1085563" cy="819478"/>
          </a:xfrm>
        </p:grpSpPr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F1D683F7-FA64-C494-20D8-BD3B36296F83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17">
              <a:extLst>
                <a:ext uri="{FF2B5EF4-FFF2-40B4-BE49-F238E27FC236}">
                  <a16:creationId xmlns:a16="http://schemas.microsoft.com/office/drawing/2014/main" id="{CD76B251-4349-28CF-5518-209D84039D87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5" name="Freeform 32" descr="A close up of a leaf&#10;&#10;AI-generated content may be incorrect.">
            <a:extLst>
              <a:ext uri="{FF2B5EF4-FFF2-40B4-BE49-F238E27FC236}">
                <a16:creationId xmlns:a16="http://schemas.microsoft.com/office/drawing/2014/main" id="{E459385F-D835-6C40-82D9-49D4C378E7C3}"/>
              </a:ext>
            </a:extLst>
          </p:cNvPr>
          <p:cNvSpPr/>
          <p:nvPr/>
        </p:nvSpPr>
        <p:spPr>
          <a:xfrm rot="522854">
            <a:off x="10411589" y="5153912"/>
            <a:ext cx="1659128" cy="1727448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90"/>
                </a:lnTo>
                <a:lnTo>
                  <a:pt x="0" y="267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126A62-4160-59A4-4C46-54F35215D5C0}"/>
              </a:ext>
            </a:extLst>
          </p:cNvPr>
          <p:cNvSpPr txBox="1"/>
          <p:nvPr/>
        </p:nvSpPr>
        <p:spPr>
          <a:xfrm>
            <a:off x="8528137" y="4295384"/>
            <a:ext cx="3423781" cy="10772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Lato"/>
                <a:cs typeface="Lato"/>
              </a:rPr>
              <a:t>AI-Based Disease Treatment Efficacy Monitoring System for Tomato Cultivation</a:t>
            </a:r>
            <a:endParaRPr lang="en-US" sz="1600" i="1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  <a:p>
            <a:pPr algn="ctr"/>
            <a:endParaRPr lang="en-US" sz="1600" i="1"/>
          </a:p>
        </p:txBody>
      </p:sp>
    </p:spTree>
    <p:extLst>
      <p:ext uri="{BB962C8B-B14F-4D97-AF65-F5344CB8AC3E}">
        <p14:creationId xmlns:p14="http://schemas.microsoft.com/office/powerpoint/2010/main" val="229449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36382C-C6FF-EAB6-C3B2-7A5671B87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699" y="195"/>
            <a:ext cx="4436302" cy="6596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067A6-7AB1-C48F-2224-063712E190FF}"/>
              </a:ext>
            </a:extLst>
          </p:cNvPr>
          <p:cNvSpPr txBox="1"/>
          <p:nvPr/>
        </p:nvSpPr>
        <p:spPr>
          <a:xfrm>
            <a:off x="281835" y="2322534"/>
            <a:ext cx="553232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Component Dependencies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AI Model: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U-Net CNN (</a:t>
            </a: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PyTorch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) — pixel-level severity segmentation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Efficacy Classifier: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Rule-Based Engine (Python)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Weather Layer: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</a:t>
            </a: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OpenWeatherMap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 API + pH farmer input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Alternative Treatment: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RAG + FAISS + </a:t>
            </a: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LangChain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 + DOA knowledge base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Microservice: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Component 2 (Disease Detection) via REST API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Mobile App: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react native (Android + iOS)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Backend: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Nodejs</a:t>
            </a:r>
          </a:p>
          <a:p>
            <a:pPr>
              <a:buFont typeface=""/>
              <a:buChar char="•"/>
            </a:pPr>
            <a:r>
              <a:rPr lang="en-US" sz="1600" b="1">
                <a:solidFill>
                  <a:srgbClr val="333333"/>
                </a:solidFill>
                <a:latin typeface="Aptos"/>
                <a:ea typeface="Lato"/>
                <a:cs typeface="Lato"/>
              </a:rPr>
              <a:t>Training: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 Google map location + </a:t>
            </a:r>
            <a:r>
              <a:rPr lang="en-US" sz="1600" err="1">
                <a:solidFill>
                  <a:srgbClr val="333333"/>
                </a:solidFill>
                <a:latin typeface="Aptos"/>
                <a:ea typeface="Lato"/>
                <a:cs typeface="Lato"/>
              </a:rPr>
              <a:t>Roboflow</a:t>
            </a:r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 </a:t>
            </a:r>
          </a:p>
          <a:p>
            <a:r>
              <a:rPr lang="en-US" sz="1600">
                <a:solidFill>
                  <a:srgbClr val="333333"/>
                </a:solidFill>
                <a:latin typeface="Aptos"/>
                <a:ea typeface="Lato"/>
                <a:cs typeface="Lato"/>
              </a:rPr>
              <a:t>annotations</a:t>
            </a:r>
            <a:endParaRPr lang="en-US"/>
          </a:p>
          <a:p>
            <a:endParaRPr lang="en-US" sz="1600"/>
          </a:p>
        </p:txBody>
      </p:sp>
      <p:sp>
        <p:nvSpPr>
          <p:cNvPr id="5" name="Freeform 7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3479AC41-95CD-55EA-53DD-9AF41C49F644}"/>
              </a:ext>
            </a:extLst>
          </p:cNvPr>
          <p:cNvSpPr/>
          <p:nvPr/>
        </p:nvSpPr>
        <p:spPr>
          <a:xfrm rot="14244164">
            <a:off x="4133457" y="1403361"/>
            <a:ext cx="2516793" cy="1618971"/>
          </a:xfrm>
          <a:custGeom>
            <a:avLst/>
            <a:gdLst/>
            <a:ahLst/>
            <a:cxnLst/>
            <a:rect l="l" t="t" r="r" b="b"/>
            <a:pathLst>
              <a:path w="2516793" h="2315450">
                <a:moveTo>
                  <a:pt x="0" y="0"/>
                </a:moveTo>
                <a:lnTo>
                  <a:pt x="2516793" y="0"/>
                </a:lnTo>
                <a:lnTo>
                  <a:pt x="2516793" y="2315450"/>
                </a:lnTo>
                <a:lnTo>
                  <a:pt x="0" y="231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4253C7-C0DE-BE12-E4DC-276BC503AB1A}"/>
              </a:ext>
            </a:extLst>
          </p:cNvPr>
          <p:cNvSpPr txBox="1"/>
          <p:nvPr/>
        </p:nvSpPr>
        <p:spPr>
          <a:xfrm>
            <a:off x="605425" y="965548"/>
            <a:ext cx="3423781" cy="107721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Lato"/>
                <a:cs typeface="Lato"/>
              </a:rPr>
              <a:t>AI-Based Disease Treatment Efficacy Monitoring System for Tomato Cultivation</a:t>
            </a:r>
            <a:endParaRPr lang="en-US" sz="1600" i="1">
              <a:solidFill>
                <a:schemeClr val="tx1">
                  <a:lumMod val="65000"/>
                  <a:lumOff val="35000"/>
                </a:schemeClr>
              </a:solidFill>
              <a:latin typeface="Aptos"/>
            </a:endParaRPr>
          </a:p>
          <a:p>
            <a:pPr algn="ctr"/>
            <a:endParaRPr lang="en-US" sz="1600" i="1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B1E83F-F847-2C45-8CF9-5C3FFD4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400" y="4610165"/>
            <a:ext cx="3027254" cy="140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60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D36584-6E8B-E484-173F-9CA89EA576F9}"/>
              </a:ext>
            </a:extLst>
          </p:cNvPr>
          <p:cNvSpPr txBox="1"/>
          <p:nvPr/>
        </p:nvSpPr>
        <p:spPr>
          <a:xfrm>
            <a:off x="5574609" y="3419311"/>
            <a:ext cx="6663351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3200">
                <a:ea typeface="+mn-lt"/>
                <a:cs typeface="+mn-lt"/>
              </a:rPr>
              <a:t>An AI-driven system to find the optimal selling times for farmers on tomatoes and predict their future selling prices. </a:t>
            </a:r>
            <a:endParaRPr lang="en-US" sz="3200"/>
          </a:p>
        </p:txBody>
      </p:sp>
      <p:pic>
        <p:nvPicPr>
          <p:cNvPr id="8" name="Picture 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6B6211F-DD8C-A4C0-263C-498C48F8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05" y="746998"/>
            <a:ext cx="4249576" cy="5454105"/>
          </a:xfrm>
          <a:prstGeom prst="rect">
            <a:avLst/>
          </a:prstGeom>
        </p:spPr>
      </p:pic>
      <p:sp>
        <p:nvSpPr>
          <p:cNvPr id="10" name="Freeform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D0837C77-03B2-1164-33DD-3416B5BFDD3A}"/>
              </a:ext>
            </a:extLst>
          </p:cNvPr>
          <p:cNvSpPr/>
          <p:nvPr/>
        </p:nvSpPr>
        <p:spPr>
          <a:xfrm rot="12675367">
            <a:off x="-80633" y="4030891"/>
            <a:ext cx="1839282" cy="2391168"/>
          </a:xfrm>
          <a:custGeom>
            <a:avLst/>
            <a:gdLst/>
            <a:ahLst/>
            <a:cxnLst/>
            <a:rect l="l" t="t" r="r" b="b"/>
            <a:pathLst>
              <a:path w="2513762" h="4529301">
                <a:moveTo>
                  <a:pt x="0" y="0"/>
                </a:moveTo>
                <a:lnTo>
                  <a:pt x="2513762" y="0"/>
                </a:lnTo>
                <a:lnTo>
                  <a:pt x="2513762" y="4529301"/>
                </a:lnTo>
                <a:lnTo>
                  <a:pt x="0" y="4529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2" name="Freeform 7" descr="A close up of a leaf&#10;&#10;AI-generated content may be incorrect.">
            <a:extLst>
              <a:ext uri="{FF2B5EF4-FFF2-40B4-BE49-F238E27FC236}">
                <a16:creationId xmlns:a16="http://schemas.microsoft.com/office/drawing/2014/main" id="{768C905D-0339-E776-57C5-29F30BF8EF8C}"/>
              </a:ext>
            </a:extLst>
          </p:cNvPr>
          <p:cNvSpPr/>
          <p:nvPr/>
        </p:nvSpPr>
        <p:spPr>
          <a:xfrm>
            <a:off x="2118375" y="4256893"/>
            <a:ext cx="3977625" cy="2888028"/>
          </a:xfrm>
          <a:custGeom>
            <a:avLst/>
            <a:gdLst/>
            <a:ahLst/>
            <a:cxnLst/>
            <a:rect l="l" t="t" r="r" b="b"/>
            <a:pathLst>
              <a:path w="5436253" h="5470444">
                <a:moveTo>
                  <a:pt x="0" y="0"/>
                </a:moveTo>
                <a:lnTo>
                  <a:pt x="5436253" y="0"/>
                </a:lnTo>
                <a:lnTo>
                  <a:pt x="5436253" y="5470444"/>
                </a:lnTo>
                <a:lnTo>
                  <a:pt x="0" y="547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4" name="Freeform 6" descr="A close up of a leaf&#10;&#10;AI-generated content may be incorrect.">
            <a:extLst>
              <a:ext uri="{FF2B5EF4-FFF2-40B4-BE49-F238E27FC236}">
                <a16:creationId xmlns:a16="http://schemas.microsoft.com/office/drawing/2014/main" id="{24A60E74-ABBC-93EB-78C1-DD8086294950}"/>
              </a:ext>
            </a:extLst>
          </p:cNvPr>
          <p:cNvSpPr/>
          <p:nvPr/>
        </p:nvSpPr>
        <p:spPr>
          <a:xfrm rot="16969284">
            <a:off x="4244140" y="-24327"/>
            <a:ext cx="2854021" cy="3639069"/>
          </a:xfrm>
          <a:custGeom>
            <a:avLst/>
            <a:gdLst/>
            <a:ahLst/>
            <a:cxnLst/>
            <a:rect l="l" t="t" r="r" b="b"/>
            <a:pathLst>
              <a:path w="5406028" h="4973546">
                <a:moveTo>
                  <a:pt x="0" y="0"/>
                </a:moveTo>
                <a:lnTo>
                  <a:pt x="5406028" y="0"/>
                </a:lnTo>
                <a:lnTo>
                  <a:pt x="5406028" y="4973545"/>
                </a:lnTo>
                <a:lnTo>
                  <a:pt x="0" y="4973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823761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1F51511C-F1BF-A04E-649C-7F66875A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238" y="365125"/>
            <a:ext cx="11981725" cy="1296627"/>
          </a:xfrm>
        </p:spPr>
        <p:txBody>
          <a:bodyPr>
            <a:normAutofit/>
          </a:bodyPr>
          <a:lstStyle/>
          <a:p>
            <a:pPr algn="ctr"/>
            <a:r>
              <a:rPr lang="en-GB" sz="2400" b="1">
                <a:ea typeface="+mj-lt"/>
                <a:cs typeface="+mj-lt"/>
              </a:rPr>
              <a:t>An AI-driven system to find the optimal selling times for farmers on tomatoes </a:t>
            </a:r>
            <a:br>
              <a:rPr lang="en-US" sz="6000" b="1"/>
            </a:br>
            <a:r>
              <a:rPr lang="en-GB" sz="2400" b="1">
                <a:ea typeface="+mj-lt"/>
                <a:cs typeface="+mj-lt"/>
              </a:rPr>
              <a:t>and predict their future selling prices. </a:t>
            </a:r>
            <a:endParaRPr lang="en-US" sz="2400" b="1"/>
          </a:p>
        </p:txBody>
      </p:sp>
      <p:grpSp>
        <p:nvGrpSpPr>
          <p:cNvPr id="41" name="Group 10">
            <a:extLst>
              <a:ext uri="{FF2B5EF4-FFF2-40B4-BE49-F238E27FC236}">
                <a16:creationId xmlns:a16="http://schemas.microsoft.com/office/drawing/2014/main" id="{0713B63E-0153-7624-2AD9-48C0AAC3F8BC}"/>
              </a:ext>
            </a:extLst>
          </p:cNvPr>
          <p:cNvGrpSpPr/>
          <p:nvPr/>
        </p:nvGrpSpPr>
        <p:grpSpPr>
          <a:xfrm>
            <a:off x="219919" y="810229"/>
            <a:ext cx="11759877" cy="6076707"/>
            <a:chOff x="0" y="-47625"/>
            <a:chExt cx="2018995" cy="1167481"/>
          </a:xfrm>
        </p:grpSpPr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92E4B680-4BB5-B4A6-65B1-5D32967BDFB9}"/>
                </a:ext>
              </a:extLst>
            </p:cNvPr>
            <p:cNvSpPr/>
            <p:nvPr/>
          </p:nvSpPr>
          <p:spPr>
            <a:xfrm>
              <a:off x="47644" y="96926"/>
              <a:ext cx="610523" cy="878739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40" name="TextBox 12">
              <a:extLst>
                <a:ext uri="{FF2B5EF4-FFF2-40B4-BE49-F238E27FC236}">
                  <a16:creationId xmlns:a16="http://schemas.microsoft.com/office/drawing/2014/main" id="{3A7566B2-546D-7DD6-F20D-C75472BCD0DE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5" name="TextBox 14">
            <a:extLst>
              <a:ext uri="{FF2B5EF4-FFF2-40B4-BE49-F238E27FC236}">
                <a16:creationId xmlns:a16="http://schemas.microsoft.com/office/drawing/2014/main" id="{86EB1C92-CBDA-64C7-BA9C-A84C29852B12}"/>
              </a:ext>
            </a:extLst>
          </p:cNvPr>
          <p:cNvSpPr txBox="1"/>
          <p:nvPr/>
        </p:nvSpPr>
        <p:spPr>
          <a:xfrm>
            <a:off x="1561781" y="1660911"/>
            <a:ext cx="151708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1600" b="1"/>
              <a:t>Problem</a:t>
            </a:r>
          </a:p>
        </p:txBody>
      </p:sp>
      <p:sp>
        <p:nvSpPr>
          <p:cNvPr id="47" name="Freeform 24" descr="A close up of a leaf&#10;&#10;AI-generated content may be incorrect.">
            <a:extLst>
              <a:ext uri="{FF2B5EF4-FFF2-40B4-BE49-F238E27FC236}">
                <a16:creationId xmlns:a16="http://schemas.microsoft.com/office/drawing/2014/main" id="{6ABB576E-772F-BB69-F00A-4BE88E59669C}"/>
              </a:ext>
            </a:extLst>
          </p:cNvPr>
          <p:cNvSpPr/>
          <p:nvPr/>
        </p:nvSpPr>
        <p:spPr>
          <a:xfrm>
            <a:off x="10863839" y="-21021"/>
            <a:ext cx="1486531" cy="1733815"/>
          </a:xfrm>
          <a:custGeom>
            <a:avLst/>
            <a:gdLst/>
            <a:ahLst/>
            <a:cxnLst/>
            <a:rect l="l" t="t" r="r" b="b"/>
            <a:pathLst>
              <a:path w="3535927" h="3558166">
                <a:moveTo>
                  <a:pt x="0" y="0"/>
                </a:moveTo>
                <a:lnTo>
                  <a:pt x="3535927" y="0"/>
                </a:lnTo>
                <a:lnTo>
                  <a:pt x="3535927" y="3558166"/>
                </a:lnTo>
                <a:lnTo>
                  <a:pt x="0" y="3558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53" name="Group 10">
            <a:extLst>
              <a:ext uri="{FF2B5EF4-FFF2-40B4-BE49-F238E27FC236}">
                <a16:creationId xmlns:a16="http://schemas.microsoft.com/office/drawing/2014/main" id="{2333B030-22CE-850B-03C2-05332BC10FF2}"/>
              </a:ext>
            </a:extLst>
          </p:cNvPr>
          <p:cNvGrpSpPr/>
          <p:nvPr/>
        </p:nvGrpSpPr>
        <p:grpSpPr>
          <a:xfrm>
            <a:off x="3972046" y="810229"/>
            <a:ext cx="11759878" cy="6076707"/>
            <a:chOff x="0" y="-47625"/>
            <a:chExt cx="2018995" cy="1167481"/>
          </a:xfrm>
        </p:grpSpPr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141231A-9520-B058-3F65-2B5714C16B01}"/>
                </a:ext>
              </a:extLst>
            </p:cNvPr>
            <p:cNvSpPr/>
            <p:nvPr/>
          </p:nvSpPr>
          <p:spPr>
            <a:xfrm>
              <a:off x="36101" y="99079"/>
              <a:ext cx="573969" cy="887350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52" name="TextBox 12">
              <a:extLst>
                <a:ext uri="{FF2B5EF4-FFF2-40B4-BE49-F238E27FC236}">
                  <a16:creationId xmlns:a16="http://schemas.microsoft.com/office/drawing/2014/main" id="{45976EA4-204D-1616-0350-32275F737CBD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5" name="TextBox 13">
            <a:extLst>
              <a:ext uri="{FF2B5EF4-FFF2-40B4-BE49-F238E27FC236}">
                <a16:creationId xmlns:a16="http://schemas.microsoft.com/office/drawing/2014/main" id="{BE86E49D-04E0-787F-ACA6-AB7A34D4DDC4}"/>
              </a:ext>
            </a:extLst>
          </p:cNvPr>
          <p:cNvSpPr txBox="1"/>
          <p:nvPr/>
        </p:nvSpPr>
        <p:spPr>
          <a:xfrm>
            <a:off x="4272186" y="2058537"/>
            <a:ext cx="299864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ea typeface="+mn-lt"/>
                <a:cs typeface="+mn-lt"/>
              </a:rPr>
              <a:t>Develop an </a:t>
            </a:r>
            <a:r>
              <a:rPr lang="en-GB" sz="1600" b="1">
                <a:ea typeface="+mn-lt"/>
                <a:cs typeface="+mn-lt"/>
              </a:rPr>
              <a:t>AI-based predictive decision-support system</a:t>
            </a:r>
            <a:r>
              <a:rPr lang="en-GB" sz="1600">
                <a:ea typeface="+mn-lt"/>
                <a:cs typeface="+mn-lt"/>
              </a:rPr>
              <a:t> that </a:t>
            </a:r>
            <a:r>
              <a:rPr lang="en-GB" sz="1600" err="1">
                <a:ea typeface="+mn-lt"/>
                <a:cs typeface="+mn-lt"/>
              </a:rPr>
              <a:t>analyze</a:t>
            </a:r>
            <a:r>
              <a:rPr lang="en-GB" sz="1600">
                <a:ea typeface="+mn-lt"/>
                <a:cs typeface="+mn-lt"/>
              </a:rPr>
              <a:t> any uneven changes and forecasts tomato prices and identifies the </a:t>
            </a:r>
            <a:r>
              <a:rPr lang="en-GB" sz="1600" b="1">
                <a:ea typeface="+mn-lt"/>
                <a:cs typeface="+mn-lt"/>
              </a:rPr>
              <a:t>optimal selling time</a:t>
            </a:r>
            <a:r>
              <a:rPr lang="en-GB" sz="1600">
                <a:ea typeface="+mn-lt"/>
                <a:cs typeface="+mn-lt"/>
              </a:rPr>
              <a:t> to help farmers maximize profit and reduce market uncertainty.</a:t>
            </a:r>
            <a:endParaRPr lang="en-US"/>
          </a:p>
        </p:txBody>
      </p:sp>
      <p:sp>
        <p:nvSpPr>
          <p:cNvPr id="57" name="TextBox 14">
            <a:extLst>
              <a:ext uri="{FF2B5EF4-FFF2-40B4-BE49-F238E27FC236}">
                <a16:creationId xmlns:a16="http://schemas.microsoft.com/office/drawing/2014/main" id="{614B8246-2262-3FA7-3503-2D154F5B367F}"/>
              </a:ext>
            </a:extLst>
          </p:cNvPr>
          <p:cNvSpPr txBox="1"/>
          <p:nvPr/>
        </p:nvSpPr>
        <p:spPr>
          <a:xfrm>
            <a:off x="5313908" y="1660911"/>
            <a:ext cx="151708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1600" b="1"/>
              <a:t>Objective</a:t>
            </a:r>
          </a:p>
        </p:txBody>
      </p:sp>
      <p:grpSp>
        <p:nvGrpSpPr>
          <p:cNvPr id="61" name="Group 10">
            <a:extLst>
              <a:ext uri="{FF2B5EF4-FFF2-40B4-BE49-F238E27FC236}">
                <a16:creationId xmlns:a16="http://schemas.microsoft.com/office/drawing/2014/main" id="{975C846A-2A8C-7B4D-E446-439B104D27E0}"/>
              </a:ext>
            </a:extLst>
          </p:cNvPr>
          <p:cNvGrpSpPr/>
          <p:nvPr/>
        </p:nvGrpSpPr>
        <p:grpSpPr>
          <a:xfrm>
            <a:off x="7684772" y="776611"/>
            <a:ext cx="11874571" cy="6076707"/>
            <a:chOff x="-19691" y="-47625"/>
            <a:chExt cx="2038686" cy="1167481"/>
          </a:xfrm>
        </p:grpSpPr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6817586F-3A79-8790-F5B4-3156B2D0B34A}"/>
                </a:ext>
              </a:extLst>
            </p:cNvPr>
            <p:cNvSpPr/>
            <p:nvPr/>
          </p:nvSpPr>
          <p:spPr>
            <a:xfrm>
              <a:off x="-19691" y="103385"/>
              <a:ext cx="716336" cy="883044"/>
            </a:xfrm>
            <a:custGeom>
              <a:avLst/>
              <a:gdLst/>
              <a:ahLst/>
              <a:cxnLst/>
              <a:rect l="l" t="t" r="r" b="b"/>
              <a:pathLst>
                <a:path w="2018995" h="1119856">
                  <a:moveTo>
                    <a:pt x="0" y="0"/>
                  </a:moveTo>
                  <a:lnTo>
                    <a:pt x="2018995" y="0"/>
                  </a:lnTo>
                  <a:lnTo>
                    <a:pt x="2018995" y="1119856"/>
                  </a:lnTo>
                  <a:lnTo>
                    <a:pt x="0" y="111985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60" name="TextBox 12">
              <a:extLst>
                <a:ext uri="{FF2B5EF4-FFF2-40B4-BE49-F238E27FC236}">
                  <a16:creationId xmlns:a16="http://schemas.microsoft.com/office/drawing/2014/main" id="{DFBCF704-3B1F-043C-6F44-9C00146B4CE4}"/>
                </a:ext>
              </a:extLst>
            </p:cNvPr>
            <p:cNvSpPr txBox="1"/>
            <p:nvPr/>
          </p:nvSpPr>
          <p:spPr>
            <a:xfrm>
              <a:off x="0" y="-47625"/>
              <a:ext cx="2018995" cy="116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3" name="TextBox 13">
            <a:extLst>
              <a:ext uri="{FF2B5EF4-FFF2-40B4-BE49-F238E27FC236}">
                <a16:creationId xmlns:a16="http://schemas.microsoft.com/office/drawing/2014/main" id="{501272D2-2218-10F2-5C64-BF7D2801D1B3}"/>
              </a:ext>
            </a:extLst>
          </p:cNvPr>
          <p:cNvSpPr txBox="1"/>
          <p:nvPr/>
        </p:nvSpPr>
        <p:spPr>
          <a:xfrm>
            <a:off x="7830664" y="2058537"/>
            <a:ext cx="4029585" cy="420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 Collect and preprocess historical tomato price data from reliable market sources.</a:t>
            </a:r>
            <a:endParaRPr lang="en-GB" sz="1300"/>
          </a:p>
          <a:p>
            <a:pPr marL="285750" indent="-285750">
              <a:buFont typeface="Arial"/>
              <a:buChar char="•"/>
            </a:pPr>
            <a:r>
              <a:rPr lang="en-GB" sz="1300" err="1">
                <a:ea typeface="+mn-lt"/>
                <a:cs typeface="+mn-lt"/>
              </a:rPr>
              <a:t>Analyze</a:t>
            </a:r>
            <a:r>
              <a:rPr lang="en-GB" sz="1300">
                <a:ea typeface="+mn-lt"/>
                <a:cs typeface="+mn-lt"/>
              </a:rPr>
              <a:t> historical data to identify </a:t>
            </a:r>
            <a:r>
              <a:rPr lang="en-GB" sz="1300" b="1">
                <a:ea typeface="+mn-lt"/>
                <a:cs typeface="+mn-lt"/>
              </a:rPr>
              <a:t>seasonal trends and price patterns</a:t>
            </a:r>
            <a:r>
              <a:rPr lang="en-GB" sz="1300">
                <a:ea typeface="+mn-lt"/>
                <a:cs typeface="+mn-lt"/>
              </a:rPr>
              <a:t>.</a:t>
            </a:r>
            <a:endParaRPr lang="en-GB" sz="1300"/>
          </a:p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Develop </a:t>
            </a:r>
            <a:r>
              <a:rPr lang="en-GB" sz="1300" b="1">
                <a:ea typeface="+mn-lt"/>
                <a:cs typeface="+mn-lt"/>
              </a:rPr>
              <a:t>machine learning and deep learning models</a:t>
            </a:r>
            <a:r>
              <a:rPr lang="en-GB" sz="1300">
                <a:ea typeface="+mn-lt"/>
                <a:cs typeface="+mn-lt"/>
              </a:rPr>
              <a:t> (LSTM, GRU, ARIMA, </a:t>
            </a:r>
            <a:r>
              <a:rPr lang="en-GB" sz="1300" err="1">
                <a:ea typeface="+mn-lt"/>
                <a:cs typeface="+mn-lt"/>
              </a:rPr>
              <a:t>XGBoost</a:t>
            </a:r>
            <a:r>
              <a:rPr lang="en-GB" sz="1300">
                <a:ea typeface="+mn-lt"/>
                <a:cs typeface="+mn-lt"/>
              </a:rPr>
              <a:t>) to forecast future prices.</a:t>
            </a:r>
            <a:endParaRPr lang="en-GB" sz="1300"/>
          </a:p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Integrate </a:t>
            </a:r>
            <a:r>
              <a:rPr lang="en-GB" sz="1300" b="1">
                <a:ea typeface="+mn-lt"/>
                <a:cs typeface="+mn-lt"/>
              </a:rPr>
              <a:t>external influencing factors</a:t>
            </a:r>
            <a:r>
              <a:rPr lang="en-GB" sz="1300">
                <a:ea typeface="+mn-lt"/>
                <a:cs typeface="+mn-lt"/>
              </a:rPr>
              <a:t> such as weather data and news events.</a:t>
            </a:r>
            <a:endParaRPr lang="en-GB" sz="1300"/>
          </a:p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Implement </a:t>
            </a:r>
            <a:r>
              <a:rPr lang="en-GB" sz="1300" b="1">
                <a:ea typeface="+mn-lt"/>
                <a:cs typeface="+mn-lt"/>
              </a:rPr>
              <a:t>anomaly detection techniques</a:t>
            </a:r>
            <a:r>
              <a:rPr lang="en-GB" sz="1300">
                <a:ea typeface="+mn-lt"/>
                <a:cs typeface="+mn-lt"/>
              </a:rPr>
              <a:t> to identify unusual price spikes or sudden market disruptions.</a:t>
            </a:r>
            <a:endParaRPr lang="en-GB" sz="1300"/>
          </a:p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Evaluate model performance using metrics such as </a:t>
            </a:r>
            <a:r>
              <a:rPr lang="en-GB" sz="1300" b="1">
                <a:ea typeface="+mn-lt"/>
                <a:cs typeface="+mn-lt"/>
              </a:rPr>
              <a:t>MAE, RMSE, and MAPE</a:t>
            </a:r>
            <a:r>
              <a:rPr lang="en-GB" sz="13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Develop a </a:t>
            </a:r>
            <a:r>
              <a:rPr lang="en-GB" sz="1300" b="1">
                <a:ea typeface="+mn-lt"/>
                <a:cs typeface="+mn-lt"/>
              </a:rPr>
              <a:t>decision-support recommendation system</a:t>
            </a:r>
            <a:r>
              <a:rPr lang="en-GB" sz="1300">
                <a:ea typeface="+mn-lt"/>
                <a:cs typeface="+mn-lt"/>
              </a:rPr>
              <a:t> to suggest the optimal time to sell tomatoes.</a:t>
            </a:r>
            <a:endParaRPr lang="en-GB" sz="1300"/>
          </a:p>
          <a:p>
            <a:pPr marL="285750" indent="-285750">
              <a:buFont typeface="Arial"/>
              <a:buChar char="•"/>
            </a:pPr>
            <a:r>
              <a:rPr lang="en-GB" sz="1300">
                <a:ea typeface="+mn-lt"/>
                <a:cs typeface="+mn-lt"/>
              </a:rPr>
              <a:t>Provide </a:t>
            </a:r>
            <a:r>
              <a:rPr lang="en-GB" sz="1300" b="1">
                <a:ea typeface="+mn-lt"/>
                <a:cs typeface="+mn-lt"/>
              </a:rPr>
              <a:t>Explainable AI insights</a:t>
            </a:r>
            <a:r>
              <a:rPr lang="en-GB" sz="1300">
                <a:ea typeface="+mn-lt"/>
                <a:cs typeface="+mn-lt"/>
              </a:rPr>
              <a:t> to help farmers understand the reasoning behind predictions.</a:t>
            </a:r>
            <a:endParaRPr lang="en-GB" sz="1300"/>
          </a:p>
          <a:p>
            <a:pPr marL="285750" indent="-285750">
              <a:buFont typeface="Arial"/>
              <a:buChar char="•"/>
            </a:pPr>
            <a:endParaRPr lang="en-GB" sz="13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/>
          </a:p>
          <a:p>
            <a:pPr marL="285750" indent="-285750">
              <a:buFont typeface="Arial"/>
              <a:buChar char="•"/>
            </a:pPr>
            <a:endParaRPr lang="en-GB" sz="1300"/>
          </a:p>
        </p:txBody>
      </p:sp>
      <p:sp>
        <p:nvSpPr>
          <p:cNvPr id="65" name="TextBox 14">
            <a:extLst>
              <a:ext uri="{FF2B5EF4-FFF2-40B4-BE49-F238E27FC236}">
                <a16:creationId xmlns:a16="http://schemas.microsoft.com/office/drawing/2014/main" id="{6A4DE5E8-4902-E862-7385-5CBDBBA367C7}"/>
              </a:ext>
            </a:extLst>
          </p:cNvPr>
          <p:cNvSpPr txBox="1"/>
          <p:nvPr/>
        </p:nvSpPr>
        <p:spPr>
          <a:xfrm>
            <a:off x="9230974" y="1660911"/>
            <a:ext cx="151708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1600" b="1"/>
              <a:t>Sub-Objectives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2B8F6-902E-AA17-B708-B190E7A49558}"/>
              </a:ext>
            </a:extLst>
          </p:cNvPr>
          <p:cNvSpPr txBox="1"/>
          <p:nvPr/>
        </p:nvSpPr>
        <p:spPr>
          <a:xfrm>
            <a:off x="501876" y="1907845"/>
            <a:ext cx="3552373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Tomato farmers in Sri Lanka face </a:t>
            </a:r>
            <a:r>
              <a:rPr lang="en-US" sz="1300" b="1">
                <a:ea typeface="+mn-lt"/>
                <a:cs typeface="+mn-lt"/>
              </a:rPr>
              <a:t>high market price volatility</a:t>
            </a:r>
            <a:r>
              <a:rPr lang="en-US" sz="1300">
                <a:ea typeface="+mn-lt"/>
                <a:cs typeface="+mn-lt"/>
              </a:rPr>
              <a:t>, making it difficult to decide the best time to sell their harvest.</a:t>
            </a: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Existing systems mainly focus on </a:t>
            </a:r>
            <a:r>
              <a:rPr lang="en-US" sz="1300" b="1">
                <a:ea typeface="+mn-lt"/>
                <a:cs typeface="+mn-lt"/>
              </a:rPr>
              <a:t>price forecasting accuracy</a:t>
            </a:r>
            <a:r>
              <a:rPr lang="en-US" sz="1300">
                <a:ea typeface="+mn-lt"/>
                <a:cs typeface="+mn-lt"/>
              </a:rPr>
              <a:t>, but they </a:t>
            </a:r>
            <a:r>
              <a:rPr lang="en-US" sz="1300" b="1">
                <a:ea typeface="+mn-lt"/>
                <a:cs typeface="+mn-lt"/>
              </a:rPr>
              <a:t>do not provide practical selling recommendations</a:t>
            </a:r>
            <a:r>
              <a:rPr lang="en-US" sz="1300">
                <a:ea typeface="+mn-lt"/>
                <a:cs typeface="+mn-lt"/>
              </a:rPr>
              <a:t> for farmers.</a:t>
            </a: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Sudden factors such as </a:t>
            </a:r>
            <a:r>
              <a:rPr lang="en-US" sz="1300" b="1">
                <a:ea typeface="+mn-lt"/>
                <a:cs typeface="+mn-lt"/>
              </a:rPr>
              <a:t>weather changes, supply disruptions, and market events</a:t>
            </a:r>
            <a:r>
              <a:rPr lang="en-US" sz="1300">
                <a:ea typeface="+mn-lt"/>
                <a:cs typeface="+mn-lt"/>
              </a:rPr>
              <a:t> can cause unexpected price fluctuations.</a:t>
            </a: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As a result, farmers often sell at the wrong time, leading to </a:t>
            </a:r>
            <a:r>
              <a:rPr lang="en-US" sz="1300" b="1">
                <a:ea typeface="+mn-lt"/>
                <a:cs typeface="+mn-lt"/>
              </a:rPr>
              <a:t>financial losses and reduced income stability</a:t>
            </a:r>
            <a:r>
              <a:rPr lang="en-US" sz="130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300">
                <a:ea typeface="+mn-lt"/>
                <a:cs typeface="+mn-lt"/>
              </a:rPr>
              <a:t>Therefore, there is a need for an </a:t>
            </a:r>
            <a:r>
              <a:rPr lang="en-US" sz="1300" b="1">
                <a:ea typeface="+mn-lt"/>
                <a:cs typeface="+mn-lt"/>
              </a:rPr>
              <a:t>AI-driven decision-support system</a:t>
            </a:r>
            <a:r>
              <a:rPr lang="en-US" sz="1300">
                <a:ea typeface="+mn-lt"/>
                <a:cs typeface="+mn-lt"/>
              </a:rPr>
              <a:t> that can predict future tomato prices and recommend the </a:t>
            </a:r>
            <a:r>
              <a:rPr lang="en-US" sz="1300" b="1">
                <a:ea typeface="+mn-lt"/>
                <a:cs typeface="+mn-lt"/>
              </a:rPr>
              <a:t>optimal selling time</a:t>
            </a:r>
            <a:r>
              <a:rPr lang="en-US" sz="1300">
                <a:ea typeface="+mn-lt"/>
                <a:cs typeface="+mn-lt"/>
              </a:rPr>
              <a:t> for farmers.</a:t>
            </a:r>
          </a:p>
          <a:p>
            <a:pPr marL="285750" indent="-285750">
              <a:buFont typeface="Arial"/>
              <a:buChar char="•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005375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7">
            <a:extLst>
              <a:ext uri="{FF2B5EF4-FFF2-40B4-BE49-F238E27FC236}">
                <a16:creationId xmlns:a16="http://schemas.microsoft.com/office/drawing/2014/main" id="{B6A1E4D0-9EDD-BA60-FEAB-FC07BAC8BEAB}"/>
              </a:ext>
            </a:extLst>
          </p:cNvPr>
          <p:cNvGrpSpPr/>
          <p:nvPr/>
        </p:nvGrpSpPr>
        <p:grpSpPr>
          <a:xfrm>
            <a:off x="6094883" y="2519042"/>
            <a:ext cx="5707766" cy="3785203"/>
            <a:chOff x="0" y="-47625"/>
            <a:chExt cx="1769194" cy="819478"/>
          </a:xfrm>
        </p:grpSpPr>
        <p:sp>
          <p:nvSpPr>
            <p:cNvPr id="9" name="Freeform 18">
              <a:extLst>
                <a:ext uri="{FF2B5EF4-FFF2-40B4-BE49-F238E27FC236}">
                  <a16:creationId xmlns:a16="http://schemas.microsoft.com/office/drawing/2014/main" id="{E3331B85-0BDD-BB46-E1B9-FA154F197D5E}"/>
                </a:ext>
              </a:extLst>
            </p:cNvPr>
            <p:cNvSpPr/>
            <p:nvPr/>
          </p:nvSpPr>
          <p:spPr>
            <a:xfrm>
              <a:off x="0" y="0"/>
              <a:ext cx="1769194" cy="771853"/>
            </a:xfrm>
            <a:custGeom>
              <a:avLst/>
              <a:gdLst/>
              <a:ahLst/>
              <a:cxnLst/>
              <a:rect l="l" t="t" r="r" b="b"/>
              <a:pathLst>
                <a:path w="1769194" h="771853">
                  <a:moveTo>
                    <a:pt x="0" y="0"/>
                  </a:moveTo>
                  <a:lnTo>
                    <a:pt x="1769194" y="0"/>
                  </a:lnTo>
                  <a:lnTo>
                    <a:pt x="1769194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9">
              <a:extLst>
                <a:ext uri="{FF2B5EF4-FFF2-40B4-BE49-F238E27FC236}">
                  <a16:creationId xmlns:a16="http://schemas.microsoft.com/office/drawing/2014/main" id="{48541D4C-725F-87F2-2721-6B231172B742}"/>
                </a:ext>
              </a:extLst>
            </p:cNvPr>
            <p:cNvSpPr txBox="1"/>
            <p:nvPr/>
          </p:nvSpPr>
          <p:spPr>
            <a:xfrm>
              <a:off x="0" y="-47625"/>
              <a:ext cx="1769194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B20B3DD-0F13-0485-1317-F91423B47D0E}"/>
              </a:ext>
            </a:extLst>
          </p:cNvPr>
          <p:cNvGrpSpPr/>
          <p:nvPr/>
        </p:nvGrpSpPr>
        <p:grpSpPr>
          <a:xfrm>
            <a:off x="-1117" y="4281"/>
            <a:ext cx="11803766" cy="2710063"/>
            <a:chOff x="5904383" y="508546"/>
            <a:chExt cx="11803766" cy="2710063"/>
          </a:xfrm>
        </p:grpSpPr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619AE3B3-63AF-5F6B-E5D7-0FDB4F815440}"/>
                </a:ext>
              </a:extLst>
            </p:cNvPr>
            <p:cNvGrpSpPr/>
            <p:nvPr/>
          </p:nvGrpSpPr>
          <p:grpSpPr>
            <a:xfrm>
              <a:off x="5904383" y="508546"/>
              <a:ext cx="11803766" cy="2708048"/>
              <a:chOff x="0" y="-47625"/>
              <a:chExt cx="3658726" cy="819478"/>
            </a:xfrm>
          </p:grpSpPr>
          <p:sp>
            <p:nvSpPr>
              <p:cNvPr id="4" name="Freeform 13">
                <a:extLst>
                  <a:ext uri="{FF2B5EF4-FFF2-40B4-BE49-F238E27FC236}">
                    <a16:creationId xmlns:a16="http://schemas.microsoft.com/office/drawing/2014/main" id="{73A67FF7-92D5-688C-2DB5-6D6E0FB7B848}"/>
                  </a:ext>
                </a:extLst>
              </p:cNvPr>
              <p:cNvSpPr/>
              <p:nvPr/>
            </p:nvSpPr>
            <p:spPr>
              <a:xfrm>
                <a:off x="1889532" y="57647"/>
                <a:ext cx="1769194" cy="656559"/>
              </a:xfrm>
              <a:custGeom>
                <a:avLst/>
                <a:gdLst/>
                <a:ahLst/>
                <a:cxnLst/>
                <a:rect l="l" t="t" r="r" b="b"/>
                <a:pathLst>
                  <a:path w="1769194" h="771853">
                    <a:moveTo>
                      <a:pt x="0" y="0"/>
                    </a:moveTo>
                    <a:lnTo>
                      <a:pt x="1769194" y="0"/>
                    </a:lnTo>
                    <a:lnTo>
                      <a:pt x="1769194" y="771853"/>
                    </a:lnTo>
                    <a:lnTo>
                      <a:pt x="0" y="771853"/>
                    </a:lnTo>
                    <a:close/>
                  </a:path>
                </a:pathLst>
              </a:custGeom>
              <a:ln w="9525" cap="sq">
                <a:solidFill>
                  <a:srgbClr val="2C46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6" name="TextBox 14">
                <a:extLst>
                  <a:ext uri="{FF2B5EF4-FFF2-40B4-BE49-F238E27FC236}">
                    <a16:creationId xmlns:a16="http://schemas.microsoft.com/office/drawing/2014/main" id="{A8BECA2C-072A-1F1F-570F-D66F417EDC8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69194" cy="8194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785847-7519-5EE3-C67E-4AEB220116A3}"/>
                </a:ext>
              </a:extLst>
            </p:cNvPr>
            <p:cNvSpPr txBox="1"/>
            <p:nvPr/>
          </p:nvSpPr>
          <p:spPr>
            <a:xfrm>
              <a:off x="12133361" y="910285"/>
              <a:ext cx="4331918" cy="23083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b="1">
                  <a:solidFill>
                    <a:srgbClr val="1A1A1A"/>
                  </a:solidFill>
                  <a:latin typeface="Aptos"/>
                  <a:ea typeface="Lato"/>
                  <a:cs typeface="Lato"/>
                </a:rPr>
                <a:t>Knowledge Domains</a:t>
              </a:r>
            </a:p>
            <a:p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• Artificial Intelligence (AI)</a:t>
              </a:r>
              <a:br>
                <a:rPr lang="en-US" sz="1600">
                  <a:ea typeface="+mn-lt"/>
                  <a:cs typeface="+mn-lt"/>
                </a:rPr>
              </a:br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 • Machine Learning</a:t>
              </a:r>
              <a:br>
                <a:rPr lang="en-US" sz="1600">
                  <a:ea typeface="+mn-lt"/>
                  <a:cs typeface="+mn-lt"/>
                </a:rPr>
              </a:br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 • Deep Learning</a:t>
              </a:r>
              <a:br>
                <a:rPr lang="en-US" sz="1600">
                  <a:ea typeface="+mn-lt"/>
                  <a:cs typeface="+mn-lt"/>
                </a:rPr>
              </a:br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 • Time Series Forecasting</a:t>
              </a:r>
              <a:br>
                <a:rPr lang="en-US" sz="1600">
                  <a:ea typeface="+mn-lt"/>
                  <a:cs typeface="+mn-lt"/>
                </a:rPr>
              </a:br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 • Agricultural Data Analytics</a:t>
              </a:r>
              <a:br>
                <a:rPr lang="en-US" sz="1600">
                  <a:ea typeface="+mn-lt"/>
                  <a:cs typeface="+mn-lt"/>
                </a:rPr>
              </a:br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 • Decision Support Systems</a:t>
              </a:r>
              <a:br>
                <a:rPr lang="en-US" sz="1600">
                  <a:ea typeface="+mn-lt"/>
                  <a:cs typeface="+mn-lt"/>
                </a:rPr>
              </a:br>
              <a:r>
                <a:rPr lang="en-US" sz="1600">
                  <a:solidFill>
                    <a:srgbClr val="333333"/>
                  </a:solidFill>
                  <a:ea typeface="+mn-lt"/>
                  <a:cs typeface="+mn-lt"/>
                </a:rPr>
                <a:t> • Explainable Artificial Intelligence (XAI)</a:t>
              </a:r>
            </a:p>
            <a:p>
              <a:pPr algn="ctr"/>
              <a:endParaRPr lang="en-US" sz="1600">
                <a:latin typeface="Apto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C8EB321-ED06-0148-6948-5747F1D3D2C1}"/>
              </a:ext>
            </a:extLst>
          </p:cNvPr>
          <p:cNvSpPr txBox="1"/>
          <p:nvPr/>
        </p:nvSpPr>
        <p:spPr>
          <a:xfrm>
            <a:off x="6227861" y="2882830"/>
            <a:ext cx="544928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ea typeface="Lato"/>
                <a:cs typeface="Lato"/>
              </a:rPr>
              <a:t>Technologies Used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Python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data processing and model development</a:t>
            </a:r>
            <a:endParaRPr lang="en-US">
              <a:solidFill>
                <a:srgbClr val="000000"/>
              </a:solidFill>
              <a:ea typeface="Lato"/>
              <a:cs typeface="Lato"/>
            </a:endParaRPr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</a:t>
            </a:r>
            <a:r>
              <a:rPr lang="en-US" sz="1600" b="1" err="1">
                <a:solidFill>
                  <a:srgbClr val="333333"/>
                </a:solidFill>
                <a:ea typeface="+mn-lt"/>
                <a:cs typeface="+mn-lt"/>
              </a:rPr>
              <a:t>XGBoost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, TensorFlow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machine learning and deep learning models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 err="1">
                <a:solidFill>
                  <a:srgbClr val="333333"/>
                </a:solidFill>
                <a:ea typeface="+mn-lt"/>
                <a:cs typeface="+mn-lt"/>
              </a:rPr>
              <a:t>Statsmodels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(ARIMA/SARIMA)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time-series forecasting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Pandas &amp; NumPy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data preprocessing and analysis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Isolation Forest (PyOD)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anomaly detection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SHAP / LIME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explainable AI for prediction interpretation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Weather &amp; News APIs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external factor data integration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145B3-CF04-2D08-E618-1282EA035E63}"/>
              </a:ext>
            </a:extLst>
          </p:cNvPr>
          <p:cNvSpPr txBox="1"/>
          <p:nvPr/>
        </p:nvSpPr>
        <p:spPr>
          <a:xfrm>
            <a:off x="254512" y="4106880"/>
            <a:ext cx="5328474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Aptos"/>
                <a:ea typeface="Lato"/>
                <a:cs typeface="Lato"/>
              </a:rPr>
              <a:t>An AI-driven system to find the  optimal selling times for farmers on tomatoes and predict their future selling prices. </a:t>
            </a:r>
            <a:endParaRPr lang="en-US" sz="2400" b="1"/>
          </a:p>
          <a:p>
            <a:endParaRPr lang="en-US" sz="1400" b="1" i="1">
              <a:solidFill>
                <a:srgbClr val="1A1A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9" name="Freeform 22" descr="A close up of a leaf&#10;&#10;AI-generated content may be incorrect.">
            <a:extLst>
              <a:ext uri="{FF2B5EF4-FFF2-40B4-BE49-F238E27FC236}">
                <a16:creationId xmlns:a16="http://schemas.microsoft.com/office/drawing/2014/main" id="{898D0E35-B0DC-A100-7AB5-78C62D0AB3C9}"/>
              </a:ext>
            </a:extLst>
          </p:cNvPr>
          <p:cNvSpPr/>
          <p:nvPr/>
        </p:nvSpPr>
        <p:spPr>
          <a:xfrm>
            <a:off x="4504581" y="5244087"/>
            <a:ext cx="1280620" cy="1320153"/>
          </a:xfrm>
          <a:custGeom>
            <a:avLst/>
            <a:gdLst/>
            <a:ahLst/>
            <a:cxnLst/>
            <a:rect l="l" t="t" r="r" b="b"/>
            <a:pathLst>
              <a:path w="3452745" h="3474461">
                <a:moveTo>
                  <a:pt x="0" y="0"/>
                </a:moveTo>
                <a:lnTo>
                  <a:pt x="3452745" y="0"/>
                </a:lnTo>
                <a:lnTo>
                  <a:pt x="3452745" y="3474461"/>
                </a:lnTo>
                <a:lnTo>
                  <a:pt x="0" y="3474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331451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E19EDE-D143-EE2E-6BFA-CAAD32519C67}"/>
              </a:ext>
            </a:extLst>
          </p:cNvPr>
          <p:cNvSpPr txBox="1"/>
          <p:nvPr/>
        </p:nvSpPr>
        <p:spPr>
          <a:xfrm>
            <a:off x="845508" y="443630"/>
            <a:ext cx="330895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Validation Strategy</a:t>
            </a:r>
          </a:p>
          <a:p>
            <a:endParaRPr lang="en-US" sz="1600" b="1">
              <a:solidFill>
                <a:srgbClr val="1A1A1A"/>
              </a:solidFill>
              <a:ea typeface="Lato"/>
              <a:cs typeface="Lato"/>
            </a:endParaRPr>
          </a:p>
          <a:p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• Mean Absolute Error (MAE)</a:t>
            </a:r>
          </a:p>
          <a:p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Root Mean Square Error (RMSE)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Mean Absolute Percentage Error (MAPE)</a:t>
            </a:r>
            <a:endParaRPr lang="en-US"/>
          </a:p>
          <a:p>
            <a:pPr algn="ctr"/>
            <a:endParaRPr lang="en-US" sz="16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107B0C-5F1B-65F0-B6C2-289FC47F559A}"/>
              </a:ext>
            </a:extLst>
          </p:cNvPr>
          <p:cNvGrpSpPr/>
          <p:nvPr/>
        </p:nvGrpSpPr>
        <p:grpSpPr>
          <a:xfrm>
            <a:off x="699598" y="142337"/>
            <a:ext cx="3588732" cy="2956972"/>
            <a:chOff x="0" y="-47625"/>
            <a:chExt cx="1085563" cy="81947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A2DD540-30D6-2A17-9AA9-F908757F9907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06F8F4DD-CB15-8E76-9918-EC43469C137C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6BB53D-3955-1361-E066-4F57AAF418F1}"/>
              </a:ext>
            </a:extLst>
          </p:cNvPr>
          <p:cNvGrpSpPr/>
          <p:nvPr/>
        </p:nvGrpSpPr>
        <p:grpSpPr>
          <a:xfrm>
            <a:off x="4666173" y="-14238"/>
            <a:ext cx="3588732" cy="6224177"/>
            <a:chOff x="0" y="-47625"/>
            <a:chExt cx="1085563" cy="81947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B6DD9A8E-9455-CEE8-890A-FD14D5C1A6E0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7">
              <a:extLst>
                <a:ext uri="{FF2B5EF4-FFF2-40B4-BE49-F238E27FC236}">
                  <a16:creationId xmlns:a16="http://schemas.microsoft.com/office/drawing/2014/main" id="{E655AEC7-C314-D188-DA42-51324F758023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2A3303-42DF-A60F-6D6B-7EEA501C3D30}"/>
              </a:ext>
            </a:extLst>
          </p:cNvPr>
          <p:cNvGrpSpPr/>
          <p:nvPr/>
        </p:nvGrpSpPr>
        <p:grpSpPr>
          <a:xfrm>
            <a:off x="699598" y="3252967"/>
            <a:ext cx="3588732" cy="2956972"/>
            <a:chOff x="0" y="-47625"/>
            <a:chExt cx="1085563" cy="819478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6ABFE609-18A4-E7E2-D6AF-5BF5EE79B0BE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AD3F02-D5DE-BE71-2A6C-916E964E2588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1E1C2DD-CF43-D7D3-726C-D05DF69BD2F2}"/>
              </a:ext>
            </a:extLst>
          </p:cNvPr>
          <p:cNvSpPr txBox="1"/>
          <p:nvPr/>
        </p:nvSpPr>
        <p:spPr>
          <a:xfrm>
            <a:off x="845507" y="3554260"/>
            <a:ext cx="330896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Data Sources</a:t>
            </a:r>
          </a:p>
          <a:p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• Central Bank of Sri Lanka (CBSL) price datasets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Dambulla Wholesale Market price reports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Weather data from Meteorological APIs</a:t>
            </a:r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Agricultural news and event data from news APIs</a:t>
            </a:r>
            <a:endParaRPr lang="en-US"/>
          </a:p>
          <a:p>
            <a:pPr algn="ctr"/>
            <a:endParaRPr lang="en-US" sz="16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891E98-D93B-5927-D331-00BEACBD9D45}"/>
              </a:ext>
            </a:extLst>
          </p:cNvPr>
          <p:cNvSpPr txBox="1"/>
          <p:nvPr/>
        </p:nvSpPr>
        <p:spPr>
          <a:xfrm>
            <a:off x="4812082" y="537575"/>
            <a:ext cx="329852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Security Measures</a:t>
            </a:r>
          </a:p>
          <a:p>
            <a:endParaRPr lang="en-US" sz="1600" b="1">
              <a:solidFill>
                <a:srgbClr val="1A1A1A"/>
              </a:solidFill>
              <a:latin typeface="Aptos"/>
              <a:ea typeface="Lato"/>
              <a:cs typeface="Lato"/>
            </a:endParaRPr>
          </a:p>
          <a:p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• Role-based authentication for administrators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Secure APIs for external data sources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Encrypted data storage and communication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br>
              <a:rPr lang="en-US" sz="1600">
                <a:ea typeface="+mn-lt"/>
                <a:cs typeface="+mn-lt"/>
              </a:rPr>
            </a:b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• System monitoring and logging</a:t>
            </a:r>
            <a:endParaRPr lang="en-US"/>
          </a:p>
          <a:p>
            <a:pPr>
              <a:buFont typeface=""/>
              <a:buChar char="•"/>
            </a:pPr>
            <a:endParaRPr lang="en-US" sz="1600">
              <a:solidFill>
                <a:srgbClr val="333333"/>
              </a:solidFill>
              <a:latin typeface="Aptos"/>
              <a:ea typeface="Lato"/>
              <a:cs typeface="Lato"/>
            </a:endParaRPr>
          </a:p>
          <a:p>
            <a:endParaRPr lang="en-US" sz="1600">
              <a:latin typeface="Aptos"/>
              <a:ea typeface="Lato"/>
              <a:cs typeface="Lato"/>
            </a:endParaRPr>
          </a:p>
          <a:p>
            <a:pPr algn="ctr"/>
            <a:endParaRPr lang="en-US" sz="16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FBDB34-54D5-5849-9B0E-6F9B97C78969}"/>
              </a:ext>
            </a:extLst>
          </p:cNvPr>
          <p:cNvSpPr txBox="1"/>
          <p:nvPr/>
        </p:nvSpPr>
        <p:spPr>
          <a:xfrm>
            <a:off x="8444630" y="443629"/>
            <a:ext cx="344465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Ethical Considerations</a:t>
            </a:r>
          </a:p>
          <a:p>
            <a:endParaRPr lang="en-US" sz="1600" b="1">
              <a:solidFill>
                <a:srgbClr val="1A1A1A"/>
              </a:solidFill>
              <a:latin typeface="Aptos"/>
              <a:ea typeface="Lato"/>
              <a:cs typeface="Lato"/>
            </a:endParaRPr>
          </a:p>
          <a:p>
            <a:pPr>
              <a:buFont typeface=""/>
              <a:buChar char="•"/>
            </a:pP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Use only </a:t>
            </a: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public and legally accessible datasets</a:t>
            </a:r>
            <a:br>
              <a:rPr lang="en-US" sz="1600" b="1">
                <a:solidFill>
                  <a:srgbClr val="333333"/>
                </a:solidFill>
                <a:ea typeface="+mn-lt"/>
                <a:cs typeface="+mn-lt"/>
              </a:rPr>
            </a:b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• Ensure no personal farmer data is exposed</a:t>
            </a:r>
            <a:br>
              <a:rPr lang="en-US" sz="1600" b="1">
                <a:solidFill>
                  <a:srgbClr val="333333"/>
                </a:solidFill>
                <a:ea typeface="+mn-lt"/>
                <a:cs typeface="+mn-lt"/>
              </a:rPr>
            </a:b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• Maintain transparency using Explainable AI</a:t>
            </a:r>
            <a:br>
              <a:rPr lang="en-US" sz="1600" b="1">
                <a:solidFill>
                  <a:srgbClr val="333333"/>
                </a:solidFill>
                <a:ea typeface="+mn-lt"/>
                <a:cs typeface="+mn-lt"/>
              </a:rPr>
            </a:b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 • Clearly communicate prediction uncertainty to users</a:t>
            </a:r>
            <a:endParaRPr lang="en-US"/>
          </a:p>
          <a:p>
            <a:pPr algn="ctr"/>
            <a:endParaRPr lang="en-US" sz="16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2682035-4A68-7BC9-84DE-C0F2DB65FF49}"/>
              </a:ext>
            </a:extLst>
          </p:cNvPr>
          <p:cNvGrpSpPr/>
          <p:nvPr/>
        </p:nvGrpSpPr>
        <p:grpSpPr>
          <a:xfrm>
            <a:off x="8444857" y="142336"/>
            <a:ext cx="3588732" cy="3405821"/>
            <a:chOff x="0" y="-47625"/>
            <a:chExt cx="1085563" cy="819478"/>
          </a:xfrm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719A8776-7A0A-3C34-A602-B4ED2F5C24E4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742557CF-3075-58F6-D79B-7CCF27AA5E9F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1" name="Freeform 32" descr="A close up of a leaf&#10;&#10;AI-generated content may be incorrect.">
            <a:extLst>
              <a:ext uri="{FF2B5EF4-FFF2-40B4-BE49-F238E27FC236}">
                <a16:creationId xmlns:a16="http://schemas.microsoft.com/office/drawing/2014/main" id="{88CA7E8A-79EB-0E28-5FC3-A6D79DE4BC14}"/>
              </a:ext>
            </a:extLst>
          </p:cNvPr>
          <p:cNvSpPr/>
          <p:nvPr/>
        </p:nvSpPr>
        <p:spPr>
          <a:xfrm rot="522854">
            <a:off x="10411589" y="5153912"/>
            <a:ext cx="1659128" cy="1727448"/>
          </a:xfrm>
          <a:custGeom>
            <a:avLst/>
            <a:gdLst/>
            <a:ahLst/>
            <a:cxnLst/>
            <a:rect l="l" t="t" r="r" b="b"/>
            <a:pathLst>
              <a:path w="2907815" h="2675190">
                <a:moveTo>
                  <a:pt x="0" y="0"/>
                </a:moveTo>
                <a:lnTo>
                  <a:pt x="2907815" y="0"/>
                </a:lnTo>
                <a:lnTo>
                  <a:pt x="2907815" y="2675190"/>
                </a:lnTo>
                <a:lnTo>
                  <a:pt x="0" y="267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CA86E7-45F6-A444-978A-45822AA414A6}"/>
              </a:ext>
            </a:extLst>
          </p:cNvPr>
          <p:cNvSpPr txBox="1"/>
          <p:nvPr/>
        </p:nvSpPr>
        <p:spPr>
          <a:xfrm>
            <a:off x="8578937" y="4015984"/>
            <a:ext cx="3423781" cy="204671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i="1">
                <a:solidFill>
                  <a:schemeClr val="bg2">
                    <a:lumMod val="49000"/>
                  </a:schemeClr>
                </a:solidFill>
                <a:latin typeface="Aptos"/>
                <a:ea typeface="Lato"/>
                <a:cs typeface="Lato"/>
              </a:rPr>
              <a:t>An AI-driven system to find the optimal selling times for farmers on tomatoes and predict their future selling prices. </a:t>
            </a:r>
            <a:endParaRPr lang="en-US" sz="2000" i="1">
              <a:solidFill>
                <a:schemeClr val="bg2">
                  <a:lumMod val="49000"/>
                </a:schemeClr>
              </a:solidFill>
              <a:latin typeface="Aptos"/>
              <a:ea typeface="Lato"/>
              <a:cs typeface="Lato"/>
            </a:endParaRPr>
          </a:p>
          <a:p>
            <a:endParaRPr lang="en-US" sz="1100" i="1">
              <a:solidFill>
                <a:schemeClr val="bg2">
                  <a:lumMod val="49000"/>
                </a:schemeClr>
              </a:solidFill>
              <a:latin typeface="Aptos"/>
              <a:ea typeface="Lato"/>
              <a:cs typeface="Lato"/>
            </a:endParaRPr>
          </a:p>
          <a:p>
            <a:endParaRPr lang="en-US" sz="1600" b="1" i="1">
              <a:solidFill>
                <a:schemeClr val="bg2">
                  <a:lumMod val="49000"/>
                </a:schemeClr>
              </a:solidFill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50680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F8850-6AB6-D74E-BFCD-328F2BF9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446D837-17FE-DC08-7DC1-839891395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967" y="711468"/>
            <a:ext cx="4420177" cy="45913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3761C3E-36FD-621E-4262-0C672EEF9E49}"/>
              </a:ext>
            </a:extLst>
          </p:cNvPr>
          <p:cNvSpPr txBox="1"/>
          <p:nvPr/>
        </p:nvSpPr>
        <p:spPr>
          <a:xfrm>
            <a:off x="281835" y="1869751"/>
            <a:ext cx="7498067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1A1A1A"/>
                </a:solidFill>
                <a:latin typeface="Aptos"/>
                <a:ea typeface="Lato"/>
                <a:cs typeface="Lato"/>
              </a:rPr>
              <a:t>Component Dependencies</a:t>
            </a:r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Price Prediction Model: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LSTM / </a:t>
            </a:r>
            <a:r>
              <a:rPr lang="en-US" sz="1600" err="1">
                <a:solidFill>
                  <a:srgbClr val="333333"/>
                </a:solidFill>
                <a:ea typeface="+mn-lt"/>
                <a:cs typeface="+mn-lt"/>
              </a:rPr>
              <a:t>XGBoost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/ ARIMA (Python, TensorFlow, Scikit-learn) — tomato price forecasting</a:t>
            </a:r>
            <a:endParaRPr lang="en-US" sz="1600">
              <a:solidFill>
                <a:srgbClr val="333333"/>
              </a:solidFill>
              <a:ea typeface="Lato"/>
              <a:cs typeface="Lato"/>
            </a:endParaRPr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Anomaly Detection Engine: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Isolation Forest (PyOD, Python) — detect unusual price spikes and market shocks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External Data Layer: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Weather APIs + News APIs — integrate environmental and market events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Decision Support Engine: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Rule-based recommendation system determine optimal selling time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Explainable AI Module: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SHAP / LIME — interpret predictions and recommendation factors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Mobile Application: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Flutter  — farmer interface and visualization dashboard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solidFill>
                  <a:srgbClr val="333333"/>
                </a:solidFill>
                <a:ea typeface="+mn-lt"/>
                <a:cs typeface="+mn-lt"/>
              </a:rPr>
              <a:t>Database: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Firebase </a:t>
            </a:r>
            <a:r>
              <a:rPr lang="en-US" sz="1600" err="1">
                <a:solidFill>
                  <a:srgbClr val="333333"/>
                </a:solidFill>
                <a:ea typeface="+mn-lt"/>
                <a:cs typeface="+mn-lt"/>
              </a:rPr>
              <a:t>Firestore</a:t>
            </a:r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 — store price data, forecasts, and user queries</a:t>
            </a:r>
            <a:endParaRPr lang="en-US"/>
          </a:p>
          <a:p>
            <a:endParaRPr lang="en-US" sz="1600">
              <a:solidFill>
                <a:srgbClr val="333333"/>
              </a:solidFill>
            </a:endParaRPr>
          </a:p>
          <a:p>
            <a:pPr>
              <a:buFont typeface=""/>
              <a:buChar char="•"/>
            </a:pPr>
            <a:endParaRPr lang="en-US" sz="1600">
              <a:solidFill>
                <a:srgbClr val="333333"/>
              </a:solidFill>
              <a:ea typeface="Lato"/>
              <a:cs typeface="Lato"/>
            </a:endParaRPr>
          </a:p>
          <a:p>
            <a:endParaRPr lang="en-US" sz="1600"/>
          </a:p>
        </p:txBody>
      </p:sp>
      <p:sp>
        <p:nvSpPr>
          <p:cNvPr id="21" name="Freeform 7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0EA76B51-3FAE-A424-0DA4-1F8CEDE51DC4}"/>
              </a:ext>
            </a:extLst>
          </p:cNvPr>
          <p:cNvSpPr/>
          <p:nvPr/>
        </p:nvSpPr>
        <p:spPr>
          <a:xfrm rot="14244164">
            <a:off x="5326152" y="496497"/>
            <a:ext cx="2516793" cy="1618971"/>
          </a:xfrm>
          <a:custGeom>
            <a:avLst/>
            <a:gdLst/>
            <a:ahLst/>
            <a:cxnLst/>
            <a:rect l="l" t="t" r="r" b="b"/>
            <a:pathLst>
              <a:path w="2516793" h="2315450">
                <a:moveTo>
                  <a:pt x="0" y="0"/>
                </a:moveTo>
                <a:lnTo>
                  <a:pt x="2516793" y="0"/>
                </a:lnTo>
                <a:lnTo>
                  <a:pt x="2516793" y="2315450"/>
                </a:lnTo>
                <a:lnTo>
                  <a:pt x="0" y="2315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6DF3A5-7982-03B7-82B9-FB4A63F48EB5}"/>
              </a:ext>
            </a:extLst>
          </p:cNvPr>
          <p:cNvSpPr txBox="1"/>
          <p:nvPr/>
        </p:nvSpPr>
        <p:spPr>
          <a:xfrm>
            <a:off x="285164" y="369200"/>
            <a:ext cx="4638563" cy="149271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rgbClr val="000000"/>
                </a:solidFill>
                <a:latin typeface="Aptos"/>
                <a:ea typeface="Lato"/>
                <a:cs typeface="Lato"/>
              </a:rPr>
              <a:t>An AI-driven system to find the optimal selling times for farmers on tomatoes and predict their future selling prices. </a:t>
            </a:r>
            <a:endParaRPr lang="en-US" sz="2000">
              <a:solidFill>
                <a:srgbClr val="000000"/>
              </a:solidFill>
              <a:latin typeface="Aptos"/>
            </a:endParaRPr>
          </a:p>
          <a:p>
            <a:endParaRPr lang="en-US" sz="1100" i="1">
              <a:solidFill>
                <a:schemeClr val="tx1">
                  <a:lumMod val="65000"/>
                  <a:lumOff val="35000"/>
                </a:schemeClr>
              </a:solidFill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13803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8E33B-7647-2ABA-C0BE-1DDB39B8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338794"/>
            <a:ext cx="2743200" cy="365125"/>
          </a:xfrm>
        </p:spPr>
        <p:txBody>
          <a:bodyPr/>
          <a:lstStyle/>
          <a:p>
            <a:pPr algn="ctr"/>
            <a:fld id="{B6FBBA40-A42B-0948-AF99-919249903781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221E8-9F6F-A751-27F1-54E9290D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0CE6-9D1C-AB43-A5FF-AC6E6A82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LK"/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F66C8-FECE-AEDC-6A97-7B1A539AA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53" y="598744"/>
            <a:ext cx="12192000" cy="515561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98BC5D1-AE8C-A6FC-6278-9C8450B28BFB}"/>
              </a:ext>
            </a:extLst>
          </p:cNvPr>
          <p:cNvGrpSpPr/>
          <p:nvPr/>
        </p:nvGrpSpPr>
        <p:grpSpPr>
          <a:xfrm>
            <a:off x="699598" y="142337"/>
            <a:ext cx="11085467" cy="6117030"/>
            <a:chOff x="0" y="-47625"/>
            <a:chExt cx="1085563" cy="819478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8F4740FB-71F9-F339-5C22-31C1F2B57A68}"/>
                </a:ext>
              </a:extLst>
            </p:cNvPr>
            <p:cNvSpPr/>
            <p:nvPr/>
          </p:nvSpPr>
          <p:spPr>
            <a:xfrm>
              <a:off x="0" y="0"/>
              <a:ext cx="1085563" cy="771853"/>
            </a:xfrm>
            <a:custGeom>
              <a:avLst/>
              <a:gdLst/>
              <a:ahLst/>
              <a:cxnLst/>
              <a:rect l="l" t="t" r="r" b="b"/>
              <a:pathLst>
                <a:path w="1085563" h="771853">
                  <a:moveTo>
                    <a:pt x="0" y="0"/>
                  </a:moveTo>
                  <a:lnTo>
                    <a:pt x="1085563" y="0"/>
                  </a:lnTo>
                  <a:lnTo>
                    <a:pt x="1085563" y="771853"/>
                  </a:lnTo>
                  <a:lnTo>
                    <a:pt x="0" y="771853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8188521B-3329-8A1A-F510-E7F14F2ECA13}"/>
                </a:ext>
              </a:extLst>
            </p:cNvPr>
            <p:cNvSpPr txBox="1"/>
            <p:nvPr/>
          </p:nvSpPr>
          <p:spPr>
            <a:xfrm>
              <a:off x="0" y="-47625"/>
              <a:ext cx="1085563" cy="819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89301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0BF48-7481-917E-01F9-5A4C5216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4787" y="6356349"/>
            <a:ext cx="2743200" cy="365125"/>
          </a:xfrm>
        </p:spPr>
        <p:txBody>
          <a:bodyPr/>
          <a:lstStyle/>
          <a:p>
            <a:fld id="{2CB4D6C0-C854-9041-B86F-BC9CB5721FAB}" type="datetime1">
              <a:rPr lang="en-US" smtClean="0"/>
              <a:t>8/2/2026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8E70-4A28-D91D-121A-80E6E41A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 b="1"/>
              <a:t>RP-R26-SE-032</a:t>
            </a:r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F437D-1C8F-8868-1A76-52556B05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9319F46-185A-A649-83B1-01A4802BC987}" type="slidenum">
              <a:rPr lang="en-LK" smtClean="0"/>
              <a:t>29</a:t>
            </a:fld>
            <a:endParaRPr lang="en-LK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A991D30-2B1A-585F-B7A1-01D80012E0FE}"/>
              </a:ext>
            </a:extLst>
          </p:cNvPr>
          <p:cNvSpPr txBox="1"/>
          <p:nvPr/>
        </p:nvSpPr>
        <p:spPr>
          <a:xfrm>
            <a:off x="249083" y="1345515"/>
            <a:ext cx="6968983" cy="339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796"/>
              </a:lnSpc>
            </a:pPr>
            <a:r>
              <a:rPr lang="en-US" sz="13613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lang="en-US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89449965-0686-3F78-6E04-A8BB2F2E09EA}"/>
              </a:ext>
            </a:extLst>
          </p:cNvPr>
          <p:cNvSpPr txBox="1"/>
          <p:nvPr/>
        </p:nvSpPr>
        <p:spPr>
          <a:xfrm>
            <a:off x="6251589" y="3021396"/>
            <a:ext cx="1149475" cy="81520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Get In Touch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B74D76C-535C-E543-D152-1178187E48E9}"/>
              </a:ext>
            </a:extLst>
          </p:cNvPr>
          <p:cNvSpPr/>
          <p:nvPr/>
        </p:nvSpPr>
        <p:spPr>
          <a:xfrm>
            <a:off x="7723748" y="2924208"/>
            <a:ext cx="376800" cy="376800"/>
          </a:xfrm>
          <a:custGeom>
            <a:avLst/>
            <a:gdLst/>
            <a:ahLst/>
            <a:cxnLst/>
            <a:rect l="l" t="t" r="r" b="b"/>
            <a:pathLst>
              <a:path w="376800" h="376800">
                <a:moveTo>
                  <a:pt x="0" y="0"/>
                </a:moveTo>
                <a:lnTo>
                  <a:pt x="376800" y="0"/>
                </a:lnTo>
                <a:lnTo>
                  <a:pt x="376800" y="376800"/>
                </a:lnTo>
                <a:lnTo>
                  <a:pt x="0" y="376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0000B0E-C056-23F3-DA03-59087ED8CF83}"/>
              </a:ext>
            </a:extLst>
          </p:cNvPr>
          <p:cNvSpPr/>
          <p:nvPr/>
        </p:nvSpPr>
        <p:spPr>
          <a:xfrm>
            <a:off x="7713939" y="3703948"/>
            <a:ext cx="396418" cy="396418"/>
          </a:xfrm>
          <a:custGeom>
            <a:avLst/>
            <a:gdLst/>
            <a:ahLst/>
            <a:cxnLst/>
            <a:rect l="l" t="t" r="r" b="b"/>
            <a:pathLst>
              <a:path w="396418" h="396418">
                <a:moveTo>
                  <a:pt x="0" y="0"/>
                </a:moveTo>
                <a:lnTo>
                  <a:pt x="396418" y="0"/>
                </a:lnTo>
                <a:lnTo>
                  <a:pt x="396418" y="396418"/>
                </a:lnTo>
                <a:lnTo>
                  <a:pt x="0" y="396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en-LK"/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B96D1B53-8B7B-E215-A0AF-193C932B47D0}"/>
              </a:ext>
            </a:extLst>
          </p:cNvPr>
          <p:cNvSpPr txBox="1"/>
          <p:nvPr/>
        </p:nvSpPr>
        <p:spPr>
          <a:xfrm>
            <a:off x="8503023" y="3012982"/>
            <a:ext cx="4449285" cy="26409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0776914430</a:t>
            </a: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277E4B98-785B-3D9A-AE9B-CDF954A42FA9}"/>
              </a:ext>
            </a:extLst>
          </p:cNvPr>
          <p:cNvSpPr txBox="1"/>
          <p:nvPr/>
        </p:nvSpPr>
        <p:spPr>
          <a:xfrm>
            <a:off x="8503023" y="3672280"/>
            <a:ext cx="4449285" cy="26409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lIns="0" tIns="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IT22060426@my.slit.lk</a:t>
            </a:r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C245D88C-5B48-1947-91E9-5CFA26E1D030}"/>
              </a:ext>
            </a:extLst>
          </p:cNvPr>
          <p:cNvGrpSpPr/>
          <p:nvPr/>
        </p:nvGrpSpPr>
        <p:grpSpPr>
          <a:xfrm>
            <a:off x="5972709" y="2116235"/>
            <a:ext cx="6091987" cy="2805390"/>
            <a:chOff x="0" y="-47625"/>
            <a:chExt cx="2480284" cy="844461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D8E298C4-76A7-9F22-9553-4B020E0CDE1E}"/>
                </a:ext>
              </a:extLst>
            </p:cNvPr>
            <p:cNvSpPr/>
            <p:nvPr/>
          </p:nvSpPr>
          <p:spPr>
            <a:xfrm>
              <a:off x="0" y="0"/>
              <a:ext cx="2440146" cy="768378"/>
            </a:xfrm>
            <a:custGeom>
              <a:avLst/>
              <a:gdLst/>
              <a:ahLst/>
              <a:cxnLst/>
              <a:rect l="l" t="t" r="r" b="b"/>
              <a:pathLst>
                <a:path w="2440146" h="768378">
                  <a:moveTo>
                    <a:pt x="0" y="0"/>
                  </a:moveTo>
                  <a:lnTo>
                    <a:pt x="2440146" y="0"/>
                  </a:lnTo>
                  <a:lnTo>
                    <a:pt x="2440146" y="768378"/>
                  </a:lnTo>
                  <a:lnTo>
                    <a:pt x="0" y="768378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EA649D35-81CC-860C-B2F4-C1A90F1B750D}"/>
                </a:ext>
              </a:extLst>
            </p:cNvPr>
            <p:cNvSpPr txBox="1"/>
            <p:nvPr/>
          </p:nvSpPr>
          <p:spPr>
            <a:xfrm>
              <a:off x="0" y="-47625"/>
              <a:ext cx="2440146" cy="81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29FFDE95-529D-3179-E6D5-20BECCF19329}"/>
                </a:ext>
              </a:extLst>
            </p:cNvPr>
            <p:cNvSpPr txBox="1"/>
            <p:nvPr/>
          </p:nvSpPr>
          <p:spPr>
            <a:xfrm>
              <a:off x="40138" y="-19167"/>
              <a:ext cx="2440146" cy="81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0940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C08B272-CBC5-4617-8916-9CC111AF7A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9C6623-70FF-4384-9918-A3941DDCB6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d1aa7-8ede-435c-b3a7-ac11bacaeb50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DB6C6E-0D09-4842-BC7A-B635632111DC}">
  <ds:schemaRefs>
    <ds:schemaRef ds:uri="http://schemas.microsoft.com/office/2006/metadata/properties"/>
    <ds:schemaRef ds:uri="http://schemas.microsoft.com/office/infopath/2007/PartnerControls"/>
    <ds:schemaRef ds:uri="db72c12f-87a4-44ab-bbc5-4cc8306b158a"/>
    <ds:schemaRef ds:uri="5aad1aa7-8ede-435c-b3a7-ac11bacaeb50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2567</Words>
  <Application>Microsoft Office PowerPoint</Application>
  <PresentationFormat>Widescreen</PresentationFormat>
  <Paragraphs>411</Paragraphs>
  <Slides>29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An AI-Driven Decision Support System for Tomato Cultivation in srilanka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AI-driven system to find the optimal selling times for farmers on tomatoes  and predict their future selling prices.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GABILAN S it22060426</dc:creator>
  <cp:lastModifiedBy>GABILAN S it22060426</cp:lastModifiedBy>
  <cp:revision>4</cp:revision>
  <dcterms:created xsi:type="dcterms:W3CDTF">2026-03-15T07:31:52Z</dcterms:created>
  <dcterms:modified xsi:type="dcterms:W3CDTF">2026-08-02T17:01:05Z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  <property fmtid="{D5CDD505-2E9C-101B-9397-08002B2CF9AE}" pid="3" name="MediaServiceImageTags">
    <vt:lpwstr/>
  </property>
</Properties>
</file>